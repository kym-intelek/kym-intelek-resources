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5.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23"/>
  </p:notesMasterIdLst>
  <p:handoutMasterIdLst>
    <p:handoutMasterId r:id="rId24"/>
  </p:handoutMasterIdLst>
  <p:sldIdLst>
    <p:sldId id="1104" r:id="rId2"/>
    <p:sldId id="1130" r:id="rId3"/>
    <p:sldId id="1131" r:id="rId4"/>
    <p:sldId id="1106" r:id="rId5"/>
    <p:sldId id="1129" r:id="rId6"/>
    <p:sldId id="860" r:id="rId7"/>
    <p:sldId id="876" r:id="rId8"/>
    <p:sldId id="1054" r:id="rId9"/>
    <p:sldId id="1107" r:id="rId10"/>
    <p:sldId id="1108" r:id="rId11"/>
    <p:sldId id="1128" r:id="rId12"/>
    <p:sldId id="1109" r:id="rId13"/>
    <p:sldId id="1056" r:id="rId14"/>
    <p:sldId id="1057" r:id="rId15"/>
    <p:sldId id="1091" r:id="rId16"/>
    <p:sldId id="1092" r:id="rId17"/>
    <p:sldId id="1093" r:id="rId18"/>
    <p:sldId id="1094" r:id="rId19"/>
    <p:sldId id="1095" r:id="rId20"/>
    <p:sldId id="1096" r:id="rId21"/>
    <p:sldId id="1097" r:id="rId22"/>
  </p:sldIdLst>
  <p:sldSz cx="9144000" cy="5143500" type="screen16x9"/>
  <p:notesSz cx="9144000" cy="6858000"/>
  <p:custDataLst>
    <p:tags r:id="rId25"/>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38" autoAdjust="0"/>
    <p:restoredTop sz="77285" autoAdjust="0"/>
  </p:normalViewPr>
  <p:slideViewPr>
    <p:cSldViewPr snapToGrid="0" showGuides="1">
      <p:cViewPr varScale="1">
        <p:scale>
          <a:sx n="112" d="100"/>
          <a:sy n="112" d="100"/>
        </p:scale>
        <p:origin x="1704" y="9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0F8F544-6441-CB2F-593E-D325427F38BC}"/>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MY"/>
          </a:p>
        </p:txBody>
      </p:sp>
      <p:sp>
        <p:nvSpPr>
          <p:cNvPr id="3" name="Date Placeholder 2">
            <a:extLst>
              <a:ext uri="{FF2B5EF4-FFF2-40B4-BE49-F238E27FC236}">
                <a16:creationId xmlns:a16="http://schemas.microsoft.com/office/drawing/2014/main" id="{F59B9FAE-7ADF-3222-D05A-519043ACF57E}"/>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endParaRPr lang="en-MY"/>
          </a:p>
        </p:txBody>
      </p:sp>
      <p:sp>
        <p:nvSpPr>
          <p:cNvPr id="4" name="Footer Placeholder 3">
            <a:extLst>
              <a:ext uri="{FF2B5EF4-FFF2-40B4-BE49-F238E27FC236}">
                <a16:creationId xmlns:a16="http://schemas.microsoft.com/office/drawing/2014/main" id="{E133D683-F088-144C-5758-47B0DB6E3B38}"/>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MY"/>
          </a:p>
        </p:txBody>
      </p:sp>
      <p:sp>
        <p:nvSpPr>
          <p:cNvPr id="5" name="Slide Number Placeholder 4">
            <a:extLst>
              <a:ext uri="{FF2B5EF4-FFF2-40B4-BE49-F238E27FC236}">
                <a16:creationId xmlns:a16="http://schemas.microsoft.com/office/drawing/2014/main" id="{13E88598-C513-32B4-1DAF-083CDA0CD976}"/>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6CFB9DE2-F4B7-4152-B4E3-E783C1C5755F}" type="slidenum">
              <a:rPr lang="en-MY" smtClean="0"/>
              <a:t>‹#›</a:t>
            </a:fld>
            <a:endParaRPr lang="en-MY"/>
          </a:p>
        </p:txBody>
      </p:sp>
    </p:spTree>
    <p:extLst>
      <p:ext uri="{BB962C8B-B14F-4D97-AF65-F5344CB8AC3E}">
        <p14:creationId xmlns:p14="http://schemas.microsoft.com/office/powerpoint/2010/main" val="3707456580"/>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endParaRPr lang="en-US" dirty="0"/>
          </a:p>
        </p:txBody>
      </p:sp>
      <p:sp>
        <p:nvSpPr>
          <p:cNvPr id="4" name="Slide Image Placeholder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0FEB0-E1DC-EF9C-D54B-A2219C3EFB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AB64B1-0081-FFC2-07B8-8BAC104166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224790-8064-C811-C67F-58FB65C746FA}"/>
              </a:ext>
            </a:extLst>
          </p:cNvPr>
          <p:cNvSpPr>
            <a:spLocks noGrp="1"/>
          </p:cNvSpPr>
          <p:nvPr>
            <p:ph type="body" idx="1"/>
          </p:nvPr>
        </p:nvSpPr>
        <p:spPr/>
        <p:txBody>
          <a:bodyPr/>
          <a:lstStyle/>
          <a:p>
            <a:r>
              <a:rPr lang="en-US" dirty="0"/>
              <a:t>4 - Physical Layer</a:t>
            </a:r>
          </a:p>
          <a:p>
            <a:r>
              <a:rPr lang="en-US" dirty="0"/>
              <a:t>4.6 - Wireless Media</a:t>
            </a:r>
          </a:p>
          <a:p>
            <a:endParaRPr lang="en-US" dirty="0"/>
          </a:p>
        </p:txBody>
      </p:sp>
      <p:sp>
        <p:nvSpPr>
          <p:cNvPr id="4" name="Slide Number Placeholder 3">
            <a:extLst>
              <a:ext uri="{FF2B5EF4-FFF2-40B4-BE49-F238E27FC236}">
                <a16:creationId xmlns:a16="http://schemas.microsoft.com/office/drawing/2014/main" id="{F3101063-07CA-7C39-ACD0-7B11F5A14DCD}"/>
              </a:ext>
            </a:extLst>
          </p:cNvPr>
          <p:cNvSpPr>
            <a:spLocks noGrp="1"/>
          </p:cNvSpPr>
          <p:nvPr>
            <p:ph type="sldNum" sz="quarter" idx="10"/>
          </p:nvPr>
        </p:nvSpPr>
        <p:spPr/>
        <p:txBody>
          <a:bodyPr/>
          <a:lstStyle/>
          <a:p>
            <a:fld id="{5641018C-6CAF-B84E-B92C-ECB119457FBA}" type="slidenum">
              <a:rPr lang="en-US" smtClean="0"/>
              <a:t>1</a:t>
            </a:fld>
            <a:endParaRPr lang="en-US" dirty="0"/>
          </a:p>
        </p:txBody>
      </p:sp>
      <p:sp>
        <p:nvSpPr>
          <p:cNvPr id="5" name="Date Placeholder 4">
            <a:extLst>
              <a:ext uri="{FF2B5EF4-FFF2-40B4-BE49-F238E27FC236}">
                <a16:creationId xmlns:a16="http://schemas.microsoft.com/office/drawing/2014/main" id="{214F7CB2-96D2-C366-0B22-8140896A4B8B}"/>
              </a:ext>
            </a:extLst>
          </p:cNvPr>
          <p:cNvSpPr>
            <a:spLocks noGrp="1"/>
          </p:cNvSpPr>
          <p:nvPr>
            <p:ph type="dt" idx="1"/>
          </p:nvPr>
        </p:nvSpPr>
        <p:spPr/>
        <p:txBody>
          <a:bodyPr/>
          <a:lstStyle/>
          <a:p>
            <a:endParaRPr lang="en-US" dirty="0"/>
          </a:p>
        </p:txBody>
      </p:sp>
    </p:spTree>
    <p:extLst>
      <p:ext uri="{BB962C8B-B14F-4D97-AF65-F5344CB8AC3E}">
        <p14:creationId xmlns:p14="http://schemas.microsoft.com/office/powerpoint/2010/main" val="42831611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Address Resolution</a:t>
            </a:r>
          </a:p>
          <a:p>
            <a:r>
              <a:rPr lang="en-US" dirty="0"/>
              <a:t>9.1 – MAC and IP</a:t>
            </a:r>
          </a:p>
          <a:p>
            <a:r>
              <a:rPr lang="en-US" dirty="0"/>
              <a:t>9.1.1 – Destination on Same Network</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
        <p:nvSpPr>
          <p:cNvPr id="5" name="Date Placeholder 4">
            <a:extLst>
              <a:ext uri="{FF2B5EF4-FFF2-40B4-BE49-F238E27FC236}">
                <a16:creationId xmlns:a16="http://schemas.microsoft.com/office/drawing/2014/main" id="{307DFF4B-BAD0-28E5-DC1A-6FCC4EDC2517}"/>
              </a:ext>
            </a:extLst>
          </p:cNvPr>
          <p:cNvSpPr>
            <a:spLocks noGrp="1"/>
          </p:cNvSpPr>
          <p:nvPr>
            <p:ph type="dt" idx="1"/>
          </p:nvPr>
        </p:nvSpPr>
        <p:spPr/>
        <p:txBody>
          <a:bodyPr/>
          <a:lstStyle/>
          <a:p>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Address Resolution</a:t>
            </a:r>
          </a:p>
          <a:p>
            <a:r>
              <a:rPr lang="en-US" dirty="0"/>
              <a:t>9.1 – MAC and IP</a:t>
            </a:r>
          </a:p>
          <a:p>
            <a:r>
              <a:rPr lang="en-US" dirty="0"/>
              <a:t>9.1.2 – Destination on Remote Network</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
        <p:nvSpPr>
          <p:cNvPr id="5" name="Date Placeholder 4">
            <a:extLst>
              <a:ext uri="{FF2B5EF4-FFF2-40B4-BE49-F238E27FC236}">
                <a16:creationId xmlns:a16="http://schemas.microsoft.com/office/drawing/2014/main" id="{4E253993-C5BE-7E29-2BE8-E6EF67229BEC}"/>
              </a:ext>
            </a:extLst>
          </p:cNvPr>
          <p:cNvSpPr>
            <a:spLocks noGrp="1"/>
          </p:cNvSpPr>
          <p:nvPr>
            <p:ph type="dt" idx="1"/>
          </p:nvPr>
        </p:nvSpPr>
        <p:spPr/>
        <p:txBody>
          <a:bodyPr/>
          <a:lstStyle/>
          <a:p>
            <a:endParaRPr lang="en-US" dirty="0"/>
          </a:p>
        </p:txBody>
      </p:sp>
    </p:spTree>
    <p:extLst>
      <p:ext uri="{BB962C8B-B14F-4D97-AF65-F5344CB8AC3E}">
        <p14:creationId xmlns:p14="http://schemas.microsoft.com/office/powerpoint/2010/main" val="2859007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7905751" y="6510337"/>
            <a:ext cx="1083733" cy="215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6</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9 - Address Resolution</a:t>
            </a:r>
          </a:p>
          <a:p>
            <a:pPr>
              <a:buFontTx/>
              <a:buNone/>
            </a:pPr>
            <a:r>
              <a:rPr lang="en-US" sz="1200" b="0" dirty="0"/>
              <a:t>9.0.2</a:t>
            </a:r>
            <a:endParaRPr lang="en-GB" dirty="0"/>
          </a:p>
        </p:txBody>
      </p:sp>
      <p:sp>
        <p:nvSpPr>
          <p:cNvPr id="2" name="Date Placeholder 1">
            <a:extLst>
              <a:ext uri="{FF2B5EF4-FFF2-40B4-BE49-F238E27FC236}">
                <a16:creationId xmlns:a16="http://schemas.microsoft.com/office/drawing/2014/main" id="{3F3DA402-2352-5BEB-4D1B-80464130B027}"/>
              </a:ext>
            </a:extLst>
          </p:cNvPr>
          <p:cNvSpPr>
            <a:spLocks noGrp="1"/>
          </p:cNvSpPr>
          <p:nvPr>
            <p:ph type="dt" idx="1"/>
          </p:nvPr>
        </p:nvSpPr>
        <p:spPr/>
        <p:txBody>
          <a:bodyPr/>
          <a:lstStyle/>
          <a:p>
            <a:endParaRPr lang="en-US" dirty="0"/>
          </a:p>
        </p:txBody>
      </p:sp>
    </p:spTree>
    <p:extLst>
      <p:ext uri="{BB962C8B-B14F-4D97-AF65-F5344CB8AC3E}">
        <p14:creationId xmlns:p14="http://schemas.microsoft.com/office/powerpoint/2010/main" val="1734445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dirty="0"/>
              <a:t>Introduction to Networks v7.0 (ITN)</a:t>
            </a:r>
          </a:p>
          <a:p>
            <a:pPr>
              <a:buFontTx/>
              <a:buNone/>
            </a:pPr>
            <a:r>
              <a:rPr lang="en-US" sz="1200" b="0" dirty="0"/>
              <a:t>Module 9: Address Resolution</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7</a:t>
            </a:fld>
            <a:endParaRPr lang="en-US" dirty="0"/>
          </a:p>
        </p:txBody>
      </p:sp>
      <p:sp>
        <p:nvSpPr>
          <p:cNvPr id="5" name="Date Placeholder 4">
            <a:extLst>
              <a:ext uri="{FF2B5EF4-FFF2-40B4-BE49-F238E27FC236}">
                <a16:creationId xmlns:a16="http://schemas.microsoft.com/office/drawing/2014/main" id="{E9221075-E87D-CB82-5DDA-6245A9D3F480}"/>
              </a:ext>
            </a:extLst>
          </p:cNvPr>
          <p:cNvSpPr>
            <a:spLocks noGrp="1"/>
          </p:cNvSpPr>
          <p:nvPr>
            <p:ph type="dt" idx="1"/>
          </p:nvPr>
        </p:nvSpPr>
        <p:spPr/>
        <p:txBody>
          <a:bodyPr/>
          <a:lstStyle/>
          <a:p>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7.1.1 – Ethernet Encapsulation</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
        <p:nvSpPr>
          <p:cNvPr id="5" name="Date Placeholder 4">
            <a:extLst>
              <a:ext uri="{FF2B5EF4-FFF2-40B4-BE49-F238E27FC236}">
                <a16:creationId xmlns:a16="http://schemas.microsoft.com/office/drawing/2014/main" id="{DAE79DD8-DC38-CBE5-18BD-E3FF76704887}"/>
              </a:ext>
            </a:extLst>
          </p:cNvPr>
          <p:cNvSpPr>
            <a:spLocks noGrp="1"/>
          </p:cNvSpPr>
          <p:nvPr>
            <p:ph type="dt" idx="1"/>
          </p:nvPr>
        </p:nvSpPr>
        <p:spPr/>
        <p:txBody>
          <a:bodyPr/>
          <a:lstStyle/>
          <a:p>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7.1.2 - Data Link Sublayers</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
        <p:nvSpPr>
          <p:cNvPr id="5" name="Date Placeholder 4">
            <a:extLst>
              <a:ext uri="{FF2B5EF4-FFF2-40B4-BE49-F238E27FC236}">
                <a16:creationId xmlns:a16="http://schemas.microsoft.com/office/drawing/2014/main" id="{C0310C92-F39B-72FD-3CE8-8398AD9DAF65}"/>
              </a:ext>
            </a:extLst>
          </p:cNvPr>
          <p:cNvSpPr>
            <a:spLocks noGrp="1"/>
          </p:cNvSpPr>
          <p:nvPr>
            <p:ph type="dt" idx="1"/>
          </p:nvPr>
        </p:nvSpPr>
        <p:spPr/>
        <p:txBody>
          <a:bodyPr/>
          <a:lstStyle/>
          <a:p>
            <a:endParaRPr lang="en-US" dirty="0"/>
          </a:p>
        </p:txBody>
      </p:sp>
    </p:spTree>
    <p:extLst>
      <p:ext uri="{BB962C8B-B14F-4D97-AF65-F5344CB8AC3E}">
        <p14:creationId xmlns:p14="http://schemas.microsoft.com/office/powerpoint/2010/main" val="27127686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7.1.3 – MAC Sublayer</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
        <p:nvSpPr>
          <p:cNvPr id="5" name="Date Placeholder 4">
            <a:extLst>
              <a:ext uri="{FF2B5EF4-FFF2-40B4-BE49-F238E27FC236}">
                <a16:creationId xmlns:a16="http://schemas.microsoft.com/office/drawing/2014/main" id="{53A87DC0-4A8E-893C-3656-5751B7BFC051}"/>
              </a:ext>
            </a:extLst>
          </p:cNvPr>
          <p:cNvSpPr>
            <a:spLocks noGrp="1"/>
          </p:cNvSpPr>
          <p:nvPr>
            <p:ph type="dt" idx="1"/>
          </p:nvPr>
        </p:nvSpPr>
        <p:spPr/>
        <p:txBody>
          <a:bodyPr/>
          <a:lstStyle/>
          <a:p>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7.1.3 – MAC Sublayer</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
        <p:nvSpPr>
          <p:cNvPr id="5" name="Date Placeholder 4">
            <a:extLst>
              <a:ext uri="{FF2B5EF4-FFF2-40B4-BE49-F238E27FC236}">
                <a16:creationId xmlns:a16="http://schemas.microsoft.com/office/drawing/2014/main" id="{B2F7B1AA-306A-D9C7-7545-0B6CB6DBB3B3}"/>
              </a:ext>
            </a:extLst>
          </p:cNvPr>
          <p:cNvSpPr>
            <a:spLocks noGrp="1"/>
          </p:cNvSpPr>
          <p:nvPr>
            <p:ph type="dt" idx="1"/>
          </p:nvPr>
        </p:nvSpPr>
        <p:spPr/>
        <p:txBody>
          <a:bodyPr/>
          <a:lstStyle/>
          <a:p>
            <a:endParaRPr lang="en-US" dirty="0"/>
          </a:p>
        </p:txBody>
      </p:sp>
    </p:spTree>
    <p:extLst>
      <p:ext uri="{BB962C8B-B14F-4D97-AF65-F5344CB8AC3E}">
        <p14:creationId xmlns:p14="http://schemas.microsoft.com/office/powerpoint/2010/main" val="23699577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7.1.4 – Ethernet Frame Fields</a:t>
            </a:r>
          </a:p>
          <a:p>
            <a:r>
              <a:rPr lang="en-US" dirty="0"/>
              <a:t>7.1.5 – Check Your Understanding – Ethernet Switching</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
        <p:nvSpPr>
          <p:cNvPr id="5" name="Date Placeholder 4">
            <a:extLst>
              <a:ext uri="{FF2B5EF4-FFF2-40B4-BE49-F238E27FC236}">
                <a16:creationId xmlns:a16="http://schemas.microsoft.com/office/drawing/2014/main" id="{2A5B8E12-69A7-B3CA-5700-7599BD86D0F6}"/>
              </a:ext>
            </a:extLst>
          </p:cNvPr>
          <p:cNvSpPr>
            <a:spLocks noGrp="1"/>
          </p:cNvSpPr>
          <p:nvPr>
            <p:ph type="dt" idx="1"/>
          </p:nvPr>
        </p:nvSpPr>
        <p:spPr/>
        <p:txBody>
          <a:bodyPr/>
          <a:lstStyle/>
          <a:p>
            <a:endParaRPr lang="en-US" dirty="0"/>
          </a:p>
        </p:txBody>
      </p:sp>
    </p:spTree>
    <p:extLst>
      <p:ext uri="{BB962C8B-B14F-4D97-AF65-F5344CB8AC3E}">
        <p14:creationId xmlns:p14="http://schemas.microsoft.com/office/powerpoint/2010/main" val="32440739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9 - Address Resolution</a:t>
            </a:r>
          </a:p>
          <a:p>
            <a:pPr>
              <a:buFontTx/>
              <a:buNone/>
            </a:pPr>
            <a:r>
              <a:rPr lang="en-US" sz="1200" b="0" dirty="0"/>
              <a:t>9.2 ARP</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13</a:t>
            </a:fld>
            <a:endParaRPr lang="en-US" dirty="0"/>
          </a:p>
        </p:txBody>
      </p:sp>
      <p:sp>
        <p:nvSpPr>
          <p:cNvPr id="5" name="Date Placeholder 4">
            <a:extLst>
              <a:ext uri="{FF2B5EF4-FFF2-40B4-BE49-F238E27FC236}">
                <a16:creationId xmlns:a16="http://schemas.microsoft.com/office/drawing/2014/main" id="{9302E24F-D0C5-E3EF-2C93-AADB6FCF0BA1}"/>
              </a:ext>
            </a:extLst>
          </p:cNvPr>
          <p:cNvSpPr>
            <a:spLocks noGrp="1"/>
          </p:cNvSpPr>
          <p:nvPr>
            <p:ph type="dt" idx="1"/>
          </p:nvPr>
        </p:nvSpPr>
        <p:spPr/>
        <p:txBody>
          <a:bodyPr/>
          <a:lstStyle/>
          <a:p>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Address Resolution</a:t>
            </a:r>
          </a:p>
          <a:p>
            <a:r>
              <a:rPr lang="en-US" dirty="0"/>
              <a:t>9.2 – ARP</a:t>
            </a:r>
          </a:p>
          <a:p>
            <a:r>
              <a:rPr lang="en-US" dirty="0"/>
              <a:t>9.2.1 – ARP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
        <p:nvSpPr>
          <p:cNvPr id="5" name="Date Placeholder 4">
            <a:extLst>
              <a:ext uri="{FF2B5EF4-FFF2-40B4-BE49-F238E27FC236}">
                <a16:creationId xmlns:a16="http://schemas.microsoft.com/office/drawing/2014/main" id="{81107F14-25CB-3AE4-1F6B-7CB33230FCF8}"/>
              </a:ext>
            </a:extLst>
          </p:cNvPr>
          <p:cNvSpPr>
            <a:spLocks noGrp="1"/>
          </p:cNvSpPr>
          <p:nvPr>
            <p:ph type="dt" idx="1"/>
          </p:nvPr>
        </p:nvSpPr>
        <p:spPr/>
        <p:txBody>
          <a:bodyPr/>
          <a:lstStyle/>
          <a:p>
            <a:endParaRPr lang="en-US" dirty="0"/>
          </a:p>
        </p:txBody>
      </p:sp>
    </p:spTree>
    <p:extLst>
      <p:ext uri="{BB962C8B-B14F-4D97-AF65-F5344CB8AC3E}">
        <p14:creationId xmlns:p14="http://schemas.microsoft.com/office/powerpoint/2010/main" val="25521254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Address Resolution</a:t>
            </a:r>
          </a:p>
          <a:p>
            <a:r>
              <a:rPr lang="en-US" dirty="0"/>
              <a:t>9.2 – ARP</a:t>
            </a:r>
          </a:p>
          <a:p>
            <a:r>
              <a:rPr lang="en-US" dirty="0"/>
              <a:t>9.2.2 – ARP Functions</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
        <p:nvSpPr>
          <p:cNvPr id="5" name="Date Placeholder 4">
            <a:extLst>
              <a:ext uri="{FF2B5EF4-FFF2-40B4-BE49-F238E27FC236}">
                <a16:creationId xmlns:a16="http://schemas.microsoft.com/office/drawing/2014/main" id="{8F3E3A05-1E5A-C2DB-8218-5EF9AB075A32}"/>
              </a:ext>
            </a:extLst>
          </p:cNvPr>
          <p:cNvSpPr>
            <a:spLocks noGrp="1"/>
          </p:cNvSpPr>
          <p:nvPr>
            <p:ph type="dt" idx="1"/>
          </p:nvPr>
        </p:nvSpPr>
        <p:spPr/>
        <p:txBody>
          <a:bodyPr/>
          <a:lstStyle/>
          <a:p>
            <a:endParaRPr lang="en-US" dirty="0"/>
          </a:p>
        </p:txBody>
      </p:sp>
    </p:spTree>
    <p:extLst>
      <p:ext uri="{BB962C8B-B14F-4D97-AF65-F5344CB8AC3E}">
        <p14:creationId xmlns:p14="http://schemas.microsoft.com/office/powerpoint/2010/main" val="9531251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Address Resolution</a:t>
            </a:r>
          </a:p>
          <a:p>
            <a:r>
              <a:rPr lang="en-US" dirty="0"/>
              <a:t>9.2 – ARP</a:t>
            </a:r>
          </a:p>
          <a:p>
            <a:r>
              <a:rPr lang="en-US" dirty="0"/>
              <a:t>9.2.3 –  Video - ARP Request</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
        <p:nvSpPr>
          <p:cNvPr id="5" name="Date Placeholder 4">
            <a:extLst>
              <a:ext uri="{FF2B5EF4-FFF2-40B4-BE49-F238E27FC236}">
                <a16:creationId xmlns:a16="http://schemas.microsoft.com/office/drawing/2014/main" id="{56C5B037-1CB8-53BB-F066-601F4AE2EBA9}"/>
              </a:ext>
            </a:extLst>
          </p:cNvPr>
          <p:cNvSpPr>
            <a:spLocks noGrp="1"/>
          </p:cNvSpPr>
          <p:nvPr>
            <p:ph type="dt" idx="1"/>
          </p:nvPr>
        </p:nvSpPr>
        <p:spPr/>
        <p:txBody>
          <a:bodyPr/>
          <a:lstStyle/>
          <a:p>
            <a:endParaRPr lang="en-US" dirty="0"/>
          </a:p>
        </p:txBody>
      </p:sp>
    </p:spTree>
    <p:extLst>
      <p:ext uri="{BB962C8B-B14F-4D97-AF65-F5344CB8AC3E}">
        <p14:creationId xmlns:p14="http://schemas.microsoft.com/office/powerpoint/2010/main" val="908971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Address Resolution</a:t>
            </a:r>
          </a:p>
          <a:p>
            <a:r>
              <a:rPr lang="en-US" dirty="0"/>
              <a:t>9.2 – ARP</a:t>
            </a:r>
          </a:p>
          <a:p>
            <a:r>
              <a:rPr lang="en-US" dirty="0"/>
              <a:t>9.2.4 – Video – ARP Operation - ARP Reply</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
        <p:nvSpPr>
          <p:cNvPr id="5" name="Date Placeholder 4">
            <a:extLst>
              <a:ext uri="{FF2B5EF4-FFF2-40B4-BE49-F238E27FC236}">
                <a16:creationId xmlns:a16="http://schemas.microsoft.com/office/drawing/2014/main" id="{8CA93773-8A85-7B03-9CB4-3A58EC1D081E}"/>
              </a:ext>
            </a:extLst>
          </p:cNvPr>
          <p:cNvSpPr>
            <a:spLocks noGrp="1"/>
          </p:cNvSpPr>
          <p:nvPr>
            <p:ph type="dt" idx="1"/>
          </p:nvPr>
        </p:nvSpPr>
        <p:spPr/>
        <p:txBody>
          <a:bodyPr/>
          <a:lstStyle/>
          <a:p>
            <a:endParaRPr lang="en-US" dirty="0"/>
          </a:p>
        </p:txBody>
      </p:sp>
    </p:spTree>
    <p:extLst>
      <p:ext uri="{BB962C8B-B14F-4D97-AF65-F5344CB8AC3E}">
        <p14:creationId xmlns:p14="http://schemas.microsoft.com/office/powerpoint/2010/main" val="38954780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Address Resolution</a:t>
            </a:r>
          </a:p>
          <a:p>
            <a:r>
              <a:rPr lang="en-US" dirty="0"/>
              <a:t>9.2 – ARP</a:t>
            </a:r>
          </a:p>
          <a:p>
            <a:r>
              <a:rPr lang="en-US" dirty="0"/>
              <a:t>9.2.5 – Video - ARP Role in Remote Communications</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
        <p:nvSpPr>
          <p:cNvPr id="5" name="Date Placeholder 4">
            <a:extLst>
              <a:ext uri="{FF2B5EF4-FFF2-40B4-BE49-F238E27FC236}">
                <a16:creationId xmlns:a16="http://schemas.microsoft.com/office/drawing/2014/main" id="{0E409948-800D-5054-E439-F9DD6CCDD4B5}"/>
              </a:ext>
            </a:extLst>
          </p:cNvPr>
          <p:cNvSpPr>
            <a:spLocks noGrp="1"/>
          </p:cNvSpPr>
          <p:nvPr>
            <p:ph type="dt" idx="1"/>
          </p:nvPr>
        </p:nvSpPr>
        <p:spPr/>
        <p:txBody>
          <a:bodyPr/>
          <a:lstStyle/>
          <a:p>
            <a:endParaRPr lang="en-US" dirty="0"/>
          </a:p>
        </p:txBody>
      </p:sp>
    </p:spTree>
    <p:extLst>
      <p:ext uri="{BB962C8B-B14F-4D97-AF65-F5344CB8AC3E}">
        <p14:creationId xmlns:p14="http://schemas.microsoft.com/office/powerpoint/2010/main" val="39154168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Address Resolution</a:t>
            </a:r>
          </a:p>
          <a:p>
            <a:r>
              <a:rPr lang="en-US" dirty="0"/>
              <a:t>9.2 – ARP</a:t>
            </a:r>
          </a:p>
          <a:p>
            <a:r>
              <a:rPr lang="en-US" dirty="0"/>
              <a:t>9.2.6– Removing Entries from an ARP Table</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
        <p:nvSpPr>
          <p:cNvPr id="5" name="Date Placeholder 4">
            <a:extLst>
              <a:ext uri="{FF2B5EF4-FFF2-40B4-BE49-F238E27FC236}">
                <a16:creationId xmlns:a16="http://schemas.microsoft.com/office/drawing/2014/main" id="{76A799EF-FF9D-800E-EC7C-34B35FC3D975}"/>
              </a:ext>
            </a:extLst>
          </p:cNvPr>
          <p:cNvSpPr>
            <a:spLocks noGrp="1"/>
          </p:cNvSpPr>
          <p:nvPr>
            <p:ph type="dt" idx="1"/>
          </p:nvPr>
        </p:nvSpPr>
        <p:spPr/>
        <p:txBody>
          <a:bodyPr/>
          <a:lstStyle/>
          <a:p>
            <a:endParaRPr lang="en-US" dirty="0"/>
          </a:p>
        </p:txBody>
      </p:sp>
    </p:spTree>
    <p:extLst>
      <p:ext uri="{BB962C8B-B14F-4D97-AF65-F5344CB8AC3E}">
        <p14:creationId xmlns:p14="http://schemas.microsoft.com/office/powerpoint/2010/main" val="36846645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Address Resolution</a:t>
            </a:r>
          </a:p>
          <a:p>
            <a:r>
              <a:rPr lang="en-US" dirty="0"/>
              <a:t>9.2 – ARP</a:t>
            </a:r>
          </a:p>
          <a:p>
            <a:r>
              <a:rPr lang="en-US" dirty="0"/>
              <a:t>9.2.7 – ARP Tables on Networking Devices</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
        <p:nvSpPr>
          <p:cNvPr id="5" name="Date Placeholder 4">
            <a:extLst>
              <a:ext uri="{FF2B5EF4-FFF2-40B4-BE49-F238E27FC236}">
                <a16:creationId xmlns:a16="http://schemas.microsoft.com/office/drawing/2014/main" id="{CA5E699C-9632-AD3D-A392-F4E0B8DB52EC}"/>
              </a:ext>
            </a:extLst>
          </p:cNvPr>
          <p:cNvSpPr>
            <a:spLocks noGrp="1"/>
          </p:cNvSpPr>
          <p:nvPr>
            <p:ph type="dt" idx="1"/>
          </p:nvPr>
        </p:nvSpPr>
        <p:spPr/>
        <p:txBody>
          <a:bodyPr/>
          <a:lstStyle/>
          <a:p>
            <a:endParaRPr lang="en-US" dirty="0"/>
          </a:p>
        </p:txBody>
      </p:sp>
    </p:spTree>
    <p:extLst>
      <p:ext uri="{BB962C8B-B14F-4D97-AF65-F5344CB8AC3E}">
        <p14:creationId xmlns:p14="http://schemas.microsoft.com/office/powerpoint/2010/main" val="1418977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Address Resolution</a:t>
            </a:r>
          </a:p>
          <a:p>
            <a:r>
              <a:rPr lang="en-US" dirty="0"/>
              <a:t>9.2 – ARP</a:t>
            </a:r>
          </a:p>
          <a:p>
            <a:r>
              <a:rPr lang="en-US" dirty="0"/>
              <a:t>9.2.8 – ARP Issues – ARP Broadcast and ARP Spoofing</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
        <p:nvSpPr>
          <p:cNvPr id="5" name="Date Placeholder 4">
            <a:extLst>
              <a:ext uri="{FF2B5EF4-FFF2-40B4-BE49-F238E27FC236}">
                <a16:creationId xmlns:a16="http://schemas.microsoft.com/office/drawing/2014/main" id="{BA41FB70-C2BC-B383-3F16-31E10C9F07B7}"/>
              </a:ext>
            </a:extLst>
          </p:cNvPr>
          <p:cNvSpPr>
            <a:spLocks noGrp="1"/>
          </p:cNvSpPr>
          <p:nvPr>
            <p:ph type="dt" idx="1"/>
          </p:nvPr>
        </p:nvSpPr>
        <p:spPr/>
        <p:txBody>
          <a:bodyPr/>
          <a:lstStyle/>
          <a:p>
            <a:endParaRPr lang="en-US" dirty="0"/>
          </a:p>
        </p:txBody>
      </p:sp>
    </p:spTree>
    <p:extLst>
      <p:ext uri="{BB962C8B-B14F-4D97-AF65-F5344CB8AC3E}">
        <p14:creationId xmlns:p14="http://schemas.microsoft.com/office/powerpoint/2010/main" val="8999022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hf hdr="0" ftr="0"/>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C5EF5-F8B3-6B4A-1E4D-E24B2D5CBE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7FB12-9C69-26DD-32A0-650051C13C83}"/>
              </a:ext>
            </a:extLst>
          </p:cNvPr>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3.1.2 Differentiate MAC Address and the IP Address</a:t>
            </a:r>
          </a:p>
        </p:txBody>
      </p:sp>
    </p:spTree>
    <p:custDataLst>
      <p:tags r:id="rId1"/>
    </p:custDataLst>
    <p:extLst>
      <p:ext uri="{BB962C8B-B14F-4D97-AF65-F5344CB8AC3E}">
        <p14:creationId xmlns:p14="http://schemas.microsoft.com/office/powerpoint/2010/main" val="347882534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FE22961-3EB8-49EE-AF70-327B40AE55CB}"/>
              </a:ext>
            </a:extLst>
          </p:cNvPr>
          <p:cNvSpPr>
            <a:spLocks noGrp="1"/>
          </p:cNvSpPr>
          <p:nvPr>
            <p:ph idx="1"/>
          </p:nvPr>
        </p:nvSpPr>
        <p:spPr>
          <a:xfrm>
            <a:off x="437766" y="2626398"/>
            <a:ext cx="8280057" cy="2003274"/>
          </a:xfrm>
        </p:spPr>
        <p:txBody>
          <a:bodyPr/>
          <a:lstStyle/>
          <a:p>
            <a:pPr algn="l"/>
            <a:r>
              <a:rPr lang="en-US" sz="1100" dirty="0">
                <a:solidFill>
                  <a:schemeClr val="tx1">
                    <a:lumMod val="75000"/>
                  </a:schemeClr>
                </a:solidFill>
              </a:rPr>
              <a:t>The IP packet contains two IP addresses:</a:t>
            </a:r>
          </a:p>
          <a:p>
            <a:pPr algn="l"/>
            <a:r>
              <a:rPr lang="en-US" sz="1100" b="1" dirty="0">
                <a:solidFill>
                  <a:schemeClr val="tx1">
                    <a:lumMod val="75000"/>
                  </a:schemeClr>
                </a:solidFill>
              </a:rPr>
              <a:t>Source IP address</a:t>
            </a:r>
            <a:r>
              <a:rPr lang="en-US" sz="1100" dirty="0">
                <a:solidFill>
                  <a:schemeClr val="tx1">
                    <a:lumMod val="75000"/>
                  </a:schemeClr>
                </a:solidFill>
              </a:rPr>
              <a:t> - The IP address of the sending device, which is the original source of the packet.</a:t>
            </a:r>
          </a:p>
          <a:p>
            <a:pPr algn="l"/>
            <a:r>
              <a:rPr lang="en-US" sz="1100" b="1" dirty="0">
                <a:solidFill>
                  <a:schemeClr val="tx1">
                    <a:lumMod val="75000"/>
                  </a:schemeClr>
                </a:solidFill>
              </a:rPr>
              <a:t>Destination IP address</a:t>
            </a:r>
            <a:r>
              <a:rPr lang="en-US" sz="1100" dirty="0">
                <a:solidFill>
                  <a:schemeClr val="tx1">
                    <a:lumMod val="75000"/>
                  </a:schemeClr>
                </a:solidFill>
              </a:rPr>
              <a:t> - The IP address of the receiving device, which is the final destination of the packet.</a:t>
            </a:r>
          </a:p>
          <a:p>
            <a:pPr algn="l"/>
            <a:r>
              <a:rPr lang="en-US" sz="1100" dirty="0">
                <a:solidFill>
                  <a:schemeClr val="tx1">
                    <a:lumMod val="75000"/>
                  </a:schemeClr>
                </a:solidFill>
              </a:rPr>
              <a:t>The IP addresses indicate the original source IP address and final destination IP address. This is true whether the source and destination are on the same IP network or different IP networks.</a:t>
            </a:r>
          </a:p>
          <a:p>
            <a:pPr algn="l"/>
            <a:r>
              <a:rPr lang="en-US" sz="1100" dirty="0">
                <a:solidFill>
                  <a:schemeClr val="tx1">
                    <a:lumMod val="75000"/>
                  </a:schemeClr>
                </a:solidFill>
              </a:rPr>
              <a:t>An IP address contains two parts:</a:t>
            </a:r>
          </a:p>
          <a:p>
            <a:pPr algn="l"/>
            <a:r>
              <a:rPr lang="en-US" sz="1100" b="1" dirty="0">
                <a:solidFill>
                  <a:schemeClr val="tx1">
                    <a:lumMod val="75000"/>
                  </a:schemeClr>
                </a:solidFill>
              </a:rPr>
              <a:t>Network portion (IPv4) or Prefix (IPv6)</a:t>
            </a:r>
            <a:r>
              <a:rPr lang="en-US" sz="1100" dirty="0">
                <a:solidFill>
                  <a:schemeClr val="tx1">
                    <a:lumMod val="75000"/>
                  </a:schemeClr>
                </a:solidFill>
              </a:rPr>
              <a:t> - The left-most part of the address that indicates the network in which the IP address is a member. All devices on the same network will have the same network portion of the address.</a:t>
            </a:r>
          </a:p>
          <a:p>
            <a:pPr algn="l"/>
            <a:r>
              <a:rPr lang="en-US" sz="1100" b="1" dirty="0">
                <a:solidFill>
                  <a:schemeClr val="tx1">
                    <a:lumMod val="75000"/>
                  </a:schemeClr>
                </a:solidFill>
              </a:rPr>
              <a:t>Host portion (IPv4) or Interface ID (IPv6)</a:t>
            </a:r>
            <a:r>
              <a:rPr lang="en-US" sz="1100" dirty="0">
                <a:solidFill>
                  <a:schemeClr val="tx1">
                    <a:lumMod val="75000"/>
                  </a:schemeClr>
                </a:solidFill>
              </a:rPr>
              <a:t> - The remaining part of the address that identifies a specific device on the network. This portion is unique for each device or interface on the network.</a:t>
            </a:r>
          </a:p>
          <a:p>
            <a:endParaRPr lang="en-MY" dirty="0"/>
          </a:p>
        </p:txBody>
      </p:sp>
      <p:sp>
        <p:nvSpPr>
          <p:cNvPr id="3" name="Title 2">
            <a:extLst>
              <a:ext uri="{FF2B5EF4-FFF2-40B4-BE49-F238E27FC236}">
                <a16:creationId xmlns:a16="http://schemas.microsoft.com/office/drawing/2014/main" id="{D2407490-F53B-4A68-B466-8CB49A9E8F26}"/>
              </a:ext>
            </a:extLst>
          </p:cNvPr>
          <p:cNvSpPr>
            <a:spLocks noGrp="1"/>
          </p:cNvSpPr>
          <p:nvPr>
            <p:ph type="title"/>
          </p:nvPr>
        </p:nvSpPr>
        <p:spPr>
          <a:xfrm>
            <a:off x="437766" y="2127903"/>
            <a:ext cx="8345488" cy="443847"/>
          </a:xfrm>
        </p:spPr>
        <p:txBody>
          <a:bodyPr/>
          <a:lstStyle/>
          <a:p>
            <a:r>
              <a:rPr lang="en-US" sz="1050" dirty="0">
                <a:solidFill>
                  <a:schemeClr val="tx1">
                    <a:lumMod val="75000"/>
                  </a:schemeClr>
                </a:solidFill>
              </a:rPr>
              <a:t>An IP address is the network layer, or Layer 3, logical address used to deliver the IP packet from the original source to the final destination, as shown in the figure.</a:t>
            </a:r>
            <a:endParaRPr lang="en-MY" sz="1050" dirty="0">
              <a:solidFill>
                <a:schemeClr val="tx1">
                  <a:lumMod val="75000"/>
                </a:schemeClr>
              </a:solidFill>
            </a:endParaRPr>
          </a:p>
        </p:txBody>
      </p:sp>
      <p:pic>
        <p:nvPicPr>
          <p:cNvPr id="4" name="Picture 3">
            <a:extLst>
              <a:ext uri="{FF2B5EF4-FFF2-40B4-BE49-F238E27FC236}">
                <a16:creationId xmlns:a16="http://schemas.microsoft.com/office/drawing/2014/main" id="{AA655A63-ABEA-4749-BD34-DE857C510F97}"/>
              </a:ext>
            </a:extLst>
          </p:cNvPr>
          <p:cNvPicPr>
            <a:picLocks noChangeAspect="1"/>
          </p:cNvPicPr>
          <p:nvPr/>
        </p:nvPicPr>
        <p:blipFill>
          <a:blip r:embed="rId2"/>
          <a:stretch>
            <a:fillRect/>
          </a:stretch>
        </p:blipFill>
        <p:spPr>
          <a:xfrm>
            <a:off x="1807436" y="256374"/>
            <a:ext cx="5601768" cy="1969415"/>
          </a:xfrm>
          <a:prstGeom prst="rect">
            <a:avLst/>
          </a:prstGeom>
        </p:spPr>
      </p:pic>
    </p:spTree>
    <p:extLst>
      <p:ext uri="{BB962C8B-B14F-4D97-AF65-F5344CB8AC3E}">
        <p14:creationId xmlns:p14="http://schemas.microsoft.com/office/powerpoint/2010/main" val="1804082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0F3A7C-F2E8-4ECD-B3BA-2E6C567AA797}"/>
              </a:ext>
            </a:extLst>
          </p:cNvPr>
          <p:cNvSpPr>
            <a:spLocks noGrp="1"/>
          </p:cNvSpPr>
          <p:nvPr>
            <p:ph idx="1"/>
          </p:nvPr>
        </p:nvSpPr>
        <p:spPr>
          <a:xfrm>
            <a:off x="426177" y="707231"/>
            <a:ext cx="8280057" cy="2018877"/>
          </a:xfrm>
        </p:spPr>
        <p:txBody>
          <a:bodyPr/>
          <a:lstStyle/>
          <a:p>
            <a:pPr algn="l"/>
            <a:r>
              <a:rPr lang="en-US" sz="1400" dirty="0">
                <a:solidFill>
                  <a:schemeClr val="tx1">
                    <a:lumMod val="75000"/>
                  </a:schemeClr>
                </a:solidFill>
              </a:rPr>
              <a:t>In this example we have a client computer, PC1, communicating with an FTP server on the same IP network.</a:t>
            </a:r>
          </a:p>
          <a:p>
            <a:pPr algn="l"/>
            <a:r>
              <a:rPr lang="en-US" sz="1400" b="1" dirty="0">
                <a:solidFill>
                  <a:schemeClr val="tx1">
                    <a:lumMod val="75000"/>
                  </a:schemeClr>
                </a:solidFill>
              </a:rPr>
              <a:t>Source IPv4 address</a:t>
            </a:r>
            <a:r>
              <a:rPr lang="en-US" sz="1400" dirty="0">
                <a:solidFill>
                  <a:schemeClr val="tx1">
                    <a:lumMod val="75000"/>
                  </a:schemeClr>
                </a:solidFill>
              </a:rPr>
              <a:t> - The IPv4 address of the sending device, the client computer PC1: 192.168.1.110.</a:t>
            </a:r>
          </a:p>
          <a:p>
            <a:pPr algn="l"/>
            <a:r>
              <a:rPr lang="en-US" sz="1400" b="1" dirty="0">
                <a:solidFill>
                  <a:schemeClr val="tx1">
                    <a:lumMod val="75000"/>
                  </a:schemeClr>
                </a:solidFill>
              </a:rPr>
              <a:t>Destination IPv4 address</a:t>
            </a:r>
            <a:r>
              <a:rPr lang="en-US" sz="1400" dirty="0">
                <a:solidFill>
                  <a:schemeClr val="tx1">
                    <a:lumMod val="75000"/>
                  </a:schemeClr>
                </a:solidFill>
              </a:rPr>
              <a:t> - The IPv4 address of the receiving device, FTP server: 192.168.1.9.</a:t>
            </a:r>
          </a:p>
          <a:p>
            <a:pPr algn="l"/>
            <a:r>
              <a:rPr lang="en-US" sz="1400" dirty="0">
                <a:solidFill>
                  <a:schemeClr val="tx1">
                    <a:lumMod val="75000"/>
                  </a:schemeClr>
                </a:solidFill>
              </a:rPr>
              <a:t>Notice in the figure that the network portion of the source IPv4 address and the network portion of the destination IPv4 address are the same and therefore; the source and destination are on the same network.</a:t>
            </a:r>
          </a:p>
          <a:p>
            <a:pPr algn="l"/>
            <a:endParaRPr lang="en-MY" sz="1400" dirty="0">
              <a:solidFill>
                <a:schemeClr val="tx1">
                  <a:lumMod val="75000"/>
                </a:schemeClr>
              </a:solidFill>
            </a:endParaRPr>
          </a:p>
        </p:txBody>
      </p:sp>
      <p:sp>
        <p:nvSpPr>
          <p:cNvPr id="3" name="Title 2">
            <a:extLst>
              <a:ext uri="{FF2B5EF4-FFF2-40B4-BE49-F238E27FC236}">
                <a16:creationId xmlns:a16="http://schemas.microsoft.com/office/drawing/2014/main" id="{EEE6FABD-4FDF-4D8C-BB08-083C6A7F33B2}"/>
              </a:ext>
            </a:extLst>
          </p:cNvPr>
          <p:cNvSpPr>
            <a:spLocks noGrp="1"/>
          </p:cNvSpPr>
          <p:nvPr>
            <p:ph type="title"/>
          </p:nvPr>
        </p:nvSpPr>
        <p:spPr/>
        <p:txBody>
          <a:bodyPr/>
          <a:lstStyle/>
          <a:p>
            <a:r>
              <a:rPr lang="en-US" dirty="0"/>
              <a:t>Devices on the Same Network</a:t>
            </a:r>
            <a:br>
              <a:rPr lang="en-US" dirty="0"/>
            </a:br>
            <a:endParaRPr lang="en-MY" dirty="0"/>
          </a:p>
        </p:txBody>
      </p:sp>
      <p:pic>
        <p:nvPicPr>
          <p:cNvPr id="4" name="Picture 3">
            <a:extLst>
              <a:ext uri="{FF2B5EF4-FFF2-40B4-BE49-F238E27FC236}">
                <a16:creationId xmlns:a16="http://schemas.microsoft.com/office/drawing/2014/main" id="{116CF84F-83BA-4A4A-B853-AA5313760019}"/>
              </a:ext>
            </a:extLst>
          </p:cNvPr>
          <p:cNvPicPr>
            <a:picLocks noChangeAspect="1"/>
          </p:cNvPicPr>
          <p:nvPr/>
        </p:nvPicPr>
        <p:blipFill>
          <a:blip r:embed="rId2"/>
          <a:stretch>
            <a:fillRect/>
          </a:stretch>
        </p:blipFill>
        <p:spPr>
          <a:xfrm>
            <a:off x="1452743" y="2503917"/>
            <a:ext cx="6033373" cy="2417392"/>
          </a:xfrm>
          <a:prstGeom prst="rect">
            <a:avLst/>
          </a:prstGeom>
        </p:spPr>
      </p:pic>
    </p:spTree>
    <p:extLst>
      <p:ext uri="{BB962C8B-B14F-4D97-AF65-F5344CB8AC3E}">
        <p14:creationId xmlns:p14="http://schemas.microsoft.com/office/powerpoint/2010/main" val="3671919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MAC and IP</a:t>
            </a:r>
            <a:br>
              <a:rPr lang="en-US" dirty="0"/>
            </a:br>
            <a:r>
              <a:rPr lang="en-US" sz="2400" dirty="0"/>
              <a:t>Destination on Same Network</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79109" y="731838"/>
            <a:ext cx="8532920" cy="2341300"/>
          </a:xfrm>
        </p:spPr>
        <p:txBody>
          <a:bodyPr/>
          <a:lstStyle/>
          <a:p>
            <a:pPr marL="0" indent="0" algn="l"/>
            <a:r>
              <a:rPr lang="en-US" sz="1600" dirty="0">
                <a:solidFill>
                  <a:srgbClr val="000000"/>
                </a:solidFill>
              </a:rPr>
              <a:t>There</a:t>
            </a:r>
            <a:r>
              <a:rPr lang="en-US" sz="1600" dirty="0"/>
              <a:t> </a:t>
            </a:r>
            <a:r>
              <a:rPr lang="en-US" sz="1600" dirty="0">
                <a:solidFill>
                  <a:srgbClr val="000000"/>
                </a:solidFill>
              </a:rPr>
              <a:t>are two primary addresses assigned to a device on an Ethernet LAN:</a:t>
            </a:r>
          </a:p>
          <a:p>
            <a:pPr marL="415985" lvl="1" indent="-342900">
              <a:buFont typeface="Arial" panose="020B0604020202020204" pitchFamily="34" charset="0"/>
              <a:buChar char="•"/>
            </a:pPr>
            <a:r>
              <a:rPr lang="en-US" sz="1600" b="1" dirty="0">
                <a:solidFill>
                  <a:srgbClr val="000000"/>
                </a:solidFill>
              </a:rPr>
              <a:t>Layer 2 physical address (the MAC address)</a:t>
            </a:r>
            <a:r>
              <a:rPr lang="en-US" sz="1600" dirty="0">
                <a:solidFill>
                  <a:srgbClr val="000000"/>
                </a:solidFill>
              </a:rPr>
              <a:t> – Used for NIC to NIC communications on the same Ethernet network.</a:t>
            </a:r>
          </a:p>
          <a:p>
            <a:pPr marL="415985" lvl="1" indent="-342900">
              <a:buFont typeface="Arial" panose="020B0604020202020204" pitchFamily="34" charset="0"/>
              <a:buChar char="•"/>
            </a:pPr>
            <a:r>
              <a:rPr lang="en-US" sz="1600" b="1" dirty="0">
                <a:solidFill>
                  <a:srgbClr val="000000"/>
                </a:solidFill>
              </a:rPr>
              <a:t>Layer 3 logical address (the IP address)</a:t>
            </a:r>
            <a:r>
              <a:rPr lang="en-US" sz="1600" dirty="0">
                <a:solidFill>
                  <a:srgbClr val="000000"/>
                </a:solidFill>
              </a:rPr>
              <a:t> – Used to send the packet from the source device to the destination device. </a:t>
            </a:r>
          </a:p>
          <a:p>
            <a:pPr marL="73085" lvl="1" indent="0">
              <a:buNone/>
            </a:pPr>
            <a:r>
              <a:rPr lang="en-US" sz="1600" dirty="0">
                <a:solidFill>
                  <a:srgbClr val="000000"/>
                </a:solidFill>
              </a:rPr>
              <a:t>Layer 2 addresses are used to deliver frames from one NIC to another NIC on the same network. If a destination IP address is on the same network, the destination MAC address will be that of the destination device.</a:t>
            </a:r>
          </a:p>
        </p:txBody>
      </p:sp>
      <p:pic>
        <p:nvPicPr>
          <p:cNvPr id="2" name="Picture 1">
            <a:extLst>
              <a:ext uri="{FF2B5EF4-FFF2-40B4-BE49-F238E27FC236}">
                <a16:creationId xmlns:a16="http://schemas.microsoft.com/office/drawing/2014/main" id="{DB3295B7-4667-438E-A1A4-0A077F091E61}"/>
              </a:ext>
            </a:extLst>
          </p:cNvPr>
          <p:cNvPicPr>
            <a:picLocks noChangeAspect="1"/>
          </p:cNvPicPr>
          <p:nvPr/>
        </p:nvPicPr>
        <p:blipFill>
          <a:blip r:embed="rId3"/>
          <a:stretch>
            <a:fillRect/>
          </a:stretch>
        </p:blipFill>
        <p:spPr>
          <a:xfrm>
            <a:off x="2395728" y="3157730"/>
            <a:ext cx="4352544" cy="1724593"/>
          </a:xfrm>
          <a:prstGeom prst="rect">
            <a:avLst/>
          </a:prstGeom>
        </p:spPr>
      </p:pic>
    </p:spTree>
    <p:extLst>
      <p:ext uri="{BB962C8B-B14F-4D97-AF65-F5344CB8AC3E}">
        <p14:creationId xmlns:p14="http://schemas.microsoft.com/office/powerpoint/2010/main" val="1916124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MAC and IP</a:t>
            </a:r>
            <a:br>
              <a:rPr lang="en-US" dirty="0"/>
            </a:br>
            <a:r>
              <a:rPr lang="en-US" sz="2400" dirty="0"/>
              <a:t>Destination on Remote Network</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79110" y="731837"/>
            <a:ext cx="8448078" cy="1589524"/>
          </a:xfrm>
        </p:spPr>
        <p:txBody>
          <a:bodyPr/>
          <a:lstStyle/>
          <a:p>
            <a:pPr marL="0" indent="0" algn="l"/>
            <a:r>
              <a:rPr lang="en-US" sz="1600" dirty="0">
                <a:solidFill>
                  <a:srgbClr val="000000"/>
                </a:solidFill>
              </a:rPr>
              <a:t>When the destination IP address is on a remote network, the destination MAC address is that of the default gateway.</a:t>
            </a:r>
          </a:p>
          <a:p>
            <a:pPr marL="415985" lvl="1" indent="-342900">
              <a:buFont typeface="Arial" panose="020B0604020202020204" pitchFamily="34" charset="0"/>
              <a:buChar char="•"/>
            </a:pPr>
            <a:r>
              <a:rPr lang="en-US" sz="1600" dirty="0">
                <a:solidFill>
                  <a:srgbClr val="000000"/>
                </a:solidFill>
              </a:rPr>
              <a:t>ARP is used by IPv4 to associate the IPv4 address of a device with the MAC address of the device NIC.</a:t>
            </a:r>
          </a:p>
          <a:p>
            <a:pPr marL="415985" lvl="1" indent="-342900">
              <a:buFont typeface="Arial" panose="020B0604020202020204" pitchFamily="34" charset="0"/>
              <a:buChar char="•"/>
            </a:pPr>
            <a:r>
              <a:rPr lang="en-US" sz="1600" dirty="0">
                <a:solidFill>
                  <a:srgbClr val="000000"/>
                </a:solidFill>
              </a:rPr>
              <a:t>ICMPv6 is used by IPv6 to associate the IPv6 address of a device with the MAC address of the device NIC.</a:t>
            </a:r>
          </a:p>
        </p:txBody>
      </p:sp>
      <p:pic>
        <p:nvPicPr>
          <p:cNvPr id="5" name="Picture 4">
            <a:extLst>
              <a:ext uri="{FF2B5EF4-FFF2-40B4-BE49-F238E27FC236}">
                <a16:creationId xmlns:a16="http://schemas.microsoft.com/office/drawing/2014/main" id="{650449E9-3366-4B53-A2F7-3D40251C3E6B}"/>
              </a:ext>
            </a:extLst>
          </p:cNvPr>
          <p:cNvPicPr>
            <a:picLocks noChangeAspect="1"/>
          </p:cNvPicPr>
          <p:nvPr/>
        </p:nvPicPr>
        <p:blipFill>
          <a:blip r:embed="rId3"/>
          <a:stretch>
            <a:fillRect/>
          </a:stretch>
        </p:blipFill>
        <p:spPr>
          <a:xfrm>
            <a:off x="1100548" y="2321361"/>
            <a:ext cx="6481000" cy="2471230"/>
          </a:xfrm>
          <a:prstGeom prst="rect">
            <a:avLst/>
          </a:prstGeom>
        </p:spPr>
      </p:pic>
    </p:spTree>
    <p:extLst>
      <p:ext uri="{BB962C8B-B14F-4D97-AF65-F5344CB8AC3E}">
        <p14:creationId xmlns:p14="http://schemas.microsoft.com/office/powerpoint/2010/main" val="803000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364511" y="575535"/>
            <a:ext cx="8012573"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Ethernet and ARP</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chemeClr val="tx1"/>
                </a:solidFill>
                <a:ea typeface="Calibri" panose="020F0502020204030204" pitchFamily="34" charset="0"/>
                <a:cs typeface="Calibri" panose="020F0502020204030204" pitchFamily="34" charset="0"/>
              </a:rPr>
              <a:t>Explain how Ethernet works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Explain how ARP and ND enable communication on a network</a:t>
            </a: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2804445233"/>
              </p:ext>
            </p:extLst>
          </p:nvPr>
        </p:nvGraphicFramePr>
        <p:xfrm>
          <a:off x="337351" y="1952562"/>
          <a:ext cx="8456945" cy="1525487"/>
        </p:xfrm>
        <a:graphic>
          <a:graphicData uri="http://schemas.openxmlformats.org/drawingml/2006/table">
            <a:tbl>
              <a:tblPr firstRow="1" firstCol="1" bandRow="1">
                <a:tableStyleId>{5C22544A-7EE6-4342-B048-85BDC9FD1C3A}</a:tableStyleId>
              </a:tblPr>
              <a:tblGrid>
                <a:gridCol w="2876277">
                  <a:extLst>
                    <a:ext uri="{9D8B030D-6E8A-4147-A177-3AD203B41FA5}">
                      <a16:colId xmlns:a16="http://schemas.microsoft.com/office/drawing/2014/main" val="1523797708"/>
                    </a:ext>
                  </a:extLst>
                </a:gridCol>
                <a:gridCol w="5580668">
                  <a:extLst>
                    <a:ext uri="{9D8B030D-6E8A-4147-A177-3AD203B41FA5}">
                      <a16:colId xmlns:a16="http://schemas.microsoft.com/office/drawing/2014/main" val="2750207184"/>
                    </a:ext>
                  </a:extLst>
                </a:gridCol>
              </a:tblGrid>
              <a:tr h="232324">
                <a:tc>
                  <a:txBody>
                    <a:bodyPr/>
                    <a:lstStyle/>
                    <a:p>
                      <a:pPr marL="0" marR="0">
                        <a:lnSpc>
                          <a:spcPct val="107000"/>
                        </a:lnSpc>
                        <a:spcBef>
                          <a:spcPts val="0"/>
                        </a:spcBef>
                        <a:spcAft>
                          <a:spcPts val="0"/>
                        </a:spcAft>
                      </a:pPr>
                      <a:r>
                        <a:rPr lang="en-US" sz="1200" dirty="0">
                          <a:effectLst/>
                        </a:rPr>
                        <a:t>Topic Title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rPr>
                        <a:t>Topic Objective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476951">
                <a:tc>
                  <a:txBody>
                    <a:bodyPr/>
                    <a:lstStyle/>
                    <a:p>
                      <a:pPr fontAlgn="ctr"/>
                      <a:r>
                        <a:rPr lang="en-US" b="1" dirty="0">
                          <a:solidFill>
                            <a:schemeClr val="bg1"/>
                          </a:solidFill>
                          <a:effectLst/>
                        </a:rPr>
                        <a:t>Ethernet Frame</a:t>
                      </a:r>
                      <a:endParaRPr lang="en-US" b="0" dirty="0">
                        <a:solidFill>
                          <a:schemeClr val="bg1"/>
                        </a:solidFill>
                        <a:effectLst/>
                      </a:endParaRPr>
                    </a:p>
                  </a:txBody>
                  <a:tcPr marL="47625" marR="47625" marT="47625" marB="47625" anchor="ctr"/>
                </a:tc>
                <a:tc>
                  <a:txBody>
                    <a:bodyPr/>
                    <a:lstStyle/>
                    <a:p>
                      <a:pPr fontAlgn="ctr"/>
                      <a:r>
                        <a:rPr lang="en-US" b="0" dirty="0">
                          <a:effectLst/>
                        </a:rPr>
                        <a:t>Explain how the Ethernet sublayers are related to the frame fields.</a:t>
                      </a:r>
                    </a:p>
                  </a:txBody>
                  <a:tcPr marL="47625" marR="47625" marT="47625" marB="47625" anchor="ctr"/>
                </a:tc>
                <a:extLst>
                  <a:ext uri="{0D108BD9-81ED-4DB2-BD59-A6C34878D82A}">
                    <a16:rowId xmlns:a16="http://schemas.microsoft.com/office/drawing/2014/main" val="1646858405"/>
                  </a:ext>
                </a:extLst>
              </a:tr>
              <a:tr h="339261">
                <a:tc>
                  <a:txBody>
                    <a:bodyPr/>
                    <a:lstStyle/>
                    <a:p>
                      <a:pPr marL="0" marR="0">
                        <a:lnSpc>
                          <a:spcPct val="107000"/>
                        </a:lnSpc>
                        <a:spcBef>
                          <a:spcPts val="0"/>
                        </a:spcBef>
                        <a:spcAft>
                          <a:spcPts val="0"/>
                        </a:spcAft>
                      </a:pPr>
                      <a:r>
                        <a:rPr lang="en-US" sz="1400" dirty="0">
                          <a:effectLst/>
                        </a:rPr>
                        <a:t>ARP</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solidFill>
                            <a:srgbClr val="000000"/>
                          </a:solidFill>
                          <a:effectLst/>
                        </a:rPr>
                        <a:t>Describe the purpose of ARP.</a:t>
                      </a:r>
                      <a:endParaRPr lang="en-U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5904258"/>
                  </a:ext>
                </a:extLst>
              </a:tr>
              <a:tr h="476951">
                <a:tc>
                  <a:txBody>
                    <a:bodyPr/>
                    <a:lstStyle/>
                    <a:p>
                      <a:pPr marL="0" marR="0">
                        <a:lnSpc>
                          <a:spcPct val="107000"/>
                        </a:lnSpc>
                        <a:spcBef>
                          <a:spcPts val="0"/>
                        </a:spcBef>
                        <a:spcAft>
                          <a:spcPts val="0"/>
                        </a:spcAft>
                      </a:pPr>
                      <a:r>
                        <a:rPr lang="en-US" sz="1400" dirty="0">
                          <a:effectLst/>
                        </a:rPr>
                        <a:t>Neighbor Discovery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solidFill>
                            <a:srgbClr val="000000"/>
                          </a:solidFill>
                          <a:effectLst/>
                        </a:rPr>
                        <a:t>Describe the operation of IPv6 neighbor discovery.</a:t>
                      </a:r>
                      <a:endParaRPr lang="en-U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737215"/>
                  </a:ext>
                </a:extLst>
              </a:tr>
            </a:tbl>
          </a:graphicData>
        </a:graphic>
      </p:graphicFrame>
      <p:sp>
        <p:nvSpPr>
          <p:cNvPr id="4" name="Slide Number Placeholder 3">
            <a:extLst>
              <a:ext uri="{FF2B5EF4-FFF2-40B4-BE49-F238E27FC236}">
                <a16:creationId xmlns:a16="http://schemas.microsoft.com/office/drawing/2014/main" id="{B898041A-F45A-AA6E-9757-F64905902DC2}"/>
              </a:ext>
            </a:extLst>
          </p:cNvPr>
          <p:cNvSpPr>
            <a:spLocks noGrp="1"/>
          </p:cNvSpPr>
          <p:nvPr>
            <p:ph type="sldNum" sz="quarter" idx="4"/>
          </p:nvPr>
        </p:nvSpPr>
        <p:spPr/>
        <p:txBody>
          <a:bodyPr/>
          <a:lstStyle/>
          <a:p>
            <a:pPr defTabSz="385763">
              <a:defRPr/>
            </a:pPr>
            <a:fld id="{2F5CCB13-0A32-4557-88E9-079F0C330695}" type="slidenum">
              <a:rPr lang="en-US" kern="0" smtClean="0">
                <a:solidFill>
                  <a:srgbClr val="595959"/>
                </a:solidFill>
              </a:rPr>
              <a:pPr defTabSz="385763">
                <a:defRPr/>
              </a:pPr>
              <a:t>6</a:t>
            </a:fld>
            <a:endParaRPr lang="en-US" kern="0" dirty="0">
              <a:solidFill>
                <a:srgbClr val="595959"/>
              </a:solidFill>
            </a:endParaRPr>
          </a:p>
        </p:txBody>
      </p:sp>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Ethernet and ARP</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a:t>
            </a:r>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br>
              <a:rPr lang="en-US" dirty="0"/>
            </a:br>
            <a:r>
              <a:rPr lang="en-US" sz="2400" dirty="0"/>
              <a:t>Ethernet Encapsulation</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474662" y="731837"/>
            <a:ext cx="3364449" cy="3689897"/>
          </a:xfrm>
        </p:spPr>
        <p:txBody>
          <a:bodyPr/>
          <a:lstStyle/>
          <a:p>
            <a:pPr marL="342900" indent="-342900" algn="l">
              <a:buFont typeface="Arial" panose="020B0604020202020204" pitchFamily="34" charset="0"/>
              <a:buChar char="•"/>
            </a:pPr>
            <a:r>
              <a:rPr lang="en-US" dirty="0">
                <a:solidFill>
                  <a:srgbClr val="000000"/>
                </a:solidFill>
              </a:rPr>
              <a:t>Ethernet operates in the data link layer and the physical layer.</a:t>
            </a:r>
          </a:p>
          <a:p>
            <a:pPr marL="342900" indent="-342900" algn="l">
              <a:buFont typeface="Arial" panose="020B0604020202020204" pitchFamily="34" charset="0"/>
              <a:buChar char="•"/>
            </a:pPr>
            <a:r>
              <a:rPr lang="en-US" dirty="0">
                <a:solidFill>
                  <a:srgbClr val="000000"/>
                </a:solidFill>
              </a:rPr>
              <a:t>It is a family of networking technologies defined in the IEEE 802.2 and 802.3 standards.</a:t>
            </a:r>
          </a:p>
        </p:txBody>
      </p:sp>
      <p:pic>
        <p:nvPicPr>
          <p:cNvPr id="4" name="Picture 3">
            <a:extLst>
              <a:ext uri="{FF2B5EF4-FFF2-40B4-BE49-F238E27FC236}">
                <a16:creationId xmlns:a16="http://schemas.microsoft.com/office/drawing/2014/main" id="{0D9ED349-78FE-6946-8E1B-0C6059771B2C}"/>
              </a:ext>
            </a:extLst>
          </p:cNvPr>
          <p:cNvPicPr>
            <a:picLocks noChangeAspect="1"/>
          </p:cNvPicPr>
          <p:nvPr/>
        </p:nvPicPr>
        <p:blipFill>
          <a:blip r:embed="rId3"/>
          <a:stretch>
            <a:fillRect/>
          </a:stretch>
        </p:blipFill>
        <p:spPr>
          <a:xfrm>
            <a:off x="3944473" y="731837"/>
            <a:ext cx="4734478" cy="3463645"/>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br>
              <a:rPr lang="en-US" dirty="0"/>
            </a:br>
            <a:r>
              <a:rPr lang="en-US" sz="2400" dirty="0"/>
              <a:t>Data Link Sublayers</a:t>
            </a:r>
          </a:p>
        </p:txBody>
      </p:sp>
      <p:sp>
        <p:nvSpPr>
          <p:cNvPr id="5" name="TextBox 4">
            <a:extLst>
              <a:ext uri="{FF2B5EF4-FFF2-40B4-BE49-F238E27FC236}">
                <a16:creationId xmlns:a16="http://schemas.microsoft.com/office/drawing/2014/main" id="{7D6FED96-F5B8-9740-B01D-C6CD3F14A641}"/>
              </a:ext>
            </a:extLst>
          </p:cNvPr>
          <p:cNvSpPr txBox="1"/>
          <p:nvPr/>
        </p:nvSpPr>
        <p:spPr>
          <a:xfrm>
            <a:off x="340658" y="770964"/>
            <a:ext cx="4973079" cy="2646878"/>
          </a:xfrm>
          <a:prstGeom prst="rect">
            <a:avLst/>
          </a:prstGeom>
          <a:noFill/>
        </p:spPr>
        <p:txBody>
          <a:bodyPr wrap="square" rtlCol="0">
            <a:spAutoFit/>
          </a:bodyPr>
          <a:lstStyle/>
          <a:p>
            <a:r>
              <a:rPr lang="en-US" dirty="0">
                <a:solidFill>
                  <a:srgbClr val="000000"/>
                </a:solidFill>
              </a:rPr>
              <a:t>The 802 LAN/MAN standards, including Ethernet, use two separate sublayers of the data link layer to operate:</a:t>
            </a:r>
          </a:p>
          <a:p>
            <a:pPr marL="285750" indent="-285750">
              <a:buFont typeface="Arial" panose="020B0604020202020204" pitchFamily="34" charset="0"/>
              <a:buChar char="•"/>
            </a:pPr>
            <a:r>
              <a:rPr lang="en-US" sz="1600" b="1" dirty="0">
                <a:solidFill>
                  <a:srgbClr val="000000"/>
                </a:solidFill>
              </a:rPr>
              <a:t>LLC Sublayer</a:t>
            </a:r>
            <a:r>
              <a:rPr lang="en-US" sz="1600" dirty="0">
                <a:solidFill>
                  <a:srgbClr val="000000"/>
                </a:solidFill>
              </a:rPr>
              <a:t>: (IEEE 802.2) Places information in the frame to identify which network layer protocol is used for the frame.</a:t>
            </a:r>
          </a:p>
          <a:p>
            <a:pPr marL="285750" indent="-285750">
              <a:buFont typeface="Arial" panose="020B0604020202020204" pitchFamily="34" charset="0"/>
              <a:buChar char="•"/>
            </a:pPr>
            <a:r>
              <a:rPr lang="en-US" sz="1600" b="1" dirty="0">
                <a:solidFill>
                  <a:srgbClr val="000000"/>
                </a:solidFill>
              </a:rPr>
              <a:t>MAC Sublayer</a:t>
            </a:r>
            <a:r>
              <a:rPr lang="en-US" sz="1600" dirty="0">
                <a:solidFill>
                  <a:srgbClr val="000000"/>
                </a:solidFill>
              </a:rPr>
              <a:t>: (IEEE 802.3, 802.11, or 802.15) Responsible for data encapsulation and media access control, and provides data link layer addressing.</a:t>
            </a:r>
          </a:p>
        </p:txBody>
      </p:sp>
      <p:pic>
        <p:nvPicPr>
          <p:cNvPr id="4" name="Content Placeholder 3">
            <a:extLst>
              <a:ext uri="{FF2B5EF4-FFF2-40B4-BE49-F238E27FC236}">
                <a16:creationId xmlns:a16="http://schemas.microsoft.com/office/drawing/2014/main" id="{6676CA92-276E-A349-B5F5-87C0459C4C86}"/>
              </a:ext>
            </a:extLst>
          </p:cNvPr>
          <p:cNvPicPr>
            <a:picLocks noGrp="1" noChangeAspect="1"/>
          </p:cNvPicPr>
          <p:nvPr>
            <p:ph idx="1"/>
          </p:nvPr>
        </p:nvPicPr>
        <p:blipFill>
          <a:blip r:embed="rId3"/>
          <a:stretch>
            <a:fillRect/>
          </a:stretch>
        </p:blipFill>
        <p:spPr>
          <a:xfrm>
            <a:off x="5313737" y="1061103"/>
            <a:ext cx="3248735" cy="2628247"/>
          </a:xfrm>
        </p:spPr>
      </p:pic>
    </p:spTree>
    <p:extLst>
      <p:ext uri="{BB962C8B-B14F-4D97-AF65-F5344CB8AC3E}">
        <p14:creationId xmlns:p14="http://schemas.microsoft.com/office/powerpoint/2010/main" val="1493660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br>
              <a:rPr lang="en-US" dirty="0"/>
            </a:br>
            <a:r>
              <a:rPr lang="en-US" sz="2400" dirty="0"/>
              <a:t>MAC Sublayer</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224405" y="731837"/>
            <a:ext cx="8280057" cy="3689897"/>
          </a:xfrm>
        </p:spPr>
        <p:txBody>
          <a:bodyPr/>
          <a:lstStyle/>
          <a:p>
            <a:pPr algn="l"/>
            <a:r>
              <a:rPr lang="en-US" sz="1600" dirty="0">
                <a:solidFill>
                  <a:srgbClr val="000000"/>
                </a:solidFill>
              </a:rPr>
              <a:t>The MAC sublayer is responsible for data encapsulation and accessing the media.</a:t>
            </a:r>
          </a:p>
          <a:p>
            <a:pPr algn="l"/>
            <a:endParaRPr lang="en-US" sz="1600" b="1" dirty="0">
              <a:solidFill>
                <a:srgbClr val="000000"/>
              </a:solidFill>
            </a:endParaRPr>
          </a:p>
          <a:p>
            <a:pPr algn="l"/>
            <a:r>
              <a:rPr lang="en-US" sz="1600" b="1" dirty="0">
                <a:solidFill>
                  <a:srgbClr val="000000"/>
                </a:solidFill>
              </a:rPr>
              <a:t>Data Encapsulation</a:t>
            </a:r>
          </a:p>
          <a:p>
            <a:pPr algn="l"/>
            <a:r>
              <a:rPr lang="en-US" sz="1600" dirty="0">
                <a:solidFill>
                  <a:srgbClr val="000000"/>
                </a:solidFill>
              </a:rPr>
              <a:t>IEEE 802.3 data encapsulation includes the following:</a:t>
            </a:r>
          </a:p>
          <a:p>
            <a:pPr marL="457200" indent="-457200" algn="l">
              <a:buFont typeface="+mj-lt"/>
              <a:buAutoNum type="arabicPeriod"/>
            </a:pPr>
            <a:r>
              <a:rPr lang="en-US" sz="1400" b="1" dirty="0">
                <a:solidFill>
                  <a:srgbClr val="000000"/>
                </a:solidFill>
              </a:rPr>
              <a:t>Ethernet frame</a:t>
            </a:r>
            <a:r>
              <a:rPr lang="en-US" sz="1400" dirty="0">
                <a:solidFill>
                  <a:srgbClr val="000000"/>
                </a:solidFill>
              </a:rPr>
              <a:t> - This is the internal structure of the Ethernet frame.</a:t>
            </a:r>
          </a:p>
          <a:p>
            <a:pPr marL="457200" indent="-457200" algn="l">
              <a:buFont typeface="+mj-lt"/>
              <a:buAutoNum type="arabicPeriod"/>
            </a:pPr>
            <a:r>
              <a:rPr lang="en-US" sz="1400" b="1" dirty="0">
                <a:solidFill>
                  <a:srgbClr val="000000"/>
                </a:solidFill>
              </a:rPr>
              <a:t>Ethernet Addressing</a:t>
            </a:r>
            <a:r>
              <a:rPr lang="en-US" sz="1400" dirty="0">
                <a:solidFill>
                  <a:srgbClr val="000000"/>
                </a:solidFill>
              </a:rPr>
              <a:t> - The Ethernet frame includes both a source and destination MAC address to deliver the Ethernet frame from Ethernet NIC to Ethernet NIC on the same LAN.</a:t>
            </a:r>
          </a:p>
          <a:p>
            <a:pPr marL="457200" indent="-457200" algn="l">
              <a:buFont typeface="+mj-lt"/>
              <a:buAutoNum type="arabicPeriod"/>
            </a:pPr>
            <a:r>
              <a:rPr lang="en-US" sz="1400" b="1" dirty="0">
                <a:solidFill>
                  <a:srgbClr val="000000"/>
                </a:solidFill>
              </a:rPr>
              <a:t>Ethernet Error detection</a:t>
            </a:r>
            <a:r>
              <a:rPr lang="en-US" sz="1400" dirty="0">
                <a:solidFill>
                  <a:srgbClr val="000000"/>
                </a:solidFill>
              </a:rPr>
              <a:t> - The Ethernet frame includes a frame check sequence (FCS) trailer used for error detection.</a:t>
            </a:r>
          </a:p>
          <a:p>
            <a:pPr algn="l"/>
            <a:endParaRPr lang="en-US"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br>
              <a:rPr lang="en-US" dirty="0"/>
            </a:br>
            <a:r>
              <a:rPr lang="en-US" sz="2400" dirty="0"/>
              <a:t>MAC Sublayer</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219076" y="731837"/>
            <a:ext cx="4620554" cy="3689897"/>
          </a:xfrm>
        </p:spPr>
        <p:txBody>
          <a:bodyPr/>
          <a:lstStyle/>
          <a:p>
            <a:pPr marL="0" indent="0" algn="l"/>
            <a:r>
              <a:rPr lang="en-US" sz="1400" b="1" dirty="0">
                <a:solidFill>
                  <a:srgbClr val="000000"/>
                </a:solidFill>
              </a:rPr>
              <a:t>Media Access</a:t>
            </a:r>
          </a:p>
          <a:p>
            <a:pPr marL="285750" indent="-285750" algn="l">
              <a:buFont typeface="Arial" panose="020B0604020202020204" pitchFamily="34" charset="0"/>
              <a:buChar char="•"/>
            </a:pPr>
            <a:r>
              <a:rPr lang="en-US" sz="1600" dirty="0">
                <a:solidFill>
                  <a:srgbClr val="000000"/>
                </a:solidFill>
              </a:rPr>
              <a:t>The IEEE 802.3 MAC sublayer includes the specifications for different Ethernet communications standards over various types of media including copper and fiber.</a:t>
            </a:r>
          </a:p>
          <a:p>
            <a:pPr marL="285750" indent="-285750" algn="l">
              <a:buFont typeface="Arial" panose="020B0604020202020204" pitchFamily="34" charset="0"/>
              <a:buChar char="•"/>
            </a:pPr>
            <a:r>
              <a:rPr lang="en-US" sz="1600" dirty="0">
                <a:solidFill>
                  <a:srgbClr val="000000"/>
                </a:solidFill>
              </a:rPr>
              <a:t>Legacy Ethernet using a bus topology or hubs, is a shared, half-duplex medium. Ethernet over a half-duplex medium uses a contention-based access method, carrier sense multiple access/collision detection (CSMA/CD). </a:t>
            </a:r>
          </a:p>
          <a:p>
            <a:pPr marL="285750" indent="-285750" algn="l">
              <a:buFont typeface="Arial" panose="020B0604020202020204" pitchFamily="34" charset="0"/>
              <a:buChar char="•"/>
            </a:pPr>
            <a:r>
              <a:rPr lang="en-US" sz="1600" dirty="0">
                <a:solidFill>
                  <a:srgbClr val="000000"/>
                </a:solidFill>
              </a:rPr>
              <a:t>Ethernet LANs of today use switches that operate in full-duplex. Full-duplex communications with Ethernet switches do not require access control through CSMA/CD.</a:t>
            </a:r>
          </a:p>
        </p:txBody>
      </p:sp>
      <p:pic>
        <p:nvPicPr>
          <p:cNvPr id="4" name="Picture 3">
            <a:extLst>
              <a:ext uri="{FF2B5EF4-FFF2-40B4-BE49-F238E27FC236}">
                <a16:creationId xmlns:a16="http://schemas.microsoft.com/office/drawing/2014/main" id="{6A9979E0-78FF-C747-A412-797510E5D7C2}"/>
              </a:ext>
            </a:extLst>
          </p:cNvPr>
          <p:cNvPicPr>
            <a:picLocks noChangeAspect="1"/>
          </p:cNvPicPr>
          <p:nvPr/>
        </p:nvPicPr>
        <p:blipFill>
          <a:blip r:embed="rId3"/>
          <a:stretch>
            <a:fillRect/>
          </a:stretch>
        </p:blipFill>
        <p:spPr>
          <a:xfrm>
            <a:off x="5034187" y="1354757"/>
            <a:ext cx="3635151" cy="2209490"/>
          </a:xfrm>
          <a:prstGeom prst="rect">
            <a:avLst/>
          </a:prstGeom>
        </p:spPr>
      </p:pic>
    </p:spTree>
    <p:extLst>
      <p:ext uri="{BB962C8B-B14F-4D97-AF65-F5344CB8AC3E}">
        <p14:creationId xmlns:p14="http://schemas.microsoft.com/office/powerpoint/2010/main" val="2453487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br>
              <a:rPr lang="en-US" dirty="0"/>
            </a:br>
            <a:r>
              <a:rPr lang="en-US" sz="2400" dirty="0"/>
              <a:t>Ethernet Frame Fields</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123826" y="731837"/>
            <a:ext cx="8630894" cy="2411413"/>
          </a:xfrm>
        </p:spPr>
        <p:txBody>
          <a:bodyPr/>
          <a:lstStyle/>
          <a:p>
            <a:pPr marL="342900" indent="-342900" algn="l">
              <a:buFont typeface="Arial" panose="020B0604020202020204" pitchFamily="34" charset="0"/>
              <a:buChar char="•"/>
            </a:pPr>
            <a:r>
              <a:rPr lang="en-US" sz="1600" dirty="0">
                <a:solidFill>
                  <a:srgbClr val="000000"/>
                </a:solidFill>
              </a:rPr>
              <a:t>The minimum Ethernet frame size is 64 bytes and the maximum is 1518 bytes. The preamble field is not included when describing the size of the frame.</a:t>
            </a:r>
          </a:p>
          <a:p>
            <a:pPr marL="342900" indent="-342900" algn="l">
              <a:buFont typeface="Arial" panose="020B0604020202020204" pitchFamily="34" charset="0"/>
              <a:buChar char="•"/>
            </a:pPr>
            <a:r>
              <a:rPr lang="en-US" sz="1600" dirty="0">
                <a:solidFill>
                  <a:srgbClr val="000000"/>
                </a:solidFill>
              </a:rPr>
              <a:t>Any frame less than 64 bytes in length is considered a “collision fragment” or “runt frame” and is automatically discarded. Frames with more than 1500 bytes of data are considered “jumbo” or “baby giant frames”.</a:t>
            </a:r>
          </a:p>
          <a:p>
            <a:pPr marL="342900" indent="-342900" algn="l">
              <a:buFont typeface="Arial" panose="020B0604020202020204" pitchFamily="34" charset="0"/>
              <a:buChar char="•"/>
            </a:pPr>
            <a:r>
              <a:rPr lang="en-US" sz="1600" dirty="0">
                <a:solidFill>
                  <a:srgbClr val="000000"/>
                </a:solidFill>
              </a:rPr>
              <a:t>If the size of a transmitted frame is less than the minimum, or greater than the maximum, the receiving device drops the frame. Dropped frames are likely to be the result of collisions or other unwanted signals. They are considered invalid. Jumbo frames are usually supported by most Fast Ethernet and Gigabit Ethernet switches and NICs.</a:t>
            </a:r>
          </a:p>
          <a:p>
            <a:pPr marL="342900" indent="-342900" algn="l">
              <a:buFont typeface="Arial" panose="020B0604020202020204" pitchFamily="34" charset="0"/>
              <a:buChar char="•"/>
            </a:pPr>
            <a:endParaRPr lang="en-US" sz="1400" dirty="0">
              <a:solidFill>
                <a:srgbClr val="000000"/>
              </a:solidFill>
            </a:endParaRPr>
          </a:p>
        </p:txBody>
      </p:sp>
      <p:pic>
        <p:nvPicPr>
          <p:cNvPr id="4" name="Picture 3">
            <a:extLst>
              <a:ext uri="{FF2B5EF4-FFF2-40B4-BE49-F238E27FC236}">
                <a16:creationId xmlns:a16="http://schemas.microsoft.com/office/drawing/2014/main" id="{48E17D93-6D91-9A41-B7B0-366DE18C84BA}"/>
              </a:ext>
            </a:extLst>
          </p:cNvPr>
          <p:cNvPicPr>
            <a:picLocks noChangeAspect="1"/>
          </p:cNvPicPr>
          <p:nvPr/>
        </p:nvPicPr>
        <p:blipFill>
          <a:blip r:embed="rId3"/>
          <a:stretch>
            <a:fillRect/>
          </a:stretch>
        </p:blipFill>
        <p:spPr>
          <a:xfrm>
            <a:off x="1711635" y="3162300"/>
            <a:ext cx="5720730" cy="1713542"/>
          </a:xfrm>
          <a:prstGeom prst="rect">
            <a:avLst/>
          </a:prstGeom>
        </p:spPr>
      </p:pic>
    </p:spTree>
    <p:extLst>
      <p:ext uri="{BB962C8B-B14F-4D97-AF65-F5344CB8AC3E}">
        <p14:creationId xmlns:p14="http://schemas.microsoft.com/office/powerpoint/2010/main" val="3113925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3.13 ARP</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ARP</a:t>
            </a:r>
            <a:br>
              <a:rPr lang="en-US" dirty="0"/>
            </a:br>
            <a:r>
              <a:rPr lang="en-US" sz="2400" dirty="0"/>
              <a:t>ARP Overview</a:t>
            </a:r>
          </a:p>
        </p:txBody>
      </p:sp>
      <p:sp>
        <p:nvSpPr>
          <p:cNvPr id="7" name="Content Placeholder 3">
            <a:extLst>
              <a:ext uri="{FF2B5EF4-FFF2-40B4-BE49-F238E27FC236}">
                <a16:creationId xmlns:a16="http://schemas.microsoft.com/office/drawing/2014/main" id="{828B5E9F-9DE2-44EC-A706-1764B8070531}"/>
              </a:ext>
            </a:extLst>
          </p:cNvPr>
          <p:cNvSpPr>
            <a:spLocks noGrp="1"/>
          </p:cNvSpPr>
          <p:nvPr>
            <p:ph idx="1"/>
          </p:nvPr>
        </p:nvSpPr>
        <p:spPr>
          <a:xfrm>
            <a:off x="474662" y="844061"/>
            <a:ext cx="4187253" cy="3039781"/>
          </a:xfrm>
        </p:spPr>
        <p:txBody>
          <a:bodyPr/>
          <a:lstStyle/>
          <a:p>
            <a:pPr marL="0" indent="0" algn="l"/>
            <a:r>
              <a:rPr lang="en-US" sz="1800" dirty="0">
                <a:solidFill>
                  <a:srgbClr val="000000"/>
                </a:solidFill>
              </a:rPr>
              <a:t>A device uses ARP to determine the destination MAC address of a local device when it knows its IPv4 address.</a:t>
            </a:r>
          </a:p>
          <a:p>
            <a:pPr marL="0" indent="0" algn="l"/>
            <a:endParaRPr lang="en-US" sz="1800" dirty="0">
              <a:solidFill>
                <a:srgbClr val="000000"/>
              </a:solidFill>
            </a:endParaRPr>
          </a:p>
          <a:p>
            <a:pPr marL="0" indent="0" algn="l"/>
            <a:r>
              <a:rPr lang="en-US" sz="1800" dirty="0">
                <a:solidFill>
                  <a:srgbClr val="000000"/>
                </a:solidFill>
              </a:rPr>
              <a:t>ARP provides two basic functions:</a:t>
            </a:r>
          </a:p>
          <a:p>
            <a:pPr marL="415985" lvl="1" indent="-342900">
              <a:buFont typeface="Arial" panose="020B0604020202020204" pitchFamily="34" charset="0"/>
              <a:buChar char="•"/>
            </a:pPr>
            <a:r>
              <a:rPr lang="en-US" sz="1800" dirty="0">
                <a:solidFill>
                  <a:srgbClr val="000000"/>
                </a:solidFill>
              </a:rPr>
              <a:t>Resolving IPv4 addresses to MAC addresses</a:t>
            </a:r>
          </a:p>
          <a:p>
            <a:pPr marL="415985" lvl="1" indent="-342900">
              <a:buFont typeface="Arial" panose="020B0604020202020204" pitchFamily="34" charset="0"/>
              <a:buChar char="•"/>
            </a:pPr>
            <a:r>
              <a:rPr lang="en-US" sz="1800" dirty="0">
                <a:solidFill>
                  <a:srgbClr val="000000"/>
                </a:solidFill>
              </a:rPr>
              <a:t>Maintaining an ARP table of IPv4 to MAC address mappings</a:t>
            </a:r>
          </a:p>
        </p:txBody>
      </p:sp>
      <p:pic>
        <p:nvPicPr>
          <p:cNvPr id="6" name="Picture 5">
            <a:extLst>
              <a:ext uri="{FF2B5EF4-FFF2-40B4-BE49-F238E27FC236}">
                <a16:creationId xmlns:a16="http://schemas.microsoft.com/office/drawing/2014/main" id="{5741986A-C605-432D-B527-C5259DB44374}"/>
              </a:ext>
            </a:extLst>
          </p:cNvPr>
          <p:cNvPicPr>
            <a:picLocks noChangeAspect="1"/>
          </p:cNvPicPr>
          <p:nvPr/>
        </p:nvPicPr>
        <p:blipFill>
          <a:blip r:embed="rId3"/>
          <a:stretch>
            <a:fillRect/>
          </a:stretch>
        </p:blipFill>
        <p:spPr>
          <a:xfrm>
            <a:off x="4661915" y="844061"/>
            <a:ext cx="4079662" cy="2794684"/>
          </a:xfrm>
          <a:prstGeom prst="rect">
            <a:avLst/>
          </a:prstGeom>
        </p:spPr>
      </p:pic>
    </p:spTree>
    <p:extLst>
      <p:ext uri="{BB962C8B-B14F-4D97-AF65-F5344CB8AC3E}">
        <p14:creationId xmlns:p14="http://schemas.microsoft.com/office/powerpoint/2010/main" val="2569503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ARP</a:t>
            </a:r>
            <a:br>
              <a:rPr lang="en-US" dirty="0"/>
            </a:br>
            <a:r>
              <a:rPr lang="en-US" sz="2400" dirty="0"/>
              <a:t>ARP Functions</a:t>
            </a:r>
          </a:p>
        </p:txBody>
      </p:sp>
      <p:sp>
        <p:nvSpPr>
          <p:cNvPr id="7" name="Content Placeholder 3">
            <a:extLst>
              <a:ext uri="{FF2B5EF4-FFF2-40B4-BE49-F238E27FC236}">
                <a16:creationId xmlns:a16="http://schemas.microsoft.com/office/drawing/2014/main" id="{828B5E9F-9DE2-44EC-A706-1764B8070531}"/>
              </a:ext>
            </a:extLst>
          </p:cNvPr>
          <p:cNvSpPr>
            <a:spLocks noGrp="1"/>
          </p:cNvSpPr>
          <p:nvPr>
            <p:ph idx="1"/>
          </p:nvPr>
        </p:nvSpPr>
        <p:spPr>
          <a:xfrm>
            <a:off x="474662" y="844062"/>
            <a:ext cx="8280057" cy="3577672"/>
          </a:xfrm>
        </p:spPr>
        <p:txBody>
          <a:bodyPr/>
          <a:lstStyle/>
          <a:p>
            <a:pPr marL="0" indent="0" algn="l"/>
            <a:r>
              <a:rPr lang="en-US" sz="1600" dirty="0">
                <a:solidFill>
                  <a:srgbClr val="000000"/>
                </a:solidFill>
              </a:rPr>
              <a:t>To send a frame, a device will search its ARP table for a destination IPv4 address and a corresponding MAC address.</a:t>
            </a:r>
          </a:p>
          <a:p>
            <a:pPr marL="415985" lvl="1" indent="-342900">
              <a:buFont typeface="Arial" panose="020B0604020202020204" pitchFamily="34" charset="0"/>
              <a:buChar char="•"/>
            </a:pPr>
            <a:r>
              <a:rPr lang="en-US" sz="1600" dirty="0">
                <a:solidFill>
                  <a:srgbClr val="000000"/>
                </a:solidFill>
              </a:rPr>
              <a:t>If the packet’s destination IPv4 address is on the same network, the device will search the ARP table for the destination IPv4 address.</a:t>
            </a:r>
          </a:p>
          <a:p>
            <a:pPr marL="415985" lvl="1" indent="-342900">
              <a:buFont typeface="Arial" panose="020B0604020202020204" pitchFamily="34" charset="0"/>
              <a:buChar char="•"/>
            </a:pPr>
            <a:r>
              <a:rPr lang="en-US" sz="1600" dirty="0">
                <a:solidFill>
                  <a:srgbClr val="000000"/>
                </a:solidFill>
              </a:rPr>
              <a:t>If the destination IPv4 address is on a different network, the device will search the ARP table for the IPv4 address of the default gateway.</a:t>
            </a:r>
          </a:p>
          <a:p>
            <a:pPr marL="415985" lvl="1" indent="-342900">
              <a:buFont typeface="Arial" panose="020B0604020202020204" pitchFamily="34" charset="0"/>
              <a:buChar char="•"/>
            </a:pPr>
            <a:r>
              <a:rPr lang="en-US" sz="1600" dirty="0">
                <a:solidFill>
                  <a:srgbClr val="000000"/>
                </a:solidFill>
              </a:rPr>
              <a:t>If the device locates the IPv4 address, its corresponding MAC address is used as the destination MAC address in the frame. </a:t>
            </a:r>
          </a:p>
          <a:p>
            <a:pPr marL="415985" lvl="1" indent="-342900">
              <a:buFont typeface="Arial" panose="020B0604020202020204" pitchFamily="34" charset="0"/>
              <a:buChar char="•"/>
            </a:pPr>
            <a:r>
              <a:rPr lang="en-US" sz="1600" dirty="0">
                <a:solidFill>
                  <a:srgbClr val="000000"/>
                </a:solidFill>
              </a:rPr>
              <a:t>If there is no ARP table entry is found, then the device sends an ARP request.</a:t>
            </a:r>
          </a:p>
        </p:txBody>
      </p:sp>
    </p:spTree>
    <p:extLst>
      <p:ext uri="{BB962C8B-B14F-4D97-AF65-F5344CB8AC3E}">
        <p14:creationId xmlns:p14="http://schemas.microsoft.com/office/powerpoint/2010/main" val="740895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ARP</a:t>
            </a:r>
            <a:br>
              <a:rPr lang="en-US" dirty="0"/>
            </a:br>
            <a:r>
              <a:rPr lang="en-US" sz="2400" dirty="0"/>
              <a:t>Video - ARP Request</a:t>
            </a:r>
          </a:p>
        </p:txBody>
      </p:sp>
      <p:sp>
        <p:nvSpPr>
          <p:cNvPr id="7" name="Content Placeholder 3">
            <a:extLst>
              <a:ext uri="{FF2B5EF4-FFF2-40B4-BE49-F238E27FC236}">
                <a16:creationId xmlns:a16="http://schemas.microsoft.com/office/drawing/2014/main" id="{828B5E9F-9DE2-44EC-A706-1764B8070531}"/>
              </a:ext>
            </a:extLst>
          </p:cNvPr>
          <p:cNvSpPr>
            <a:spLocks noGrp="1"/>
          </p:cNvSpPr>
          <p:nvPr>
            <p:ph idx="1"/>
          </p:nvPr>
        </p:nvSpPr>
        <p:spPr>
          <a:xfrm>
            <a:off x="474662" y="844062"/>
            <a:ext cx="8280057" cy="3577672"/>
          </a:xfrm>
        </p:spPr>
        <p:txBody>
          <a:bodyPr/>
          <a:lstStyle/>
          <a:p>
            <a:pPr marL="0" indent="0" algn="l"/>
            <a:r>
              <a:rPr lang="en-US" sz="1800" dirty="0">
                <a:solidFill>
                  <a:srgbClr val="000000"/>
                </a:solidFill>
              </a:rPr>
              <a:t>This video will cover an ARP request for a MAC address.</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buFont typeface="Arial" panose="020B0604020202020204" pitchFamily="34" charset="0"/>
              <a:buChar char="•"/>
            </a:pPr>
            <a:endParaRPr lang="en-US" dirty="0">
              <a:solidFill>
                <a:srgbClr val="000000"/>
              </a:solidFill>
            </a:endParaRPr>
          </a:p>
        </p:txBody>
      </p:sp>
    </p:spTree>
    <p:extLst>
      <p:ext uri="{BB962C8B-B14F-4D97-AF65-F5344CB8AC3E}">
        <p14:creationId xmlns:p14="http://schemas.microsoft.com/office/powerpoint/2010/main" val="3742201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ARP</a:t>
            </a:r>
            <a:br>
              <a:rPr lang="en-US" dirty="0"/>
            </a:br>
            <a:r>
              <a:rPr lang="en-US" sz="2400" dirty="0"/>
              <a:t>Video – ARP Operation - ARP Reply</a:t>
            </a:r>
          </a:p>
        </p:txBody>
      </p:sp>
      <p:sp>
        <p:nvSpPr>
          <p:cNvPr id="7" name="Content Placeholder 3">
            <a:extLst>
              <a:ext uri="{FF2B5EF4-FFF2-40B4-BE49-F238E27FC236}">
                <a16:creationId xmlns:a16="http://schemas.microsoft.com/office/drawing/2014/main" id="{828B5E9F-9DE2-44EC-A706-1764B8070531}"/>
              </a:ext>
            </a:extLst>
          </p:cNvPr>
          <p:cNvSpPr>
            <a:spLocks noGrp="1"/>
          </p:cNvSpPr>
          <p:nvPr>
            <p:ph idx="1"/>
          </p:nvPr>
        </p:nvSpPr>
        <p:spPr>
          <a:xfrm>
            <a:off x="474662" y="844062"/>
            <a:ext cx="8280057" cy="3577672"/>
          </a:xfrm>
        </p:spPr>
        <p:txBody>
          <a:bodyPr/>
          <a:lstStyle/>
          <a:p>
            <a:pPr marL="0" indent="0" algn="l"/>
            <a:r>
              <a:rPr lang="en-US" sz="1800" dirty="0">
                <a:solidFill>
                  <a:srgbClr val="000000"/>
                </a:solidFill>
              </a:rPr>
              <a:t>This video will cover an ARP reply in response to an ARP request.</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buFont typeface="Arial" panose="020B0604020202020204" pitchFamily="34" charset="0"/>
              <a:buChar char="•"/>
            </a:pPr>
            <a:endParaRPr lang="en-US" dirty="0">
              <a:solidFill>
                <a:srgbClr val="000000"/>
              </a:solidFill>
            </a:endParaRPr>
          </a:p>
        </p:txBody>
      </p:sp>
    </p:spTree>
    <p:extLst>
      <p:ext uri="{BB962C8B-B14F-4D97-AF65-F5344CB8AC3E}">
        <p14:creationId xmlns:p14="http://schemas.microsoft.com/office/powerpoint/2010/main" val="3113212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ARP</a:t>
            </a:r>
            <a:br>
              <a:rPr lang="en-US" dirty="0"/>
            </a:br>
            <a:r>
              <a:rPr lang="en-US" sz="2400" dirty="0"/>
              <a:t>Video - ARP Role in Remote Communications</a:t>
            </a:r>
          </a:p>
        </p:txBody>
      </p:sp>
      <p:sp>
        <p:nvSpPr>
          <p:cNvPr id="7" name="Content Placeholder 3">
            <a:extLst>
              <a:ext uri="{FF2B5EF4-FFF2-40B4-BE49-F238E27FC236}">
                <a16:creationId xmlns:a16="http://schemas.microsoft.com/office/drawing/2014/main" id="{828B5E9F-9DE2-44EC-A706-1764B8070531}"/>
              </a:ext>
            </a:extLst>
          </p:cNvPr>
          <p:cNvSpPr>
            <a:spLocks noGrp="1"/>
          </p:cNvSpPr>
          <p:nvPr>
            <p:ph idx="1"/>
          </p:nvPr>
        </p:nvSpPr>
        <p:spPr>
          <a:xfrm>
            <a:off x="474662" y="844062"/>
            <a:ext cx="8280057" cy="3577672"/>
          </a:xfrm>
        </p:spPr>
        <p:txBody>
          <a:bodyPr/>
          <a:lstStyle/>
          <a:p>
            <a:pPr marL="0" indent="0" algn="l"/>
            <a:r>
              <a:rPr lang="en-US" sz="1800" dirty="0">
                <a:solidFill>
                  <a:srgbClr val="000000"/>
                </a:solidFill>
              </a:rPr>
              <a:t>This video will cover how an ARP request will provide a host the MAC address of the default gateway.</a:t>
            </a:r>
          </a:p>
          <a:p>
            <a:pPr marL="0" indent="0" algn="l"/>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buFont typeface="Arial" panose="020B0604020202020204" pitchFamily="34" charset="0"/>
              <a:buChar char="•"/>
            </a:pPr>
            <a:endParaRPr lang="en-US" dirty="0">
              <a:solidFill>
                <a:srgbClr val="000000"/>
              </a:solidFill>
            </a:endParaRPr>
          </a:p>
        </p:txBody>
      </p:sp>
    </p:spTree>
    <p:extLst>
      <p:ext uri="{BB962C8B-B14F-4D97-AF65-F5344CB8AC3E}">
        <p14:creationId xmlns:p14="http://schemas.microsoft.com/office/powerpoint/2010/main" val="3731039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ARP</a:t>
            </a:r>
            <a:br>
              <a:rPr lang="en-US" dirty="0"/>
            </a:br>
            <a:r>
              <a:rPr lang="en-US" sz="2400" dirty="0"/>
              <a:t>Removing Entries from an ARP Table</a:t>
            </a:r>
          </a:p>
        </p:txBody>
      </p:sp>
      <p:sp>
        <p:nvSpPr>
          <p:cNvPr id="7" name="Content Placeholder 3">
            <a:extLst>
              <a:ext uri="{FF2B5EF4-FFF2-40B4-BE49-F238E27FC236}">
                <a16:creationId xmlns:a16="http://schemas.microsoft.com/office/drawing/2014/main" id="{828B5E9F-9DE2-44EC-A706-1764B8070531}"/>
              </a:ext>
            </a:extLst>
          </p:cNvPr>
          <p:cNvSpPr>
            <a:spLocks noGrp="1"/>
          </p:cNvSpPr>
          <p:nvPr>
            <p:ph idx="1"/>
          </p:nvPr>
        </p:nvSpPr>
        <p:spPr>
          <a:xfrm>
            <a:off x="474662" y="844062"/>
            <a:ext cx="8280057" cy="1134506"/>
          </a:xfrm>
        </p:spPr>
        <p:txBody>
          <a:bodyPr/>
          <a:lstStyle/>
          <a:p>
            <a:pPr marL="342900" indent="-342900" algn="l">
              <a:buFont typeface="Arial" panose="020B0604020202020204" pitchFamily="34" charset="0"/>
              <a:buChar char="•"/>
            </a:pPr>
            <a:r>
              <a:rPr lang="en-US" sz="1600" dirty="0">
                <a:solidFill>
                  <a:srgbClr val="000000"/>
                </a:solidFill>
              </a:rPr>
              <a:t>Entries in the ARP table are not permanent and are removed when an ARP cache timer expires after a specified period of time.</a:t>
            </a:r>
          </a:p>
          <a:p>
            <a:pPr marL="342900" indent="-342900" algn="l">
              <a:buFont typeface="Arial" panose="020B0604020202020204" pitchFamily="34" charset="0"/>
              <a:buChar char="•"/>
            </a:pPr>
            <a:r>
              <a:rPr lang="en-US" sz="1600" dirty="0">
                <a:solidFill>
                  <a:srgbClr val="000000"/>
                </a:solidFill>
              </a:rPr>
              <a:t>The duration of the ARP cache timer differs depending on the operating system.</a:t>
            </a:r>
          </a:p>
          <a:p>
            <a:pPr marL="342900" indent="-342900" algn="l">
              <a:buFont typeface="Arial" panose="020B0604020202020204" pitchFamily="34" charset="0"/>
              <a:buChar char="•"/>
            </a:pPr>
            <a:r>
              <a:rPr lang="en-US" sz="1600" dirty="0">
                <a:solidFill>
                  <a:srgbClr val="000000"/>
                </a:solidFill>
              </a:rPr>
              <a:t>ARP table entries can also be removed manually by the administrator. </a:t>
            </a: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buFont typeface="Arial" panose="020B0604020202020204" pitchFamily="34" charset="0"/>
              <a:buChar char="•"/>
            </a:pPr>
            <a:endParaRPr lang="en-US" dirty="0">
              <a:solidFill>
                <a:srgbClr val="000000"/>
              </a:solidFill>
            </a:endParaRPr>
          </a:p>
        </p:txBody>
      </p:sp>
      <p:pic>
        <p:nvPicPr>
          <p:cNvPr id="2" name="Picture 1">
            <a:extLst>
              <a:ext uri="{FF2B5EF4-FFF2-40B4-BE49-F238E27FC236}">
                <a16:creationId xmlns:a16="http://schemas.microsoft.com/office/drawing/2014/main" id="{88E1F9DB-BF06-458F-943E-47F1D805506A}"/>
              </a:ext>
            </a:extLst>
          </p:cNvPr>
          <p:cNvPicPr>
            <a:picLocks noChangeAspect="1"/>
          </p:cNvPicPr>
          <p:nvPr/>
        </p:nvPicPr>
        <p:blipFill>
          <a:blip r:embed="rId3"/>
          <a:stretch>
            <a:fillRect/>
          </a:stretch>
        </p:blipFill>
        <p:spPr>
          <a:xfrm>
            <a:off x="1231392" y="1978568"/>
            <a:ext cx="4998720" cy="2678231"/>
          </a:xfrm>
          <a:prstGeom prst="rect">
            <a:avLst/>
          </a:prstGeom>
        </p:spPr>
      </p:pic>
    </p:spTree>
    <p:extLst>
      <p:ext uri="{BB962C8B-B14F-4D97-AF65-F5344CB8AC3E}">
        <p14:creationId xmlns:p14="http://schemas.microsoft.com/office/powerpoint/2010/main" val="333203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ARP</a:t>
            </a:r>
            <a:br>
              <a:rPr lang="en-US" dirty="0"/>
            </a:br>
            <a:r>
              <a:rPr lang="en-US" sz="2400" dirty="0"/>
              <a:t>ARP Tables on Networking Devices</a:t>
            </a:r>
          </a:p>
        </p:txBody>
      </p:sp>
      <p:sp>
        <p:nvSpPr>
          <p:cNvPr id="7" name="Content Placeholder 3">
            <a:extLst>
              <a:ext uri="{FF2B5EF4-FFF2-40B4-BE49-F238E27FC236}">
                <a16:creationId xmlns:a16="http://schemas.microsoft.com/office/drawing/2014/main" id="{828B5E9F-9DE2-44EC-A706-1764B8070531}"/>
              </a:ext>
            </a:extLst>
          </p:cNvPr>
          <p:cNvSpPr>
            <a:spLocks noGrp="1"/>
          </p:cNvSpPr>
          <p:nvPr>
            <p:ph idx="1"/>
          </p:nvPr>
        </p:nvSpPr>
        <p:spPr>
          <a:xfrm>
            <a:off x="474662" y="844062"/>
            <a:ext cx="8280057" cy="731837"/>
          </a:xfrm>
        </p:spPr>
        <p:txBody>
          <a:bodyPr/>
          <a:lstStyle/>
          <a:p>
            <a:pPr marL="342900" indent="-342900" algn="l">
              <a:buFont typeface="Arial" panose="020B0604020202020204" pitchFamily="34" charset="0"/>
              <a:buChar char="•"/>
            </a:pPr>
            <a:r>
              <a:rPr lang="en-US" sz="1600" dirty="0">
                <a:solidFill>
                  <a:srgbClr val="000000"/>
                </a:solidFill>
              </a:rPr>
              <a:t>The </a:t>
            </a:r>
            <a:r>
              <a:rPr lang="en-US" sz="1600" b="1" dirty="0">
                <a:solidFill>
                  <a:srgbClr val="000000"/>
                </a:solidFill>
                <a:latin typeface="Courier New" panose="02070309020205020404" pitchFamily="49" charset="0"/>
                <a:cs typeface="Courier New" panose="02070309020205020404" pitchFamily="49" charset="0"/>
              </a:rPr>
              <a:t>show ip arp </a:t>
            </a:r>
            <a:r>
              <a:rPr lang="en-US" sz="1600" dirty="0">
                <a:solidFill>
                  <a:srgbClr val="000000"/>
                </a:solidFill>
              </a:rPr>
              <a:t>command displays the ARP table on a Cisco router.</a:t>
            </a:r>
          </a:p>
          <a:p>
            <a:pPr marL="342900" indent="-342900" algn="l">
              <a:buFont typeface="Arial" panose="020B0604020202020204" pitchFamily="34" charset="0"/>
              <a:buChar char="•"/>
            </a:pPr>
            <a:r>
              <a:rPr lang="en-US" sz="1600" dirty="0">
                <a:solidFill>
                  <a:srgbClr val="000000"/>
                </a:solidFill>
              </a:rPr>
              <a:t>The </a:t>
            </a:r>
            <a:r>
              <a:rPr lang="en-US" sz="1600" b="1" dirty="0">
                <a:solidFill>
                  <a:srgbClr val="000000"/>
                </a:solidFill>
                <a:latin typeface="Courier New" panose="02070309020205020404" pitchFamily="49" charset="0"/>
                <a:cs typeface="Courier New" panose="02070309020205020404" pitchFamily="49" charset="0"/>
              </a:rPr>
              <a:t>arp –a</a:t>
            </a:r>
            <a:r>
              <a:rPr lang="en-US" sz="1600" dirty="0">
                <a:solidFill>
                  <a:srgbClr val="000000"/>
                </a:solidFill>
              </a:rPr>
              <a:t> command displays the ARP table on a Windows 10 PC.</a:t>
            </a: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dirty="0">
              <a:solidFill>
                <a:srgbClr val="000000"/>
              </a:solidFill>
            </a:endParaRPr>
          </a:p>
        </p:txBody>
      </p:sp>
      <p:sp>
        <p:nvSpPr>
          <p:cNvPr id="5" name="TextBox 4">
            <a:extLst>
              <a:ext uri="{FF2B5EF4-FFF2-40B4-BE49-F238E27FC236}">
                <a16:creationId xmlns:a16="http://schemas.microsoft.com/office/drawing/2014/main" id="{16A4B50D-6EE1-40FE-8374-1A9F3109A798}"/>
              </a:ext>
            </a:extLst>
          </p:cNvPr>
          <p:cNvSpPr txBox="1"/>
          <p:nvPr/>
        </p:nvSpPr>
        <p:spPr>
          <a:xfrm>
            <a:off x="629914" y="1756301"/>
            <a:ext cx="7715574" cy="830997"/>
          </a:xfrm>
          <a:prstGeom prst="rect">
            <a:avLst/>
          </a:prstGeom>
          <a:solidFill>
            <a:srgbClr val="000000"/>
          </a:solidFill>
        </p:spPr>
        <p:txBody>
          <a:bodyPr wrap="none" rtlCol="0">
            <a:spAutoFit/>
          </a:bodyPr>
          <a:lstStyle/>
          <a:p>
            <a:r>
              <a:rPr lang="en-CA" sz="1200" dirty="0">
                <a:solidFill>
                  <a:schemeClr val="bg1"/>
                </a:solidFill>
                <a:highlight>
                  <a:srgbClr val="000000"/>
                </a:highlight>
                <a:latin typeface="Courier New" panose="02070309020205020404" pitchFamily="49" charset="0"/>
                <a:cs typeface="Courier New" panose="02070309020205020404" pitchFamily="49" charset="0"/>
              </a:rPr>
              <a:t>R1# </a:t>
            </a:r>
            <a:r>
              <a:rPr lang="en-CA" sz="1200" b="1" dirty="0">
                <a:solidFill>
                  <a:schemeClr val="bg1"/>
                </a:solidFill>
                <a:highlight>
                  <a:srgbClr val="000000"/>
                </a:highlight>
                <a:latin typeface="Courier New" panose="02070309020205020404" pitchFamily="49" charset="0"/>
                <a:cs typeface="Courier New" panose="02070309020205020404" pitchFamily="49" charset="0"/>
              </a:rPr>
              <a:t>show ip arp          </a:t>
            </a:r>
            <a:endParaRPr lang="en-US" sz="1200" b="1" dirty="0">
              <a:solidFill>
                <a:schemeClr val="bg1"/>
              </a:solidFill>
              <a:highlight>
                <a:srgbClr val="000000"/>
              </a:highlight>
              <a:latin typeface="Courier New" panose="02070309020205020404" pitchFamily="49" charset="0"/>
              <a:cs typeface="Courier New" panose="02070309020205020404" pitchFamily="49" charset="0"/>
            </a:endParaRPr>
          </a:p>
          <a:p>
            <a:r>
              <a:rPr lang="en-CA" sz="1200" dirty="0">
                <a:solidFill>
                  <a:schemeClr val="bg1"/>
                </a:solidFill>
                <a:highlight>
                  <a:srgbClr val="000000"/>
                </a:highlight>
                <a:latin typeface="Courier New" panose="02070309020205020404" pitchFamily="49" charset="0"/>
                <a:cs typeface="Courier New" panose="02070309020205020404" pitchFamily="49" charset="0"/>
              </a:rPr>
              <a:t>Protocol  Address          Age (min)  Hardware Addr   Type   Interface</a:t>
            </a:r>
            <a:endParaRPr lang="en-US" sz="1200" dirty="0">
              <a:solidFill>
                <a:schemeClr val="bg1"/>
              </a:solidFill>
              <a:highlight>
                <a:srgbClr val="000000"/>
              </a:highlight>
              <a:latin typeface="Courier New" panose="02070309020205020404" pitchFamily="49" charset="0"/>
              <a:cs typeface="Courier New" panose="02070309020205020404" pitchFamily="49" charset="0"/>
            </a:endParaRPr>
          </a:p>
          <a:p>
            <a:r>
              <a:rPr lang="en-CA" sz="1200" dirty="0">
                <a:solidFill>
                  <a:schemeClr val="bg1"/>
                </a:solidFill>
                <a:highlight>
                  <a:srgbClr val="000000"/>
                </a:highlight>
                <a:latin typeface="Courier New" panose="02070309020205020404" pitchFamily="49" charset="0"/>
                <a:cs typeface="Courier New" panose="02070309020205020404" pitchFamily="49" charset="0"/>
              </a:rPr>
              <a:t>Internet  192.168.10.1            -   a0e0.af0d.e140  ARPA   GigabitEthernet0/0/0</a:t>
            </a:r>
            <a:endParaRPr lang="en-US" sz="1200" dirty="0">
              <a:solidFill>
                <a:schemeClr val="bg1"/>
              </a:solidFill>
              <a:highlight>
                <a:srgbClr val="000000"/>
              </a:highlight>
              <a:latin typeface="Courier New" panose="02070309020205020404" pitchFamily="49" charset="0"/>
              <a:cs typeface="Courier New" panose="02070309020205020404" pitchFamily="49" charset="0"/>
            </a:endParaRPr>
          </a:p>
          <a:p>
            <a:endParaRPr lang="en-US" sz="1200" dirty="0">
              <a:solidFill>
                <a:schemeClr val="bg1"/>
              </a:solidFill>
              <a:highlight>
                <a:srgbClr val="000000"/>
              </a:highlight>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042B87D4-C52D-48F9-8660-B3A9C2BB16B8}"/>
              </a:ext>
            </a:extLst>
          </p:cNvPr>
          <p:cNvSpPr txBox="1"/>
          <p:nvPr/>
        </p:nvSpPr>
        <p:spPr>
          <a:xfrm>
            <a:off x="629914" y="3011424"/>
            <a:ext cx="7715574" cy="1200329"/>
          </a:xfrm>
          <a:prstGeom prst="rect">
            <a:avLst/>
          </a:prstGeom>
          <a:solidFill>
            <a:srgbClr val="000000"/>
          </a:solidFill>
        </p:spPr>
        <p:txBody>
          <a:bodyPr wrap="square" rtlCol="0">
            <a:spAutoFit/>
          </a:bodyPr>
          <a:lstStyle/>
          <a:p>
            <a:r>
              <a:rPr lang="en-CA" sz="1200" dirty="0">
                <a:solidFill>
                  <a:schemeClr val="bg1"/>
                </a:solidFill>
                <a:latin typeface="Courier New" panose="02070309020205020404" pitchFamily="49" charset="0"/>
                <a:cs typeface="Courier New" panose="02070309020205020404" pitchFamily="49" charset="0"/>
              </a:rPr>
              <a:t>C:\Users\PC&gt; </a:t>
            </a:r>
            <a:r>
              <a:rPr lang="en-CA" sz="1200" b="1" dirty="0">
                <a:solidFill>
                  <a:schemeClr val="bg1"/>
                </a:solidFill>
                <a:latin typeface="Courier New" panose="02070309020205020404" pitchFamily="49" charset="0"/>
                <a:cs typeface="Courier New" panose="02070309020205020404" pitchFamily="49" charset="0"/>
              </a:rPr>
              <a:t>arp -a</a:t>
            </a:r>
            <a:endParaRPr lang="en-US" sz="1200" dirty="0">
              <a:solidFill>
                <a:schemeClr val="bg1"/>
              </a:solidFill>
              <a:latin typeface="Courier New" panose="02070309020205020404" pitchFamily="49" charset="0"/>
              <a:cs typeface="Courier New" panose="02070309020205020404" pitchFamily="49" charset="0"/>
            </a:endParaRPr>
          </a:p>
          <a:p>
            <a:r>
              <a:rPr lang="en-CA" sz="1200" dirty="0">
                <a:solidFill>
                  <a:schemeClr val="bg1"/>
                </a:solidFill>
                <a:latin typeface="Courier New" panose="02070309020205020404" pitchFamily="49" charset="0"/>
                <a:cs typeface="Courier New" panose="02070309020205020404" pitchFamily="49" charset="0"/>
              </a:rPr>
              <a:t> </a:t>
            </a:r>
            <a:endParaRPr lang="en-US" sz="1200" dirty="0">
              <a:solidFill>
                <a:schemeClr val="bg1"/>
              </a:solidFill>
              <a:latin typeface="Courier New" panose="02070309020205020404" pitchFamily="49" charset="0"/>
              <a:cs typeface="Courier New" panose="02070309020205020404" pitchFamily="49" charset="0"/>
            </a:endParaRPr>
          </a:p>
          <a:p>
            <a:r>
              <a:rPr lang="en-CA" sz="1200" dirty="0">
                <a:solidFill>
                  <a:schemeClr val="bg1"/>
                </a:solidFill>
                <a:latin typeface="Courier New" panose="02070309020205020404" pitchFamily="49" charset="0"/>
                <a:cs typeface="Courier New" panose="02070309020205020404" pitchFamily="49" charset="0"/>
              </a:rPr>
              <a:t>Interface: 192.168.1.124 --- 0x10</a:t>
            </a:r>
            <a:endParaRPr lang="en-US" sz="1200" dirty="0">
              <a:solidFill>
                <a:schemeClr val="bg1"/>
              </a:solidFill>
              <a:latin typeface="Courier New" panose="02070309020205020404" pitchFamily="49" charset="0"/>
              <a:cs typeface="Courier New" panose="02070309020205020404" pitchFamily="49" charset="0"/>
            </a:endParaRPr>
          </a:p>
          <a:p>
            <a:r>
              <a:rPr lang="en-CA" sz="1200" dirty="0">
                <a:solidFill>
                  <a:schemeClr val="bg1"/>
                </a:solidFill>
                <a:latin typeface="Courier New" panose="02070309020205020404" pitchFamily="49" charset="0"/>
                <a:cs typeface="Courier New" panose="02070309020205020404" pitchFamily="49" charset="0"/>
              </a:rPr>
              <a:t>  Internet Address      Physical Address      Type</a:t>
            </a:r>
            <a:endParaRPr lang="en-US" sz="1200" dirty="0">
              <a:solidFill>
                <a:schemeClr val="bg1"/>
              </a:solidFill>
              <a:latin typeface="Courier New" panose="02070309020205020404" pitchFamily="49" charset="0"/>
              <a:cs typeface="Courier New" panose="02070309020205020404" pitchFamily="49" charset="0"/>
            </a:endParaRPr>
          </a:p>
          <a:p>
            <a:r>
              <a:rPr lang="en-CA" sz="1200" dirty="0">
                <a:solidFill>
                  <a:schemeClr val="bg1"/>
                </a:solidFill>
                <a:latin typeface="Courier New" panose="02070309020205020404" pitchFamily="49" charset="0"/>
                <a:cs typeface="Courier New" panose="02070309020205020404" pitchFamily="49" charset="0"/>
              </a:rPr>
              <a:t>  192.168.1.1           c8-d7-19-cc-a0-86     dynamic</a:t>
            </a:r>
            <a:endParaRPr lang="en-US" sz="1200" dirty="0">
              <a:solidFill>
                <a:schemeClr val="bg1"/>
              </a:solidFill>
              <a:latin typeface="Courier New" panose="02070309020205020404" pitchFamily="49" charset="0"/>
              <a:cs typeface="Courier New" panose="02070309020205020404" pitchFamily="49" charset="0"/>
            </a:endParaRPr>
          </a:p>
          <a:p>
            <a:r>
              <a:rPr lang="en-CA" sz="1200" dirty="0">
                <a:solidFill>
                  <a:schemeClr val="bg1"/>
                </a:solidFill>
                <a:latin typeface="Courier New" panose="02070309020205020404" pitchFamily="49" charset="0"/>
                <a:cs typeface="Courier New" panose="02070309020205020404" pitchFamily="49" charset="0"/>
              </a:rPr>
              <a:t>  192.168.1.101         08-3e-0c-f5-f7-77     dynamic</a:t>
            </a:r>
            <a:endParaRPr lang="en-US" sz="1200" dirty="0">
              <a:solidFill>
                <a:schemeClr val="bg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651325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ARP</a:t>
            </a:r>
            <a:br>
              <a:rPr lang="en-US" dirty="0"/>
            </a:br>
            <a:r>
              <a:rPr lang="en-US" sz="2400" dirty="0"/>
              <a:t>ARP Issues – ARP Broadcasting and ARP Spoofing</a:t>
            </a:r>
          </a:p>
        </p:txBody>
      </p:sp>
      <p:sp>
        <p:nvSpPr>
          <p:cNvPr id="7" name="Content Placeholder 3">
            <a:extLst>
              <a:ext uri="{FF2B5EF4-FFF2-40B4-BE49-F238E27FC236}">
                <a16:creationId xmlns:a16="http://schemas.microsoft.com/office/drawing/2014/main" id="{828B5E9F-9DE2-44EC-A706-1764B8070531}"/>
              </a:ext>
            </a:extLst>
          </p:cNvPr>
          <p:cNvSpPr>
            <a:spLocks noGrp="1"/>
          </p:cNvSpPr>
          <p:nvPr>
            <p:ph idx="1"/>
          </p:nvPr>
        </p:nvSpPr>
        <p:spPr>
          <a:xfrm>
            <a:off x="474662" y="844062"/>
            <a:ext cx="8280057" cy="1210981"/>
          </a:xfrm>
        </p:spPr>
        <p:txBody>
          <a:bodyPr/>
          <a:lstStyle/>
          <a:p>
            <a:pPr marL="342900" indent="-342900" algn="l">
              <a:buFont typeface="Arial" panose="020B0604020202020204" pitchFamily="34" charset="0"/>
              <a:buChar char="•"/>
            </a:pPr>
            <a:r>
              <a:rPr lang="en-US" sz="1600" dirty="0">
                <a:solidFill>
                  <a:srgbClr val="000000"/>
                </a:solidFill>
              </a:rPr>
              <a:t>ARP requests are received and processed by every device on the local network.</a:t>
            </a:r>
          </a:p>
          <a:p>
            <a:pPr marL="342900" indent="-342900" algn="l">
              <a:buFont typeface="Arial" panose="020B0604020202020204" pitchFamily="34" charset="0"/>
              <a:buChar char="•"/>
            </a:pPr>
            <a:r>
              <a:rPr lang="en-US" sz="1600" dirty="0">
                <a:solidFill>
                  <a:srgbClr val="000000"/>
                </a:solidFill>
              </a:rPr>
              <a:t>Excessive ARP broadcasts can cause some reduction in performance.</a:t>
            </a:r>
          </a:p>
          <a:p>
            <a:pPr marL="342900" indent="-342900" algn="l">
              <a:buFont typeface="Arial" panose="020B0604020202020204" pitchFamily="34" charset="0"/>
              <a:buChar char="•"/>
            </a:pPr>
            <a:r>
              <a:rPr lang="en-US" sz="1600" dirty="0">
                <a:solidFill>
                  <a:srgbClr val="000000"/>
                </a:solidFill>
              </a:rPr>
              <a:t>ARP replies can be spoofed by a threat actor to perform an ARP poisoning attack.</a:t>
            </a:r>
          </a:p>
          <a:p>
            <a:pPr marL="342900" indent="-342900" algn="l">
              <a:buFont typeface="Arial" panose="020B0604020202020204" pitchFamily="34" charset="0"/>
              <a:buChar char="•"/>
            </a:pPr>
            <a:r>
              <a:rPr lang="en-US" sz="1600" dirty="0">
                <a:solidFill>
                  <a:srgbClr val="000000"/>
                </a:solidFill>
              </a:rPr>
              <a:t>Enterprise level switches include mitigation techniques to protect against ARP attacks.</a:t>
            </a: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dirty="0">
              <a:solidFill>
                <a:srgbClr val="000000"/>
              </a:solidFill>
            </a:endParaRPr>
          </a:p>
        </p:txBody>
      </p:sp>
      <p:pic>
        <p:nvPicPr>
          <p:cNvPr id="2" name="Picture 1">
            <a:extLst>
              <a:ext uri="{FF2B5EF4-FFF2-40B4-BE49-F238E27FC236}">
                <a16:creationId xmlns:a16="http://schemas.microsoft.com/office/drawing/2014/main" id="{54F65C2E-4429-4EE0-B587-6BE1F19A05B0}"/>
              </a:ext>
            </a:extLst>
          </p:cNvPr>
          <p:cNvPicPr>
            <a:picLocks noChangeAspect="1"/>
          </p:cNvPicPr>
          <p:nvPr/>
        </p:nvPicPr>
        <p:blipFill>
          <a:blip r:embed="rId3"/>
          <a:stretch>
            <a:fillRect/>
          </a:stretch>
        </p:blipFill>
        <p:spPr>
          <a:xfrm>
            <a:off x="1767840" y="2138780"/>
            <a:ext cx="5023104" cy="2650774"/>
          </a:xfrm>
          <a:prstGeom prst="rect">
            <a:avLst/>
          </a:prstGeom>
        </p:spPr>
      </p:pic>
    </p:spTree>
    <p:extLst>
      <p:ext uri="{BB962C8B-B14F-4D97-AF65-F5344CB8AC3E}">
        <p14:creationId xmlns:p14="http://schemas.microsoft.com/office/powerpoint/2010/main" val="2945305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9381</TotalTime>
  <Words>1744</Words>
  <Application>Microsoft Office PowerPoint</Application>
  <PresentationFormat>On-screen Show (16:9)</PresentationFormat>
  <Paragraphs>189</Paragraphs>
  <Slides>21</Slides>
  <Notes>19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MS PGothic</vt:lpstr>
      <vt:lpstr>Arial</vt:lpstr>
      <vt:lpstr>Calibri</vt:lpstr>
      <vt:lpstr>CiscoSans</vt:lpstr>
      <vt:lpstr>CiscoSans ExtraLight</vt:lpstr>
      <vt:lpstr>CiscoSans Thin</vt:lpstr>
      <vt:lpstr>Courier New</vt:lpstr>
      <vt:lpstr>Times New Roman</vt:lpstr>
      <vt:lpstr>Wingdings</vt:lpstr>
      <vt:lpstr>Default Theme</vt:lpstr>
      <vt:lpstr>3.1.2 Differentiate MAC Address and the IP Address</vt:lpstr>
      <vt:lpstr>An IP address is the network layer, or Layer 3, logical address used to deliver the IP packet from the original source to the final destination, as shown in the figure.</vt:lpstr>
      <vt:lpstr>Devices on the Same Network </vt:lpstr>
      <vt:lpstr>MAC and IP Destination on Same Network</vt:lpstr>
      <vt:lpstr>MAC and IP Destination on Remote Network</vt:lpstr>
      <vt:lpstr>Module Objectives</vt:lpstr>
      <vt:lpstr>Ethernet and ARP</vt:lpstr>
      <vt:lpstr>Ethernet Frames Ethernet Encapsulation</vt:lpstr>
      <vt:lpstr>Ethernet Frames Data Link Sublayers</vt:lpstr>
      <vt:lpstr>Ethernet Frames MAC Sublayer</vt:lpstr>
      <vt:lpstr>Ethernet Frames MAC Sublayer</vt:lpstr>
      <vt:lpstr>Ethernet Frames Ethernet Frame Fields</vt:lpstr>
      <vt:lpstr>3.13 ARP</vt:lpstr>
      <vt:lpstr>ARP ARP Overview</vt:lpstr>
      <vt:lpstr>ARP ARP Functions</vt:lpstr>
      <vt:lpstr>ARP Video - ARP Request</vt:lpstr>
      <vt:lpstr>ARP Video – ARP Operation - ARP Reply</vt:lpstr>
      <vt:lpstr>ARP Video - ARP Role in Remote Communications</vt:lpstr>
      <vt:lpstr>ARP Removing Entries from an ARP Table</vt:lpstr>
      <vt:lpstr>ARP ARP Tables on Networking Devices</vt:lpstr>
      <vt:lpstr>ARP ARP Issues – ARP Broadcasting and ARP Spoofing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Ts. Noor Azleen bt Mohd Noor</cp:lastModifiedBy>
  <cp:revision>253</cp:revision>
  <dcterms:created xsi:type="dcterms:W3CDTF">2019-10-18T06:21:22Z</dcterms:created>
  <dcterms:modified xsi:type="dcterms:W3CDTF">2024-12-02T08:38:23Z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