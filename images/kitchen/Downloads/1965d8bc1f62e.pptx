
<file path=[Content_Types].xml><?xml version="1.0" encoding="utf-8"?>
<Types xmlns="http://schemas.openxmlformats.org/package/2006/content-types">
  <Default Extension="bin" ContentType="application/vnd.openxmlformats-officedocument.oleObject"/>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72" r:id="rId1"/>
  </p:sldMasterIdLst>
  <p:notesMasterIdLst>
    <p:notesMasterId r:id="rId61"/>
  </p:notesMasterIdLst>
  <p:sldIdLst>
    <p:sldId id="256" r:id="rId2"/>
    <p:sldId id="290" r:id="rId3"/>
    <p:sldId id="259" r:id="rId4"/>
    <p:sldId id="288" r:id="rId5"/>
    <p:sldId id="260" r:id="rId6"/>
    <p:sldId id="261" r:id="rId7"/>
    <p:sldId id="307" r:id="rId8"/>
    <p:sldId id="262" r:id="rId9"/>
    <p:sldId id="264" r:id="rId10"/>
    <p:sldId id="263" r:id="rId11"/>
    <p:sldId id="266" r:id="rId12"/>
    <p:sldId id="265" r:id="rId13"/>
    <p:sldId id="278" r:id="rId14"/>
    <p:sldId id="279" r:id="rId15"/>
    <p:sldId id="287" r:id="rId16"/>
    <p:sldId id="291" r:id="rId17"/>
    <p:sldId id="292" r:id="rId18"/>
    <p:sldId id="284" r:id="rId19"/>
    <p:sldId id="293" r:id="rId20"/>
    <p:sldId id="268" r:id="rId21"/>
    <p:sldId id="280" r:id="rId22"/>
    <p:sldId id="281" r:id="rId23"/>
    <p:sldId id="269" r:id="rId24"/>
    <p:sldId id="271" r:id="rId25"/>
    <p:sldId id="294" r:id="rId26"/>
    <p:sldId id="296" r:id="rId27"/>
    <p:sldId id="325" r:id="rId28"/>
    <p:sldId id="327" r:id="rId29"/>
    <p:sldId id="283" r:id="rId30"/>
    <p:sldId id="328" r:id="rId31"/>
    <p:sldId id="329" r:id="rId32"/>
    <p:sldId id="330" r:id="rId33"/>
    <p:sldId id="331" r:id="rId34"/>
    <p:sldId id="333" r:id="rId35"/>
    <p:sldId id="286" r:id="rId36"/>
    <p:sldId id="298" r:id="rId37"/>
    <p:sldId id="300" r:id="rId38"/>
    <p:sldId id="301" r:id="rId39"/>
    <p:sldId id="304" r:id="rId40"/>
    <p:sldId id="302" r:id="rId41"/>
    <p:sldId id="303" r:id="rId42"/>
    <p:sldId id="305" r:id="rId43"/>
    <p:sldId id="324" r:id="rId44"/>
    <p:sldId id="306" r:id="rId45"/>
    <p:sldId id="308" r:id="rId46"/>
    <p:sldId id="309" r:id="rId47"/>
    <p:sldId id="310" r:id="rId48"/>
    <p:sldId id="311" r:id="rId49"/>
    <p:sldId id="312" r:id="rId50"/>
    <p:sldId id="313" r:id="rId51"/>
    <p:sldId id="314" r:id="rId52"/>
    <p:sldId id="315" r:id="rId53"/>
    <p:sldId id="316" r:id="rId54"/>
    <p:sldId id="317" r:id="rId55"/>
    <p:sldId id="318" r:id="rId56"/>
    <p:sldId id="319" r:id="rId57"/>
    <p:sldId id="320" r:id="rId58"/>
    <p:sldId id="321" r:id="rId59"/>
    <p:sldId id="322" r:id="rId6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945" autoAdjust="0"/>
    <p:restoredTop sz="94660"/>
  </p:normalViewPr>
  <p:slideViewPr>
    <p:cSldViewPr snapToGrid="0">
      <p:cViewPr varScale="1">
        <p:scale>
          <a:sx n="111" d="100"/>
          <a:sy n="111" d="100"/>
        </p:scale>
        <p:origin x="306"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notesMaster" Target="notesMasters/notesMaster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MY"/>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D0B3FAD-1CBB-4736-92F2-F008F0F1D86A}" type="datetimeFigureOut">
              <a:rPr lang="en-MY" smtClean="0"/>
              <a:t>12/10/2023</a:t>
            </a:fld>
            <a:endParaRPr lang="en-MY"/>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MY"/>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MY"/>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0F161A2-DEA1-4BE3-9B5E-AC42AC5B4899}" type="slidenum">
              <a:rPr lang="en-MY" smtClean="0"/>
              <a:t>‹#›</a:t>
            </a:fld>
            <a:endParaRPr lang="en-MY"/>
          </a:p>
        </p:txBody>
      </p:sp>
    </p:spTree>
    <p:extLst>
      <p:ext uri="{BB962C8B-B14F-4D97-AF65-F5344CB8AC3E}">
        <p14:creationId xmlns:p14="http://schemas.microsoft.com/office/powerpoint/2010/main" val="28129408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MY" dirty="0"/>
          </a:p>
        </p:txBody>
      </p:sp>
      <p:sp>
        <p:nvSpPr>
          <p:cNvPr id="4" name="Slide Number Placeholder 3"/>
          <p:cNvSpPr>
            <a:spLocks noGrp="1"/>
          </p:cNvSpPr>
          <p:nvPr>
            <p:ph type="sldNum" sz="quarter" idx="5"/>
          </p:nvPr>
        </p:nvSpPr>
        <p:spPr/>
        <p:txBody>
          <a:bodyPr/>
          <a:lstStyle/>
          <a:p>
            <a:fld id="{0C02822D-16B3-4537-9047-DF91391BB164}" type="slidenum">
              <a:rPr lang="en-MY" smtClean="0"/>
              <a:t>23</a:t>
            </a:fld>
            <a:endParaRPr lang="en-MY" dirty="0"/>
          </a:p>
        </p:txBody>
      </p:sp>
    </p:spTree>
    <p:extLst>
      <p:ext uri="{BB962C8B-B14F-4D97-AF65-F5344CB8AC3E}">
        <p14:creationId xmlns:p14="http://schemas.microsoft.com/office/powerpoint/2010/main" val="237710660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MY" dirty="0"/>
          </a:p>
        </p:txBody>
      </p:sp>
      <p:sp>
        <p:nvSpPr>
          <p:cNvPr id="4" name="Slide Number Placeholder 3"/>
          <p:cNvSpPr>
            <a:spLocks noGrp="1"/>
          </p:cNvSpPr>
          <p:nvPr>
            <p:ph type="sldNum" sz="quarter" idx="5"/>
          </p:nvPr>
        </p:nvSpPr>
        <p:spPr/>
        <p:txBody>
          <a:bodyPr/>
          <a:lstStyle/>
          <a:p>
            <a:fld id="{0C02822D-16B3-4537-9047-DF91391BB164}" type="slidenum">
              <a:rPr lang="en-MY" smtClean="0"/>
              <a:t>24</a:t>
            </a:fld>
            <a:endParaRPr lang="en-MY" dirty="0"/>
          </a:p>
        </p:txBody>
      </p:sp>
    </p:spTree>
    <p:extLst>
      <p:ext uri="{BB962C8B-B14F-4D97-AF65-F5344CB8AC3E}">
        <p14:creationId xmlns:p14="http://schemas.microsoft.com/office/powerpoint/2010/main" val="8811253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10/12/2023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929633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10/12/2023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050017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10/12/2023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802160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10/12/2023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1542831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10/12/2023</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572630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10/12/2023</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497849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B61BEF0D-F0BB-DE4B-95CE-6DB70DBA9567}" type="datetimeFigureOut">
              <a:rPr lang="en-US" smtClean="0"/>
              <a:pPr/>
              <a:t>10/12/2023</a:t>
            </a:fld>
            <a:endParaRPr lang="en-US" dirty="0"/>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7041311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B61BEF0D-F0BB-DE4B-95CE-6DB70DBA9567}" type="datetimeFigureOut">
              <a:rPr lang="en-US" smtClean="0"/>
              <a:pPr/>
              <a:t>10/12/2023</a:t>
            </a:fld>
            <a:endParaRPr lang="en-US" dirty="0"/>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735413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10/12/2023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5793253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10/12/2023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7627332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10/12/2023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4631246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B61BEF0D-F0BB-DE4B-95CE-6DB70DBA9567}" type="datetimeFigureOut">
              <a:rPr lang="en-US" smtClean="0"/>
              <a:pPr/>
              <a:t>10/12/2023</a:t>
            </a:fld>
            <a:endParaRPr lang="en-US" dirty="0"/>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dirty="0"/>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D57F1E4F-1CFF-5643-939E-217C01CDF565}" type="slidenum">
              <a:rPr lang="en-US" smtClean="0"/>
              <a:pPr/>
              <a:t>‹#›</a:t>
            </a:fld>
            <a:endParaRPr lang="en-US" dirty="0"/>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84828023"/>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hyperlink" Target="https://quizizz.com/"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hyperlink" Target="http://www.conceptdraw.com/diagram/er-diagram-of-a-bank-business-scenario" TargetMode="External"/><Relationship Id="rId2" Type="http://schemas.openxmlformats.org/officeDocument/2006/relationships/hyperlink" Target="http://www.conceptdraw.com/How-To-Guide/erd-entity-relationship-diagram-symbols" TargetMode="Externa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9.wmf"/><Relationship Id="rId2" Type="http://schemas.openxmlformats.org/officeDocument/2006/relationships/image" Target="../media/image8.wmf"/><Relationship Id="rId1" Type="http://schemas.openxmlformats.org/officeDocument/2006/relationships/slideLayout" Target="../slideLayouts/slideLayout2.xml"/><Relationship Id="rId4" Type="http://schemas.openxmlformats.org/officeDocument/2006/relationships/image" Target="../media/image10.wmf"/></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5 Best Books to learn SQL and Database design in 2022 | by javinpaul |  Javarevisited | Mediu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1"/>
            <a:ext cx="3603567" cy="6321827"/>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ctrTitle"/>
          </p:nvPr>
        </p:nvSpPr>
        <p:spPr>
          <a:xfrm>
            <a:off x="3923607" y="764770"/>
            <a:ext cx="7764087" cy="3566160"/>
          </a:xfrm>
        </p:spPr>
        <p:txBody>
          <a:bodyPr>
            <a:normAutofit fontScale="90000"/>
          </a:bodyPr>
          <a:lstStyle/>
          <a:p>
            <a:r>
              <a:rPr lang="en-US" sz="5400" dirty="0">
                <a:latin typeface="Arial Narrow" panose="020B0606020202030204" pitchFamily="34" charset="0"/>
              </a:rPr>
              <a:t>DFC 20203 - Database Design</a:t>
            </a:r>
            <a:br>
              <a:rPr lang="en-US" sz="5400" dirty="0">
                <a:latin typeface="Arial Narrow" panose="020B0606020202030204" pitchFamily="34" charset="0"/>
              </a:rPr>
            </a:br>
            <a:br>
              <a:rPr lang="en-US" sz="5400" dirty="0">
                <a:latin typeface="Arial Narrow" panose="020B0606020202030204" pitchFamily="34" charset="0"/>
              </a:rPr>
            </a:br>
            <a:r>
              <a:rPr lang="en-US" sz="5400" dirty="0">
                <a:latin typeface="Arial Narrow" panose="020B0606020202030204" pitchFamily="34" charset="0"/>
              </a:rPr>
              <a:t>Chapter 3 : </a:t>
            </a:r>
            <a:br>
              <a:rPr lang="en-US" sz="5400" dirty="0">
                <a:latin typeface="Arial Narrow" panose="020B0606020202030204" pitchFamily="34" charset="0"/>
              </a:rPr>
            </a:br>
            <a:r>
              <a:rPr lang="en-MY" sz="5400" dirty="0">
                <a:solidFill>
                  <a:schemeClr val="accent1"/>
                </a:solidFill>
                <a:latin typeface="Arial Narrow" panose="020B0606020202030204" pitchFamily="34" charset="0"/>
              </a:rPr>
              <a:t>Entity-Relationship (E-R) Model </a:t>
            </a:r>
            <a:r>
              <a:rPr lang="en-MY" sz="5400" dirty="0">
                <a:latin typeface="Arial Narrow" panose="020B0606020202030204" pitchFamily="34" charset="0"/>
              </a:rPr>
              <a:t>&amp; Normalization </a:t>
            </a:r>
          </a:p>
        </p:txBody>
      </p:sp>
      <p:sp>
        <p:nvSpPr>
          <p:cNvPr id="3" name="Subtitle 2"/>
          <p:cNvSpPr>
            <a:spLocks noGrp="1"/>
          </p:cNvSpPr>
          <p:nvPr>
            <p:ph type="subTitle" idx="1"/>
          </p:nvPr>
        </p:nvSpPr>
        <p:spPr>
          <a:xfrm>
            <a:off x="3603566" y="5569524"/>
            <a:ext cx="8404168" cy="1143000"/>
          </a:xfrm>
        </p:spPr>
        <p:txBody>
          <a:bodyPr>
            <a:normAutofit/>
          </a:bodyPr>
          <a:lstStyle/>
          <a:p>
            <a:r>
              <a:rPr lang="en-US" sz="2800" b="1" dirty="0">
                <a:solidFill>
                  <a:schemeClr val="tx1"/>
                </a:solidFill>
                <a:effectLst>
                  <a:outerShdw blurRad="38100" dist="38100" dir="2700000" algn="tl">
                    <a:srgbClr val="000000">
                      <a:alpha val="43137"/>
                    </a:srgbClr>
                  </a:outerShdw>
                </a:effectLst>
              </a:rPr>
              <a:t>LECTURER : PN.MUNA ISHAK | SESSION 2 2022/23</a:t>
            </a:r>
            <a:endParaRPr lang="en-MY" sz="2800" b="1" dirty="0">
              <a:solidFill>
                <a:schemeClr val="tx1"/>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4149817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57503" y="1031595"/>
            <a:ext cx="8001000" cy="2667000"/>
          </a:xfrm>
        </p:spPr>
        <p:txBody>
          <a:bodyPr>
            <a:noAutofit/>
          </a:bodyPr>
          <a:lstStyle/>
          <a:p>
            <a:r>
              <a:rPr lang="en-US" altLang="en-US" sz="6000" dirty="0"/>
              <a:t>Let’s Review Last Lesson</a:t>
            </a:r>
            <a:br>
              <a:rPr lang="en-US" altLang="en-US" sz="6000" dirty="0"/>
            </a:br>
            <a:endParaRPr lang="en-US" sz="6000" dirty="0">
              <a:latin typeface="Adobe Garamond Pro Bold" pitchFamily="18" charset="0"/>
            </a:endParaRPr>
          </a:p>
        </p:txBody>
      </p:sp>
      <p:sp>
        <p:nvSpPr>
          <p:cNvPr id="3" name="TextBox 2"/>
          <p:cNvSpPr txBox="1"/>
          <p:nvPr/>
        </p:nvSpPr>
        <p:spPr>
          <a:xfrm>
            <a:off x="4849093" y="3325005"/>
            <a:ext cx="6938354" cy="954107"/>
          </a:xfrm>
          <a:prstGeom prst="rect">
            <a:avLst/>
          </a:prstGeom>
          <a:noFill/>
        </p:spPr>
        <p:txBody>
          <a:bodyPr wrap="square" rtlCol="0">
            <a:spAutoFit/>
          </a:bodyPr>
          <a:lstStyle/>
          <a:p>
            <a:r>
              <a:rPr lang="en-MY" sz="2800" dirty="0"/>
              <a:t>Log in Quizizz.com and join the quiz</a:t>
            </a:r>
          </a:p>
          <a:p>
            <a:pPr algn="ctr"/>
            <a:r>
              <a:rPr lang="en-MY" sz="2800" dirty="0">
                <a:hlinkClick r:id="rId2"/>
              </a:rPr>
              <a:t>https://quizizz.com/</a:t>
            </a:r>
            <a:endParaRPr lang="en-MY" sz="2800" dirty="0"/>
          </a:p>
        </p:txBody>
      </p:sp>
      <p:sp>
        <p:nvSpPr>
          <p:cNvPr id="5" name="AutoShape 4" descr="Top 10 Revising Tips | Best Advice for Exams and Tests Revision"/>
          <p:cNvSpPr>
            <a:spLocks noChangeAspect="1" noChangeArrowheads="1"/>
          </p:cNvSpPr>
          <p:nvPr/>
        </p:nvSpPr>
        <p:spPr bwMode="auto">
          <a:xfrm>
            <a:off x="155575" y="-144463"/>
            <a:ext cx="2014820" cy="2014827"/>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MY"/>
          </a:p>
        </p:txBody>
      </p:sp>
      <p:pic>
        <p:nvPicPr>
          <p:cNvPr id="6" name="Picture 5"/>
          <p:cNvPicPr>
            <a:picLocks noChangeAspect="1"/>
          </p:cNvPicPr>
          <p:nvPr/>
        </p:nvPicPr>
        <p:blipFill>
          <a:blip r:embed="rId3"/>
          <a:stretch>
            <a:fillRect/>
          </a:stretch>
        </p:blipFill>
        <p:spPr>
          <a:xfrm>
            <a:off x="0" y="-8486"/>
            <a:ext cx="3541222" cy="6342784"/>
          </a:xfrm>
          <a:prstGeom prst="rect">
            <a:avLst/>
          </a:prstGeom>
        </p:spPr>
      </p:pic>
    </p:spTree>
    <p:extLst>
      <p:ext uri="{BB962C8B-B14F-4D97-AF65-F5344CB8AC3E}">
        <p14:creationId xmlns:p14="http://schemas.microsoft.com/office/powerpoint/2010/main" val="26875387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856210" y="284176"/>
            <a:ext cx="11053291" cy="1508760"/>
          </a:xfrm>
        </p:spPr>
        <p:txBody>
          <a:bodyPr>
            <a:normAutofit/>
          </a:bodyPr>
          <a:lstStyle/>
          <a:p>
            <a:pPr>
              <a:spcBef>
                <a:spcPts val="0"/>
              </a:spcBef>
            </a:pPr>
            <a:r>
              <a:rPr lang="en-US" sz="4800" dirty="0"/>
              <a:t>3.2 Apply E-R Diagrams (ERD) in database development</a:t>
            </a:r>
          </a:p>
        </p:txBody>
      </p:sp>
      <p:sp>
        <p:nvSpPr>
          <p:cNvPr id="6" name="Content Placeholder 5"/>
          <p:cNvSpPr>
            <a:spLocks noGrp="1"/>
          </p:cNvSpPr>
          <p:nvPr>
            <p:ph sz="half" idx="1"/>
          </p:nvPr>
        </p:nvSpPr>
        <p:spPr>
          <a:xfrm>
            <a:off x="975289" y="1798636"/>
            <a:ext cx="4853830" cy="4525963"/>
          </a:xfrm>
        </p:spPr>
        <p:txBody>
          <a:bodyPr>
            <a:noAutofit/>
          </a:bodyPr>
          <a:lstStyle/>
          <a:p>
            <a:pPr marL="0" indent="0">
              <a:spcBef>
                <a:spcPts val="0"/>
              </a:spcBef>
              <a:buNone/>
            </a:pPr>
            <a:r>
              <a:rPr lang="en-US" sz="2400" dirty="0">
                <a:latin typeface="Arial Narrow" panose="020B0606020202030204" pitchFamily="34" charset="0"/>
              </a:rPr>
              <a:t>3.2.1 Define entity, attribute and relationship</a:t>
            </a:r>
          </a:p>
          <a:p>
            <a:pPr marL="0" indent="0">
              <a:spcBef>
                <a:spcPts val="0"/>
              </a:spcBef>
              <a:buNone/>
            </a:pPr>
            <a:r>
              <a:rPr lang="en-US" sz="2400" dirty="0">
                <a:latin typeface="Arial Narrow" panose="020B0606020202030204" pitchFamily="34" charset="0"/>
              </a:rPr>
              <a:t>3.2.2 Interpret relationship cardinality</a:t>
            </a:r>
          </a:p>
          <a:p>
            <a:pPr marL="533387" lvl="1" indent="0">
              <a:spcBef>
                <a:spcPts val="0"/>
              </a:spcBef>
              <a:buNone/>
            </a:pPr>
            <a:r>
              <a:rPr lang="en-US" sz="2400" dirty="0">
                <a:latin typeface="Arial Narrow" panose="020B0606020202030204" pitchFamily="34" charset="0"/>
              </a:rPr>
              <a:t>a. One to one (1:1)</a:t>
            </a:r>
          </a:p>
          <a:p>
            <a:pPr marL="533387" lvl="1" indent="0">
              <a:spcBef>
                <a:spcPts val="0"/>
              </a:spcBef>
              <a:buNone/>
            </a:pPr>
            <a:r>
              <a:rPr lang="en-US" sz="2400" dirty="0">
                <a:latin typeface="Arial Narrow" panose="020B0606020202030204" pitchFamily="34" charset="0"/>
              </a:rPr>
              <a:t>b. One to many (1:M)</a:t>
            </a:r>
          </a:p>
          <a:p>
            <a:pPr marL="533387" lvl="1" indent="0">
              <a:spcBef>
                <a:spcPts val="0"/>
              </a:spcBef>
              <a:buNone/>
            </a:pPr>
            <a:r>
              <a:rPr lang="en-US" sz="2400" dirty="0">
                <a:latin typeface="Arial Narrow" panose="020B0606020202030204" pitchFamily="34" charset="0"/>
              </a:rPr>
              <a:t>c. Many to many (M:N)</a:t>
            </a:r>
          </a:p>
          <a:p>
            <a:pPr marL="0" indent="0">
              <a:spcBef>
                <a:spcPts val="0"/>
              </a:spcBef>
              <a:buNone/>
            </a:pPr>
            <a:r>
              <a:rPr lang="en-US" sz="2400" dirty="0">
                <a:latin typeface="Arial Narrow" panose="020B0606020202030204" pitchFamily="34" charset="0"/>
              </a:rPr>
              <a:t>3.2.3 Relate entities by applying the rules of cardinality</a:t>
            </a:r>
          </a:p>
          <a:p>
            <a:pPr marL="0" indent="0">
              <a:spcBef>
                <a:spcPts val="0"/>
              </a:spcBef>
              <a:buNone/>
            </a:pPr>
            <a:r>
              <a:rPr lang="en-US" sz="2400" dirty="0">
                <a:latin typeface="Arial Narrow" panose="020B0606020202030204" pitchFamily="34" charset="0"/>
              </a:rPr>
              <a:t>3.2.4 Identify the E-R diagram notations for:</a:t>
            </a:r>
          </a:p>
          <a:p>
            <a:pPr marL="533387" lvl="1" indent="0">
              <a:spcBef>
                <a:spcPts val="0"/>
              </a:spcBef>
              <a:buNone/>
            </a:pPr>
            <a:r>
              <a:rPr lang="en-US" sz="2400" dirty="0">
                <a:latin typeface="Arial Narrow" panose="020B0606020202030204" pitchFamily="34" charset="0"/>
              </a:rPr>
              <a:t>a. Entity</a:t>
            </a:r>
          </a:p>
          <a:p>
            <a:pPr marL="533387" lvl="1" indent="0">
              <a:spcBef>
                <a:spcPts val="0"/>
              </a:spcBef>
              <a:buNone/>
            </a:pPr>
            <a:r>
              <a:rPr lang="en-US" sz="2400" dirty="0">
                <a:latin typeface="Arial Narrow" panose="020B0606020202030204" pitchFamily="34" charset="0"/>
              </a:rPr>
              <a:t>b. Weak entity</a:t>
            </a:r>
          </a:p>
          <a:p>
            <a:pPr marL="533387" lvl="1" indent="0">
              <a:spcBef>
                <a:spcPts val="0"/>
              </a:spcBef>
              <a:buNone/>
            </a:pPr>
            <a:r>
              <a:rPr lang="en-US" sz="2400" dirty="0">
                <a:latin typeface="Arial Narrow" panose="020B0606020202030204" pitchFamily="34" charset="0"/>
              </a:rPr>
              <a:t>c. Attributes</a:t>
            </a:r>
          </a:p>
          <a:p>
            <a:pPr marL="0" indent="0">
              <a:spcBef>
                <a:spcPts val="0"/>
              </a:spcBef>
              <a:buNone/>
            </a:pPr>
            <a:r>
              <a:rPr lang="en-MY" sz="2133" dirty="0"/>
              <a:t>	</a:t>
            </a:r>
          </a:p>
          <a:p>
            <a:pPr marL="0" indent="0">
              <a:spcBef>
                <a:spcPts val="0"/>
              </a:spcBef>
              <a:buNone/>
            </a:pPr>
            <a:r>
              <a:rPr lang="en-MY" sz="2133" dirty="0"/>
              <a:t>	</a:t>
            </a:r>
          </a:p>
          <a:p>
            <a:pPr marL="0" indent="0">
              <a:spcBef>
                <a:spcPts val="0"/>
              </a:spcBef>
              <a:buNone/>
            </a:pPr>
            <a:r>
              <a:rPr lang="en-MY" sz="2133" dirty="0"/>
              <a:t>	</a:t>
            </a:r>
          </a:p>
          <a:p>
            <a:pPr marL="0" indent="0">
              <a:spcBef>
                <a:spcPts val="0"/>
              </a:spcBef>
              <a:buNone/>
            </a:pPr>
            <a:r>
              <a:rPr lang="en-MY" sz="2133" dirty="0"/>
              <a:t>	</a:t>
            </a:r>
          </a:p>
          <a:p>
            <a:pPr marL="0" indent="0">
              <a:spcBef>
                <a:spcPts val="0"/>
              </a:spcBef>
              <a:buNone/>
            </a:pPr>
            <a:endParaRPr lang="en-MY" sz="2133" dirty="0"/>
          </a:p>
        </p:txBody>
      </p:sp>
      <p:sp>
        <p:nvSpPr>
          <p:cNvPr id="7" name="Content Placeholder 6"/>
          <p:cNvSpPr>
            <a:spLocks noGrp="1"/>
          </p:cNvSpPr>
          <p:nvPr>
            <p:ph sz="half" idx="2"/>
          </p:nvPr>
        </p:nvSpPr>
        <p:spPr>
          <a:xfrm>
            <a:off x="6350924" y="1792936"/>
            <a:ext cx="5345624" cy="4525963"/>
          </a:xfrm>
        </p:spPr>
        <p:txBody>
          <a:bodyPr>
            <a:noAutofit/>
          </a:bodyPr>
          <a:lstStyle/>
          <a:p>
            <a:pPr marL="533387" lvl="1" indent="0">
              <a:spcBef>
                <a:spcPts val="0"/>
              </a:spcBef>
              <a:buNone/>
            </a:pPr>
            <a:r>
              <a:rPr lang="en-US" sz="2400" dirty="0">
                <a:latin typeface="Arial Narrow" panose="020B0606020202030204" pitchFamily="34" charset="0"/>
              </a:rPr>
              <a:t>d. Key attribute</a:t>
            </a:r>
          </a:p>
          <a:p>
            <a:pPr marL="533387" lvl="1" indent="0">
              <a:spcBef>
                <a:spcPts val="0"/>
              </a:spcBef>
              <a:buNone/>
            </a:pPr>
            <a:r>
              <a:rPr lang="en-US" sz="2400" dirty="0">
                <a:latin typeface="Arial Narrow" panose="020B0606020202030204" pitchFamily="34" charset="0"/>
              </a:rPr>
              <a:t>e. Multivalued attribute</a:t>
            </a:r>
          </a:p>
          <a:p>
            <a:pPr marL="533387" lvl="1" indent="0">
              <a:spcBef>
                <a:spcPts val="0"/>
              </a:spcBef>
              <a:buNone/>
            </a:pPr>
            <a:r>
              <a:rPr lang="en-US" sz="2400" dirty="0">
                <a:latin typeface="Arial Narrow" panose="020B0606020202030204" pitchFamily="34" charset="0"/>
              </a:rPr>
              <a:t>f. Derived attribute</a:t>
            </a:r>
          </a:p>
          <a:p>
            <a:pPr marL="533387" lvl="1" indent="0">
              <a:spcBef>
                <a:spcPts val="0"/>
              </a:spcBef>
              <a:buNone/>
            </a:pPr>
            <a:r>
              <a:rPr lang="en-US" sz="2400" dirty="0">
                <a:latin typeface="Arial Narrow" panose="020B0606020202030204" pitchFamily="34" charset="0"/>
              </a:rPr>
              <a:t>g. Relationships</a:t>
            </a:r>
          </a:p>
          <a:p>
            <a:pPr marL="533387" lvl="1" indent="0">
              <a:spcBef>
                <a:spcPts val="0"/>
              </a:spcBef>
              <a:buNone/>
            </a:pPr>
            <a:r>
              <a:rPr lang="en-US" sz="2400" dirty="0">
                <a:latin typeface="Arial Narrow" panose="020B0606020202030204" pitchFamily="34" charset="0"/>
              </a:rPr>
              <a:t>h. Cardinality</a:t>
            </a:r>
          </a:p>
          <a:p>
            <a:pPr marL="0" indent="0">
              <a:spcBef>
                <a:spcPts val="0"/>
              </a:spcBef>
              <a:buNone/>
            </a:pPr>
            <a:r>
              <a:rPr lang="en-US" sz="2400" dirty="0">
                <a:latin typeface="Arial Narrow" panose="020B0606020202030204" pitchFamily="34" charset="0"/>
              </a:rPr>
              <a:t>3.2.5 Identify the steps in creating E-R diagram</a:t>
            </a:r>
          </a:p>
          <a:p>
            <a:pPr marL="0" indent="0">
              <a:spcBef>
                <a:spcPts val="0"/>
              </a:spcBef>
              <a:buNone/>
            </a:pPr>
            <a:r>
              <a:rPr lang="en-US" sz="2400" dirty="0">
                <a:latin typeface="Arial Narrow" panose="020B0606020202030204" pitchFamily="34" charset="0"/>
              </a:rPr>
              <a:t>3.2.6 Construct ER diagram components that represent entities and attributes according to diagramming conventions based on a given scenario or problem statement</a:t>
            </a:r>
          </a:p>
          <a:p>
            <a:pPr marL="0" indent="0">
              <a:spcBef>
                <a:spcPts val="0"/>
              </a:spcBef>
              <a:buNone/>
            </a:pPr>
            <a:r>
              <a:rPr lang="en-US" sz="2400" dirty="0">
                <a:latin typeface="Arial Narrow" panose="020B0606020202030204" pitchFamily="34" charset="0"/>
              </a:rPr>
              <a:t>3.2.7 Transform an E-R diagram into physical database design</a:t>
            </a:r>
            <a:endParaRPr lang="en-MY" sz="2400" dirty="0">
              <a:latin typeface="Arial Narrow" panose="020B0606020202030204" pitchFamily="34" charset="0"/>
            </a:endParaRPr>
          </a:p>
          <a:p>
            <a:pPr marL="0" indent="0">
              <a:spcBef>
                <a:spcPts val="0"/>
              </a:spcBef>
              <a:buNone/>
            </a:pPr>
            <a:endParaRPr lang="en-MY" sz="2133" dirty="0"/>
          </a:p>
        </p:txBody>
      </p:sp>
    </p:spTree>
    <p:extLst>
      <p:ext uri="{BB962C8B-B14F-4D97-AF65-F5344CB8AC3E}">
        <p14:creationId xmlns:p14="http://schemas.microsoft.com/office/powerpoint/2010/main" val="16380434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7527" y="286603"/>
            <a:ext cx="10058400" cy="1450757"/>
          </a:xfrm>
        </p:spPr>
        <p:txBody>
          <a:bodyPr/>
          <a:lstStyle/>
          <a:p>
            <a:r>
              <a:rPr lang="en-MY" dirty="0"/>
              <a:t>Lesson Learning Outcome (LLO)</a:t>
            </a:r>
          </a:p>
        </p:txBody>
      </p:sp>
      <p:sp>
        <p:nvSpPr>
          <p:cNvPr id="4" name="Content Placeholder 5"/>
          <p:cNvSpPr>
            <a:spLocks noGrp="1"/>
          </p:cNvSpPr>
          <p:nvPr>
            <p:ph idx="1"/>
          </p:nvPr>
        </p:nvSpPr>
        <p:spPr>
          <a:xfrm>
            <a:off x="1097280" y="1978428"/>
            <a:ext cx="6716684" cy="3292149"/>
          </a:xfrm>
        </p:spPr>
        <p:txBody>
          <a:bodyPr>
            <a:noAutofit/>
          </a:bodyPr>
          <a:lstStyle/>
          <a:p>
            <a:pPr marL="0" indent="0">
              <a:spcBef>
                <a:spcPts val="0"/>
              </a:spcBef>
              <a:buNone/>
            </a:pPr>
            <a:r>
              <a:rPr lang="en-US" sz="2400" dirty="0">
                <a:solidFill>
                  <a:schemeClr val="tx1"/>
                </a:solidFill>
                <a:latin typeface="Arial Narrow" panose="020B0606020202030204" pitchFamily="34" charset="0"/>
              </a:rPr>
              <a:t>By the end of this lesson, student should able to:</a:t>
            </a:r>
          </a:p>
          <a:p>
            <a:pPr marL="0" indent="0">
              <a:spcBef>
                <a:spcPts val="0"/>
              </a:spcBef>
              <a:buNone/>
            </a:pPr>
            <a:r>
              <a:rPr lang="en-US" sz="2400" dirty="0">
                <a:solidFill>
                  <a:schemeClr val="tx1"/>
                </a:solidFill>
                <a:latin typeface="Arial Narrow" panose="020B0606020202030204" pitchFamily="34" charset="0"/>
              </a:rPr>
              <a:t>3.2.1 Define entity, attribute and relationship</a:t>
            </a:r>
          </a:p>
          <a:p>
            <a:pPr marL="0" indent="0">
              <a:spcBef>
                <a:spcPts val="0"/>
              </a:spcBef>
              <a:buNone/>
            </a:pPr>
            <a:r>
              <a:rPr lang="en-US" sz="2400" dirty="0">
                <a:solidFill>
                  <a:schemeClr val="tx1"/>
                </a:solidFill>
                <a:latin typeface="Arial Narrow" panose="020B0606020202030204" pitchFamily="34" charset="0"/>
              </a:rPr>
              <a:t>3.2.2 Interpret relationship cardinality</a:t>
            </a:r>
          </a:p>
          <a:p>
            <a:pPr marL="533387" lvl="1" indent="0">
              <a:spcBef>
                <a:spcPts val="0"/>
              </a:spcBef>
              <a:buNone/>
            </a:pPr>
            <a:r>
              <a:rPr lang="en-US" sz="2400" dirty="0">
                <a:solidFill>
                  <a:schemeClr val="tx1"/>
                </a:solidFill>
                <a:latin typeface="Arial Narrow" panose="020B0606020202030204" pitchFamily="34" charset="0"/>
              </a:rPr>
              <a:t>a. One to one (1:1)</a:t>
            </a:r>
          </a:p>
          <a:p>
            <a:pPr marL="533387" lvl="1" indent="0">
              <a:spcBef>
                <a:spcPts val="0"/>
              </a:spcBef>
              <a:buNone/>
            </a:pPr>
            <a:r>
              <a:rPr lang="en-US" sz="2400" dirty="0">
                <a:solidFill>
                  <a:schemeClr val="tx1"/>
                </a:solidFill>
                <a:latin typeface="Arial Narrow" panose="020B0606020202030204" pitchFamily="34" charset="0"/>
              </a:rPr>
              <a:t>b. One to many (1:M)</a:t>
            </a:r>
          </a:p>
          <a:p>
            <a:pPr marL="533387" lvl="1" indent="0">
              <a:spcBef>
                <a:spcPts val="0"/>
              </a:spcBef>
              <a:buNone/>
            </a:pPr>
            <a:r>
              <a:rPr lang="en-US" sz="2400" dirty="0">
                <a:solidFill>
                  <a:schemeClr val="tx1"/>
                </a:solidFill>
                <a:latin typeface="Arial Narrow" panose="020B0606020202030204" pitchFamily="34" charset="0"/>
              </a:rPr>
              <a:t>c. Many to many (M:N)</a:t>
            </a:r>
          </a:p>
          <a:p>
            <a:pPr marL="0" indent="0">
              <a:spcBef>
                <a:spcPts val="0"/>
              </a:spcBef>
              <a:buNone/>
            </a:pPr>
            <a:r>
              <a:rPr lang="en-US" sz="2400" dirty="0">
                <a:solidFill>
                  <a:schemeClr val="tx1"/>
                </a:solidFill>
                <a:latin typeface="Arial Narrow" panose="020B0606020202030204" pitchFamily="34" charset="0"/>
              </a:rPr>
              <a:t>3.2.3 Relate entities by applying the rules of cardinality</a:t>
            </a:r>
          </a:p>
          <a:p>
            <a:pPr marL="533387" lvl="1" indent="0">
              <a:spcBef>
                <a:spcPts val="0"/>
              </a:spcBef>
              <a:buNone/>
            </a:pPr>
            <a:r>
              <a:rPr lang="en-US" sz="2400" dirty="0">
                <a:solidFill>
                  <a:schemeClr val="bg1"/>
                </a:solidFill>
                <a:latin typeface="Arial Narrow" panose="020B0606020202030204" pitchFamily="34" charset="0"/>
              </a:rPr>
              <a:t>a. Entity</a:t>
            </a:r>
          </a:p>
          <a:p>
            <a:pPr marL="533387" lvl="1" indent="0">
              <a:spcBef>
                <a:spcPts val="0"/>
              </a:spcBef>
              <a:buNone/>
            </a:pPr>
            <a:r>
              <a:rPr lang="en-US" sz="2400" dirty="0">
                <a:solidFill>
                  <a:schemeClr val="bg1"/>
                </a:solidFill>
                <a:latin typeface="Arial Narrow" panose="020B0606020202030204" pitchFamily="34" charset="0"/>
              </a:rPr>
              <a:t>b. Weak entity</a:t>
            </a:r>
          </a:p>
          <a:p>
            <a:pPr marL="533387" lvl="1" indent="0">
              <a:spcBef>
                <a:spcPts val="0"/>
              </a:spcBef>
              <a:buNone/>
            </a:pPr>
            <a:r>
              <a:rPr lang="en-US" sz="2400" dirty="0">
                <a:solidFill>
                  <a:schemeClr val="bg1"/>
                </a:solidFill>
                <a:latin typeface="Arial Narrow" panose="020B0606020202030204" pitchFamily="34" charset="0"/>
              </a:rPr>
              <a:t>c. Attributes</a:t>
            </a:r>
          </a:p>
          <a:p>
            <a:pPr marL="0" indent="0">
              <a:spcBef>
                <a:spcPts val="0"/>
              </a:spcBef>
              <a:buNone/>
            </a:pPr>
            <a:r>
              <a:rPr lang="en-MY" sz="2133" dirty="0"/>
              <a:t>	</a:t>
            </a:r>
          </a:p>
          <a:p>
            <a:pPr marL="0" indent="0">
              <a:spcBef>
                <a:spcPts val="0"/>
              </a:spcBef>
              <a:buNone/>
            </a:pPr>
            <a:r>
              <a:rPr lang="en-MY" sz="2133" dirty="0"/>
              <a:t>	</a:t>
            </a:r>
          </a:p>
          <a:p>
            <a:pPr marL="0" indent="0">
              <a:spcBef>
                <a:spcPts val="0"/>
              </a:spcBef>
              <a:buNone/>
            </a:pPr>
            <a:r>
              <a:rPr lang="en-MY" sz="2133" dirty="0"/>
              <a:t>	</a:t>
            </a:r>
          </a:p>
          <a:p>
            <a:pPr marL="0" indent="0">
              <a:spcBef>
                <a:spcPts val="0"/>
              </a:spcBef>
              <a:buNone/>
            </a:pPr>
            <a:r>
              <a:rPr lang="en-MY" sz="2133" dirty="0"/>
              <a:t>	</a:t>
            </a:r>
          </a:p>
          <a:p>
            <a:pPr marL="0" indent="0">
              <a:spcBef>
                <a:spcPts val="0"/>
              </a:spcBef>
              <a:buNone/>
            </a:pPr>
            <a:endParaRPr lang="en-MY" sz="2133" dirty="0"/>
          </a:p>
        </p:txBody>
      </p:sp>
    </p:spTree>
    <p:extLst>
      <p:ext uri="{BB962C8B-B14F-4D97-AF65-F5344CB8AC3E}">
        <p14:creationId xmlns:p14="http://schemas.microsoft.com/office/powerpoint/2010/main" val="27415489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Title 1"/>
          <p:cNvSpPr>
            <a:spLocks noGrp="1"/>
          </p:cNvSpPr>
          <p:nvPr>
            <p:ph type="title"/>
          </p:nvPr>
        </p:nvSpPr>
        <p:spPr>
          <a:xfrm>
            <a:off x="856211" y="284176"/>
            <a:ext cx="10789920" cy="1508760"/>
          </a:xfrm>
        </p:spPr>
        <p:txBody>
          <a:bodyPr/>
          <a:lstStyle/>
          <a:p>
            <a:r>
              <a:rPr lang="en-US" b="1" dirty="0"/>
              <a:t>ER Model for purchasing a car</a:t>
            </a:r>
            <a:br>
              <a:rPr lang="en-US" b="1" dirty="0"/>
            </a:br>
            <a:endParaRPr lang="en-US" altLang="en-US" dirty="0"/>
          </a:p>
        </p:txBody>
      </p:sp>
      <p:sp>
        <p:nvSpPr>
          <p:cNvPr id="4100" name="Rectangle 20"/>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latin typeface="Arial" panose="020B0604020202020204" pitchFamily="34" charset="0"/>
            </a:endParaRPr>
          </a:p>
        </p:txBody>
      </p:sp>
      <p:sp>
        <p:nvSpPr>
          <p:cNvPr id="4101" name="Rectangle 22"/>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latin typeface="Arial" panose="020B0604020202020204" pitchFamily="34" charset="0"/>
            </a:endParaRPr>
          </a:p>
        </p:txBody>
      </p:sp>
      <p:grpSp>
        <p:nvGrpSpPr>
          <p:cNvPr id="4102" name="Group 23"/>
          <p:cNvGrpSpPr>
            <a:grpSpLocks/>
          </p:cNvGrpSpPr>
          <p:nvPr/>
        </p:nvGrpSpPr>
        <p:grpSpPr bwMode="auto">
          <a:xfrm>
            <a:off x="2658687" y="1812143"/>
            <a:ext cx="6934200" cy="3276600"/>
            <a:chOff x="1830" y="8225"/>
            <a:chExt cx="10050" cy="3824"/>
          </a:xfrm>
        </p:grpSpPr>
        <p:sp>
          <p:nvSpPr>
            <p:cNvPr id="4107" name="Text Box 24"/>
            <p:cNvSpPr txBox="1">
              <a:spLocks noChangeArrowheads="1"/>
            </p:cNvSpPr>
            <p:nvPr/>
          </p:nvSpPr>
          <p:spPr bwMode="auto">
            <a:xfrm>
              <a:off x="1830" y="8714"/>
              <a:ext cx="9570" cy="2571"/>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latin typeface="Arial" panose="020B0604020202020204" pitchFamily="34" charset="0"/>
              </a:endParaRPr>
            </a:p>
          </p:txBody>
        </p:sp>
        <p:sp>
          <p:nvSpPr>
            <p:cNvPr id="4108" name="Line 25"/>
            <p:cNvSpPr>
              <a:spLocks noChangeShapeType="1"/>
            </p:cNvSpPr>
            <p:nvPr/>
          </p:nvSpPr>
          <p:spPr bwMode="auto">
            <a:xfrm>
              <a:off x="5610" y="8533"/>
              <a:ext cx="3750" cy="0"/>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en-MY"/>
            </a:p>
          </p:txBody>
        </p:sp>
        <p:sp>
          <p:nvSpPr>
            <p:cNvPr id="4109" name="Line 26"/>
            <p:cNvSpPr>
              <a:spLocks noChangeShapeType="1"/>
            </p:cNvSpPr>
            <p:nvPr/>
          </p:nvSpPr>
          <p:spPr bwMode="auto">
            <a:xfrm>
              <a:off x="5640" y="8533"/>
              <a:ext cx="0" cy="530"/>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en-MY"/>
            </a:p>
          </p:txBody>
        </p:sp>
        <p:sp>
          <p:nvSpPr>
            <p:cNvPr id="4110" name="Line 27"/>
            <p:cNvSpPr>
              <a:spLocks noChangeShapeType="1"/>
            </p:cNvSpPr>
            <p:nvPr/>
          </p:nvSpPr>
          <p:spPr bwMode="auto">
            <a:xfrm>
              <a:off x="9330" y="8533"/>
              <a:ext cx="0" cy="353"/>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en-MY"/>
            </a:p>
          </p:txBody>
        </p:sp>
        <p:sp>
          <p:nvSpPr>
            <p:cNvPr id="4111" name="Text Box 28"/>
            <p:cNvSpPr txBox="1">
              <a:spLocks noChangeArrowheads="1"/>
            </p:cNvSpPr>
            <p:nvPr/>
          </p:nvSpPr>
          <p:spPr bwMode="auto">
            <a:xfrm>
              <a:off x="8640" y="8225"/>
              <a:ext cx="3000" cy="5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spcAft>
                  <a:spcPts val="1000"/>
                </a:spcAft>
                <a:buNone/>
              </a:pPr>
              <a:r>
                <a:rPr lang="en-US" altLang="en-US" sz="1000" b="1"/>
                <a:t>Perhubungan (</a:t>
              </a:r>
              <a:r>
                <a:rPr lang="en-US" altLang="en-US" sz="1000" b="1" i="1"/>
                <a:t>Relationship)</a:t>
              </a:r>
              <a:endParaRPr lang="en-US" altLang="en-US" sz="1800">
                <a:latin typeface="Arial" panose="020B0604020202020204" pitchFamily="34" charset="0"/>
              </a:endParaRPr>
            </a:p>
          </p:txBody>
        </p:sp>
        <p:grpSp>
          <p:nvGrpSpPr>
            <p:cNvPr id="4112" name="Group 29"/>
            <p:cNvGrpSpPr>
              <a:grpSpLocks/>
            </p:cNvGrpSpPr>
            <p:nvPr/>
          </p:nvGrpSpPr>
          <p:grpSpPr bwMode="auto">
            <a:xfrm>
              <a:off x="2610" y="10857"/>
              <a:ext cx="9270" cy="1192"/>
              <a:chOff x="2610" y="11753"/>
              <a:chExt cx="9270" cy="1192"/>
            </a:xfrm>
          </p:grpSpPr>
          <p:sp>
            <p:nvSpPr>
              <p:cNvPr id="4114" name="Text Box 30"/>
              <p:cNvSpPr txBox="1">
                <a:spLocks noChangeArrowheads="1"/>
              </p:cNvSpPr>
              <p:nvPr/>
            </p:nvSpPr>
            <p:spPr bwMode="auto">
              <a:xfrm>
                <a:off x="2610" y="11753"/>
                <a:ext cx="1560" cy="3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spcAft>
                    <a:spcPts val="1000"/>
                  </a:spcAft>
                  <a:buNone/>
                </a:pPr>
                <a:r>
                  <a:rPr lang="en-US" altLang="en-US" sz="1000" b="1"/>
                  <a:t>FACTORY</a:t>
                </a:r>
                <a:endParaRPr lang="en-US" altLang="en-US" sz="1800">
                  <a:latin typeface="Arial" panose="020B0604020202020204" pitchFamily="34" charset="0"/>
                </a:endParaRPr>
              </a:p>
            </p:txBody>
          </p:sp>
          <p:sp>
            <p:nvSpPr>
              <p:cNvPr id="4115" name="Text Box 31"/>
              <p:cNvSpPr txBox="1">
                <a:spLocks noChangeArrowheads="1"/>
              </p:cNvSpPr>
              <p:nvPr/>
            </p:nvSpPr>
            <p:spPr bwMode="auto">
              <a:xfrm>
                <a:off x="6960" y="11812"/>
                <a:ext cx="1560" cy="3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spcAft>
                    <a:spcPts val="1000"/>
                  </a:spcAft>
                  <a:buNone/>
                </a:pPr>
                <a:r>
                  <a:rPr lang="en-US" altLang="en-US" sz="1000" b="1"/>
                  <a:t>CAR</a:t>
                </a:r>
                <a:endParaRPr lang="en-US" altLang="en-US" sz="1800">
                  <a:latin typeface="Arial" panose="020B0604020202020204" pitchFamily="34" charset="0"/>
                </a:endParaRPr>
              </a:p>
            </p:txBody>
          </p:sp>
          <p:sp>
            <p:nvSpPr>
              <p:cNvPr id="4116" name="Text Box 32"/>
              <p:cNvSpPr txBox="1">
                <a:spLocks noChangeArrowheads="1"/>
              </p:cNvSpPr>
              <p:nvPr/>
            </p:nvSpPr>
            <p:spPr bwMode="auto">
              <a:xfrm>
                <a:off x="8235" y="11797"/>
                <a:ext cx="1560" cy="3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spcAft>
                    <a:spcPts val="1000"/>
                  </a:spcAft>
                  <a:buNone/>
                </a:pPr>
                <a:r>
                  <a:rPr lang="en-US" altLang="en-US" sz="1000" b="1"/>
                  <a:t>CUSTOMER</a:t>
                </a:r>
                <a:endParaRPr lang="en-US" altLang="en-US" sz="1800">
                  <a:latin typeface="Arial" panose="020B0604020202020204" pitchFamily="34" charset="0"/>
                </a:endParaRPr>
              </a:p>
            </p:txBody>
          </p:sp>
          <p:grpSp>
            <p:nvGrpSpPr>
              <p:cNvPr id="4117" name="Group 33"/>
              <p:cNvGrpSpPr>
                <a:grpSpLocks/>
              </p:cNvGrpSpPr>
              <p:nvPr/>
            </p:nvGrpSpPr>
            <p:grpSpPr bwMode="auto">
              <a:xfrm>
                <a:off x="3120" y="12135"/>
                <a:ext cx="7320" cy="545"/>
                <a:chOff x="3000" y="5760"/>
                <a:chExt cx="7320" cy="555"/>
              </a:xfrm>
            </p:grpSpPr>
            <p:sp>
              <p:nvSpPr>
                <p:cNvPr id="4119" name="Line 34"/>
                <p:cNvSpPr>
                  <a:spLocks noChangeShapeType="1"/>
                </p:cNvSpPr>
                <p:nvPr/>
              </p:nvSpPr>
              <p:spPr bwMode="auto">
                <a:xfrm>
                  <a:off x="3000" y="6300"/>
                  <a:ext cx="7320" cy="0"/>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en-MY"/>
                </a:p>
              </p:txBody>
            </p:sp>
            <p:sp>
              <p:nvSpPr>
                <p:cNvPr id="4120" name="Line 35"/>
                <p:cNvSpPr>
                  <a:spLocks noChangeShapeType="1"/>
                </p:cNvSpPr>
                <p:nvPr/>
              </p:nvSpPr>
              <p:spPr bwMode="auto">
                <a:xfrm flipV="1">
                  <a:off x="3015" y="5775"/>
                  <a:ext cx="0" cy="540"/>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en-MY"/>
                </a:p>
              </p:txBody>
            </p:sp>
            <p:sp>
              <p:nvSpPr>
                <p:cNvPr id="4121" name="Line 36"/>
                <p:cNvSpPr>
                  <a:spLocks noChangeShapeType="1"/>
                </p:cNvSpPr>
                <p:nvPr/>
              </p:nvSpPr>
              <p:spPr bwMode="auto">
                <a:xfrm flipV="1">
                  <a:off x="7215" y="5760"/>
                  <a:ext cx="0" cy="540"/>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en-MY"/>
                </a:p>
              </p:txBody>
            </p:sp>
            <p:sp>
              <p:nvSpPr>
                <p:cNvPr id="4122" name="Line 37"/>
                <p:cNvSpPr>
                  <a:spLocks noChangeShapeType="1"/>
                </p:cNvSpPr>
                <p:nvPr/>
              </p:nvSpPr>
              <p:spPr bwMode="auto">
                <a:xfrm flipV="1">
                  <a:off x="10290" y="5775"/>
                  <a:ext cx="0" cy="540"/>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en-MY"/>
                </a:p>
              </p:txBody>
            </p:sp>
          </p:grpSp>
          <p:sp>
            <p:nvSpPr>
              <p:cNvPr id="4118" name="Text Box 38"/>
              <p:cNvSpPr txBox="1">
                <a:spLocks noChangeArrowheads="1"/>
              </p:cNvSpPr>
              <p:nvPr/>
            </p:nvSpPr>
            <p:spPr bwMode="auto">
              <a:xfrm>
                <a:off x="10440" y="12415"/>
                <a:ext cx="1440" cy="5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spcAft>
                    <a:spcPts val="1000"/>
                  </a:spcAft>
                  <a:buNone/>
                </a:pPr>
                <a:r>
                  <a:rPr lang="en-US" altLang="en-US" sz="1000" b="1" i="1"/>
                  <a:t>Entity</a:t>
                </a:r>
                <a:endParaRPr lang="en-US" altLang="en-US" sz="1800">
                  <a:latin typeface="Arial" panose="020B0604020202020204" pitchFamily="34" charset="0"/>
                </a:endParaRPr>
              </a:p>
            </p:txBody>
          </p:sp>
        </p:grpSp>
        <p:sp>
          <p:nvSpPr>
            <p:cNvPr id="4113" name="Rectangle 39"/>
            <p:cNvSpPr>
              <a:spLocks noChangeArrowheads="1"/>
            </p:cNvSpPr>
            <p:nvPr/>
          </p:nvSpPr>
          <p:spPr bwMode="auto">
            <a:xfrm>
              <a:off x="1830" y="8228"/>
              <a:ext cx="9570" cy="3717"/>
            </a:xfrm>
            <a:prstGeom prst="rect">
              <a:avLst/>
            </a:prstGeom>
            <a:noFill/>
            <a:ln w="57150" cmpd="thickThin">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latin typeface="Arial" panose="020B0604020202020204" pitchFamily="34" charset="0"/>
              </a:endParaRPr>
            </a:p>
          </p:txBody>
        </p:sp>
      </p:grpSp>
      <p:graphicFrame>
        <p:nvGraphicFramePr>
          <p:cNvPr id="4103" name="Object 21"/>
          <p:cNvGraphicFramePr>
            <a:graphicFrameLocks noChangeAspect="1"/>
          </p:cNvGraphicFramePr>
          <p:nvPr>
            <p:extLst>
              <p:ext uri="{D42A27DB-BD31-4B8C-83A1-F6EECF244321}">
                <p14:modId xmlns:p14="http://schemas.microsoft.com/office/powerpoint/2010/main" val="1794532071"/>
              </p:ext>
            </p:extLst>
          </p:nvPr>
        </p:nvGraphicFramePr>
        <p:xfrm>
          <a:off x="3111007" y="2506839"/>
          <a:ext cx="5715000" cy="1562100"/>
        </p:xfrm>
        <a:graphic>
          <a:graphicData uri="http://schemas.openxmlformats.org/presentationml/2006/ole">
            <mc:AlternateContent xmlns:mc="http://schemas.openxmlformats.org/markup-compatibility/2006">
              <mc:Choice xmlns:v="urn:schemas-microsoft-com:vml" Requires="v">
                <p:oleObj r:id="rId2" imgW="5718320" imgH="1563007" progId="">
                  <p:embed/>
                </p:oleObj>
              </mc:Choice>
              <mc:Fallback>
                <p:oleObj r:id="rId2" imgW="5718320" imgH="1563007" progId="">
                  <p:embed/>
                  <p:pic>
                    <p:nvPicPr>
                      <p:cNvPr id="4103" name="Object 2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11007" y="2506839"/>
                        <a:ext cx="5715000" cy="156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4" name="TextBox 43"/>
          <p:cNvSpPr txBox="1"/>
          <p:nvPr/>
        </p:nvSpPr>
        <p:spPr>
          <a:xfrm>
            <a:off x="0" y="5035769"/>
            <a:ext cx="12191999" cy="1508105"/>
          </a:xfrm>
          <a:prstGeom prst="rect">
            <a:avLst/>
          </a:prstGeom>
          <a:solidFill>
            <a:srgbClr val="FFC000"/>
          </a:solidFill>
        </p:spPr>
        <p:style>
          <a:lnRef idx="1">
            <a:schemeClr val="accent6"/>
          </a:lnRef>
          <a:fillRef idx="2">
            <a:schemeClr val="accent6"/>
          </a:fillRef>
          <a:effectRef idx="1">
            <a:schemeClr val="accent6"/>
          </a:effectRef>
          <a:fontRef idx="minor">
            <a:schemeClr val="dk1"/>
          </a:fontRef>
        </p:style>
        <p:txBody>
          <a:bodyPr wrap="square">
            <a:spAutoFit/>
          </a:bodyPr>
          <a:lstStyle/>
          <a:p>
            <a:pPr eaLnBrk="1" hangingPunct="1">
              <a:defRPr/>
            </a:pPr>
            <a:r>
              <a:rPr lang="en-GB" sz="2000" dirty="0"/>
              <a:t>The diagram above shows a car-purchasing model that involves the relationship between the factory, car and customer. Here, we can see clearly that factory produces car and a customer purchases the car.</a:t>
            </a:r>
            <a:endParaRPr lang="en-US" sz="2000" dirty="0"/>
          </a:p>
          <a:p>
            <a:pPr eaLnBrk="1" hangingPunct="1">
              <a:defRPr/>
            </a:pPr>
            <a:r>
              <a:rPr lang="en-GB" sz="2000" dirty="0"/>
              <a:t>Entity: </a:t>
            </a:r>
            <a:r>
              <a:rPr lang="en-GB" sz="2000" b="1" u="sng" dirty="0"/>
              <a:t>FACTORY, CAR &amp; CUSTOMER.</a:t>
            </a:r>
            <a:endParaRPr lang="en-US" sz="2000" b="1" u="sng" dirty="0"/>
          </a:p>
          <a:p>
            <a:pPr eaLnBrk="1" hangingPunct="1">
              <a:defRPr/>
            </a:pPr>
            <a:r>
              <a:rPr lang="en-GB" sz="2000" dirty="0"/>
              <a:t>Relationship: </a:t>
            </a:r>
            <a:r>
              <a:rPr lang="en-GB" sz="2000" b="1" u="sng" dirty="0"/>
              <a:t>Produce &amp; Purchased by.</a:t>
            </a:r>
            <a:endParaRPr lang="en-US" sz="2000" b="1" u="sng" dirty="0"/>
          </a:p>
          <a:p>
            <a:pPr eaLnBrk="1" hangingPunct="1">
              <a:defRPr/>
            </a:pPr>
            <a:endParaRPr lang="en-US" sz="1200" dirty="0"/>
          </a:p>
        </p:txBody>
      </p:sp>
    </p:spTree>
    <p:extLst>
      <p:ext uri="{BB962C8B-B14F-4D97-AF65-F5344CB8AC3E}">
        <p14:creationId xmlns:p14="http://schemas.microsoft.com/office/powerpoint/2010/main" val="5671328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Rectangle 2"/>
          <p:cNvSpPr>
            <a:spLocks noGrp="1" noChangeArrowheads="1"/>
          </p:cNvSpPr>
          <p:nvPr>
            <p:ph type="title"/>
          </p:nvPr>
        </p:nvSpPr>
        <p:spPr>
          <a:xfrm>
            <a:off x="3749040" y="245040"/>
            <a:ext cx="7963593" cy="1450757"/>
          </a:xfrm>
        </p:spPr>
        <p:txBody>
          <a:bodyPr>
            <a:normAutofit fontScale="90000"/>
          </a:bodyPr>
          <a:lstStyle/>
          <a:p>
            <a:r>
              <a:rPr lang="ms-MY" sz="5867" dirty="0"/>
              <a:t>Entity Relationship Diagram (ER-D)</a:t>
            </a:r>
            <a:endParaRPr lang="en-MY" sz="5867" dirty="0"/>
          </a:p>
        </p:txBody>
      </p:sp>
      <p:sp>
        <p:nvSpPr>
          <p:cNvPr id="7171" name="Rectangle 3"/>
          <p:cNvSpPr>
            <a:spLocks noGrp="1" noChangeArrowheads="1"/>
          </p:cNvSpPr>
          <p:nvPr>
            <p:ph idx="1"/>
          </p:nvPr>
        </p:nvSpPr>
        <p:spPr>
          <a:xfrm>
            <a:off x="3674225" y="1964750"/>
            <a:ext cx="7680960" cy="2715318"/>
          </a:xfrm>
        </p:spPr>
        <p:txBody>
          <a:bodyPr>
            <a:normAutofit/>
          </a:bodyPr>
          <a:lstStyle/>
          <a:p>
            <a:pPr>
              <a:buFont typeface="Arial" panose="020B0604020202020204" pitchFamily="34" charset="0"/>
              <a:buChar char="•"/>
            </a:pPr>
            <a:r>
              <a:rPr lang="ms-MY" sz="2800" dirty="0"/>
              <a:t>An entity-relationship (ER) diagram is a specialized graphic that illustrates the interrelationships between entities in a database. </a:t>
            </a:r>
          </a:p>
          <a:p>
            <a:pPr>
              <a:buFont typeface="Arial" panose="020B0604020202020204" pitchFamily="34" charset="0"/>
              <a:buChar char="•"/>
            </a:pPr>
            <a:r>
              <a:rPr lang="ms-MY" sz="2800" dirty="0"/>
              <a:t>ER diagram represent entity types and relationships among them. </a:t>
            </a:r>
          </a:p>
        </p:txBody>
      </p:sp>
      <p:pic>
        <p:nvPicPr>
          <p:cNvPr id="4" name="Picture 2" descr="5 Best Books to learn SQL and Database design in 2022 | by javinpaul |  Javarevisited | Mediu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1"/>
            <a:ext cx="3603567" cy="63218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551840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Rectangle 2"/>
          <p:cNvSpPr>
            <a:spLocks noGrp="1" noChangeArrowheads="1"/>
          </p:cNvSpPr>
          <p:nvPr>
            <p:ph type="title"/>
          </p:nvPr>
        </p:nvSpPr>
        <p:spPr>
          <a:xfrm>
            <a:off x="3749040" y="245040"/>
            <a:ext cx="7963593" cy="1450757"/>
          </a:xfrm>
        </p:spPr>
        <p:txBody>
          <a:bodyPr>
            <a:normAutofit/>
          </a:bodyPr>
          <a:lstStyle/>
          <a:p>
            <a:r>
              <a:rPr lang="ms-MY" sz="5867" dirty="0"/>
              <a:t>Uses of ER-Diagram</a:t>
            </a:r>
            <a:endParaRPr lang="en-MY" sz="5867" dirty="0"/>
          </a:p>
        </p:txBody>
      </p:sp>
      <p:sp>
        <p:nvSpPr>
          <p:cNvPr id="7171" name="Rectangle 3"/>
          <p:cNvSpPr>
            <a:spLocks noGrp="1" noChangeArrowheads="1"/>
          </p:cNvSpPr>
          <p:nvPr>
            <p:ph idx="1"/>
          </p:nvPr>
        </p:nvSpPr>
        <p:spPr>
          <a:xfrm>
            <a:off x="3674225" y="1964750"/>
            <a:ext cx="8038408" cy="2715318"/>
          </a:xfrm>
        </p:spPr>
        <p:txBody>
          <a:bodyPr>
            <a:noAutofit/>
          </a:bodyPr>
          <a:lstStyle/>
          <a:p>
            <a:pPr>
              <a:buFont typeface="Arial" panose="020B0604020202020204" pitchFamily="34" charset="0"/>
              <a:buChar char="•"/>
            </a:pPr>
            <a:r>
              <a:rPr lang="en-US" sz="2800" dirty="0"/>
              <a:t>ER diagrams are used to model and design relational databases, in terms of logic and business rules (in a logical data model) and in terms of the specific technology to be implemented (in a physical data model.)</a:t>
            </a:r>
          </a:p>
          <a:p>
            <a:pPr>
              <a:buFont typeface="Arial" panose="020B0604020202020204" pitchFamily="34" charset="0"/>
              <a:buChar char="•"/>
            </a:pPr>
            <a:r>
              <a:rPr lang="en-US" sz="2800" dirty="0"/>
              <a:t> ER diagrams are used to analyze existing databases to find and resolve problems in logic or deployment. </a:t>
            </a:r>
          </a:p>
          <a:p>
            <a:pPr>
              <a:buFont typeface="Arial" panose="020B0604020202020204" pitchFamily="34" charset="0"/>
              <a:buChar char="•"/>
            </a:pPr>
            <a:r>
              <a:rPr lang="en-US" sz="2800" dirty="0"/>
              <a:t>The diagrams are used to design or analyze relational databases used in business processes.</a:t>
            </a:r>
            <a:endParaRPr lang="ms-MY" sz="2800" dirty="0"/>
          </a:p>
        </p:txBody>
      </p:sp>
      <p:pic>
        <p:nvPicPr>
          <p:cNvPr id="4" name="Picture 2" descr="5 Best Books to learn SQL and Database design in 2022 | by javinpaul |  Javarevisited | Mediu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1"/>
            <a:ext cx="3603567" cy="63218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431139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Rectangle 2"/>
          <p:cNvSpPr>
            <a:spLocks noGrp="1" noChangeArrowheads="1"/>
          </p:cNvSpPr>
          <p:nvPr>
            <p:ph type="title"/>
          </p:nvPr>
        </p:nvSpPr>
        <p:spPr>
          <a:xfrm>
            <a:off x="1188720" y="284176"/>
            <a:ext cx="10673541" cy="1508760"/>
          </a:xfrm>
        </p:spPr>
        <p:txBody>
          <a:bodyPr>
            <a:normAutofit/>
          </a:bodyPr>
          <a:lstStyle/>
          <a:p>
            <a:r>
              <a:rPr lang="ms-MY" sz="5867" dirty="0"/>
              <a:t>Entity Relationship Diagram (ERD)</a:t>
            </a:r>
            <a:endParaRPr lang="en-MY" sz="5867" dirty="0"/>
          </a:p>
        </p:txBody>
      </p:sp>
      <p:sp>
        <p:nvSpPr>
          <p:cNvPr id="7171" name="Rectangle 3"/>
          <p:cNvSpPr>
            <a:spLocks noGrp="1" noChangeArrowheads="1"/>
          </p:cNvSpPr>
          <p:nvPr>
            <p:ph idx="1"/>
          </p:nvPr>
        </p:nvSpPr>
        <p:spPr>
          <a:xfrm>
            <a:off x="1188720" y="1685840"/>
            <a:ext cx="10201659" cy="4530725"/>
          </a:xfrm>
        </p:spPr>
        <p:txBody>
          <a:bodyPr>
            <a:normAutofit/>
          </a:bodyPr>
          <a:lstStyle/>
          <a:p>
            <a:r>
              <a:rPr lang="ms-MY" sz="2800" dirty="0">
                <a:latin typeface="+mj-lt"/>
              </a:rPr>
              <a:t>ER diagrams often use symbols to represent three different types of information. </a:t>
            </a:r>
          </a:p>
          <a:p>
            <a:r>
              <a:rPr lang="en-US" sz="2800" dirty="0">
                <a:latin typeface="+mj-lt"/>
              </a:rPr>
              <a:t>3 Elements of  ERD : </a:t>
            </a:r>
          </a:p>
          <a:p>
            <a:pPr marL="1028700" lvl="2" indent="-571500">
              <a:spcAft>
                <a:spcPts val="0"/>
              </a:spcAft>
              <a:buFont typeface="+mj-lt"/>
              <a:buAutoNum type="romanLcPeriod"/>
              <a:defRPr/>
            </a:pPr>
            <a:r>
              <a:rPr lang="en-US" sz="2800" b="1" dirty="0">
                <a:latin typeface="+mj-lt"/>
              </a:rPr>
              <a:t>ENTITY</a:t>
            </a:r>
          </a:p>
          <a:p>
            <a:pPr marL="1028700" lvl="2" indent="-571500">
              <a:spcAft>
                <a:spcPts val="0"/>
              </a:spcAft>
              <a:buFont typeface="+mj-lt"/>
              <a:buAutoNum type="romanLcPeriod"/>
              <a:defRPr/>
            </a:pPr>
            <a:r>
              <a:rPr lang="en-US" sz="2800" b="1" dirty="0">
                <a:latin typeface="+mj-lt"/>
              </a:rPr>
              <a:t>ATTRIBUTE</a:t>
            </a:r>
          </a:p>
          <a:p>
            <a:pPr marL="1028700" lvl="2" indent="-571500">
              <a:spcAft>
                <a:spcPts val="0"/>
              </a:spcAft>
              <a:buFont typeface="+mj-lt"/>
              <a:buAutoNum type="romanLcPeriod"/>
              <a:defRPr/>
            </a:pPr>
            <a:r>
              <a:rPr lang="en-US" sz="2800" b="1" dirty="0">
                <a:latin typeface="+mj-lt"/>
              </a:rPr>
              <a:t>RELATIONSHIP</a:t>
            </a:r>
            <a:endParaRPr lang="ms-MY" sz="2800" dirty="0">
              <a:latin typeface="+mj-lt"/>
            </a:endParaRPr>
          </a:p>
          <a:p>
            <a:r>
              <a:rPr lang="ms-MY" sz="2800" b="1" dirty="0">
                <a:solidFill>
                  <a:schemeClr val="tx1"/>
                </a:solidFill>
                <a:latin typeface="+mj-lt"/>
              </a:rPr>
              <a:t>Boxes/ Rectangle </a:t>
            </a:r>
            <a:r>
              <a:rPr lang="ms-MY" sz="2800" dirty="0">
                <a:solidFill>
                  <a:schemeClr val="tx1"/>
                </a:solidFill>
                <a:latin typeface="+mj-lt"/>
              </a:rPr>
              <a:t>are commonly used to represent entities. </a:t>
            </a:r>
          </a:p>
          <a:p>
            <a:r>
              <a:rPr lang="ms-MY" sz="2800" b="1" dirty="0">
                <a:solidFill>
                  <a:schemeClr val="tx1"/>
                </a:solidFill>
                <a:latin typeface="+mj-lt"/>
              </a:rPr>
              <a:t>Diamonds</a:t>
            </a:r>
            <a:r>
              <a:rPr lang="ms-MY" sz="2800" dirty="0">
                <a:solidFill>
                  <a:schemeClr val="tx1"/>
                </a:solidFill>
                <a:latin typeface="+mj-lt"/>
              </a:rPr>
              <a:t> are normally used to represent relationships, and </a:t>
            </a:r>
          </a:p>
          <a:p>
            <a:r>
              <a:rPr lang="ms-MY" sz="2800" b="1" dirty="0">
                <a:solidFill>
                  <a:schemeClr val="tx1"/>
                </a:solidFill>
                <a:latin typeface="+mj-lt"/>
              </a:rPr>
              <a:t>Ovals</a:t>
            </a:r>
            <a:r>
              <a:rPr lang="ms-MY" sz="2800" dirty="0">
                <a:solidFill>
                  <a:schemeClr val="tx1"/>
                </a:solidFill>
                <a:latin typeface="+mj-lt"/>
              </a:rPr>
              <a:t> are used to represent attributes. </a:t>
            </a:r>
          </a:p>
        </p:txBody>
      </p:sp>
      <p:sp>
        <p:nvSpPr>
          <p:cNvPr id="4" name="Diamond 3">
            <a:extLst>
              <a:ext uri="{FF2B5EF4-FFF2-40B4-BE49-F238E27FC236}">
                <a16:creationId xmlns:a16="http://schemas.microsoft.com/office/drawing/2014/main" id="{C584CEB2-2271-4B97-8434-73AF62A2A615}"/>
              </a:ext>
            </a:extLst>
          </p:cNvPr>
          <p:cNvSpPr/>
          <p:nvPr/>
        </p:nvSpPr>
        <p:spPr>
          <a:xfrm>
            <a:off x="11033215" y="4872416"/>
            <a:ext cx="864096" cy="768085"/>
          </a:xfrm>
          <a:prstGeom prst="diamon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sz="2400"/>
          </a:p>
        </p:txBody>
      </p:sp>
      <p:sp>
        <p:nvSpPr>
          <p:cNvPr id="5" name="Rectangle 4">
            <a:extLst>
              <a:ext uri="{FF2B5EF4-FFF2-40B4-BE49-F238E27FC236}">
                <a16:creationId xmlns:a16="http://schemas.microsoft.com/office/drawing/2014/main" id="{BBE54EFA-A41F-42C2-B3A8-BD006956834E}"/>
              </a:ext>
            </a:extLst>
          </p:cNvPr>
          <p:cNvSpPr/>
          <p:nvPr/>
        </p:nvSpPr>
        <p:spPr>
          <a:xfrm flipV="1">
            <a:off x="10985139" y="4300119"/>
            <a:ext cx="960107" cy="46917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sz="2400"/>
          </a:p>
        </p:txBody>
      </p:sp>
      <p:sp>
        <p:nvSpPr>
          <p:cNvPr id="6" name="Oval 5">
            <a:extLst>
              <a:ext uri="{FF2B5EF4-FFF2-40B4-BE49-F238E27FC236}">
                <a16:creationId xmlns:a16="http://schemas.microsoft.com/office/drawing/2014/main" id="{7E8DD6D1-FBD2-4A09-9463-D0790916906A}"/>
              </a:ext>
            </a:extLst>
          </p:cNvPr>
          <p:cNvSpPr/>
          <p:nvPr/>
        </p:nvSpPr>
        <p:spPr>
          <a:xfrm>
            <a:off x="10938183" y="5692064"/>
            <a:ext cx="994320" cy="57606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sz="2400"/>
          </a:p>
        </p:txBody>
      </p:sp>
    </p:spTree>
    <p:extLst>
      <p:ext uri="{BB962C8B-B14F-4D97-AF65-F5344CB8AC3E}">
        <p14:creationId xmlns:p14="http://schemas.microsoft.com/office/powerpoint/2010/main" val="9815377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MY" sz="3200" dirty="0"/>
              <a:t>Details for Entity Relationship Diagram Symbols. Professional ERD Drawing :</a:t>
            </a:r>
          </a:p>
          <a:p>
            <a:r>
              <a:rPr lang="en-US" sz="3200" dirty="0">
                <a:hlinkClick r:id="rId2"/>
              </a:rPr>
              <a:t>http://www.conceptdraw.com/How-To-Guide/erd-entity-relationship-diagram-symbols</a:t>
            </a:r>
            <a:endParaRPr lang="en-US" sz="3200" dirty="0"/>
          </a:p>
          <a:p>
            <a:endParaRPr lang="en-MY" sz="3200" dirty="0"/>
          </a:p>
          <a:p>
            <a:r>
              <a:rPr lang="en-MY" sz="3200" dirty="0">
                <a:hlinkClick r:id="rId3"/>
              </a:rPr>
              <a:t>http://www.conceptdraw.com/diagram/er-diagram-of-a-bank-business-scenario</a:t>
            </a:r>
            <a:endParaRPr lang="en-MY" sz="3200" dirty="0"/>
          </a:p>
          <a:p>
            <a:endParaRPr lang="en-MY" dirty="0"/>
          </a:p>
        </p:txBody>
      </p:sp>
    </p:spTree>
    <p:extLst>
      <p:ext uri="{BB962C8B-B14F-4D97-AF65-F5344CB8AC3E}">
        <p14:creationId xmlns:p14="http://schemas.microsoft.com/office/powerpoint/2010/main" val="9698700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p:txBody>
          <a:bodyPr>
            <a:normAutofit/>
          </a:bodyPr>
          <a:lstStyle/>
          <a:p>
            <a:pPr marL="531271" indent="-531271">
              <a:lnSpc>
                <a:spcPct val="80000"/>
              </a:lnSpc>
            </a:pPr>
            <a:r>
              <a:rPr lang="en-US" dirty="0"/>
              <a:t>ER Notations</a:t>
            </a:r>
          </a:p>
        </p:txBody>
      </p:sp>
      <p:sp>
        <p:nvSpPr>
          <p:cNvPr id="38915" name="Rectangle 3"/>
          <p:cNvSpPr>
            <a:spLocks noGrp="1" noChangeArrowheads="1"/>
          </p:cNvSpPr>
          <p:nvPr>
            <p:ph idx="1"/>
          </p:nvPr>
        </p:nvSpPr>
        <p:spPr>
          <a:xfrm>
            <a:off x="508000" y="2200895"/>
            <a:ext cx="8534400" cy="4530725"/>
          </a:xfrm>
        </p:spPr>
        <p:txBody>
          <a:bodyPr>
            <a:normAutofit/>
          </a:bodyPr>
          <a:lstStyle/>
          <a:p>
            <a:pPr marL="1547245" lvl="1" indent="-863578">
              <a:lnSpc>
                <a:spcPct val="80000"/>
              </a:lnSpc>
            </a:pPr>
            <a:r>
              <a:rPr lang="en-US" sz="5867" b="1" dirty="0">
                <a:solidFill>
                  <a:srgbClr val="C00000"/>
                </a:solidFill>
              </a:rPr>
              <a:t>Chen notation </a:t>
            </a:r>
            <a:r>
              <a:rPr lang="en-US" sz="5867" dirty="0"/>
              <a:t>- by</a:t>
            </a:r>
            <a:r>
              <a:rPr lang="en-US" sz="5867" b="1" dirty="0"/>
              <a:t> </a:t>
            </a:r>
            <a:r>
              <a:rPr lang="en-US" sz="5867" dirty="0"/>
              <a:t>Peter Chen</a:t>
            </a:r>
          </a:p>
          <a:p>
            <a:pPr marL="1547245" lvl="1" indent="-863578">
              <a:lnSpc>
                <a:spcPct val="80000"/>
              </a:lnSpc>
            </a:pPr>
            <a:r>
              <a:rPr lang="en-US" sz="5867" b="1" dirty="0">
                <a:solidFill>
                  <a:srgbClr val="C00000"/>
                </a:solidFill>
              </a:rPr>
              <a:t>Crow’s Foot Notation </a:t>
            </a:r>
            <a:r>
              <a:rPr lang="en-US" sz="5867" b="1" dirty="0"/>
              <a:t>- </a:t>
            </a:r>
            <a:r>
              <a:rPr lang="en-US" sz="5867" dirty="0"/>
              <a:t>developed by Gordon Everest</a:t>
            </a:r>
          </a:p>
          <a:p>
            <a:pPr marL="1153555" lvl="1" indent="-469888">
              <a:lnSpc>
                <a:spcPct val="80000"/>
              </a:lnSpc>
            </a:pPr>
            <a:endParaRPr lang="en-US" sz="5867" dirty="0"/>
          </a:p>
        </p:txBody>
      </p:sp>
      <p:pic>
        <p:nvPicPr>
          <p:cNvPr id="38916" name="Picture 4"/>
          <p:cNvPicPr>
            <a:picLocks noChangeAspect="1" noChangeArrowheads="1"/>
          </p:cNvPicPr>
          <p:nvPr/>
        </p:nvPicPr>
        <p:blipFill>
          <a:blip r:embed="rId2">
            <a:extLst>
              <a:ext uri="{28A0092B-C50C-407E-A947-70E740481C1C}">
                <a14:useLocalDpi xmlns:a14="http://schemas.microsoft.com/office/drawing/2010/main" val="0"/>
              </a:ext>
            </a:extLst>
          </a:blip>
          <a:srcRect l="72656" t="20833" r="12500" b="54167"/>
          <a:stretch>
            <a:fillRect/>
          </a:stretch>
        </p:blipFill>
        <p:spPr bwMode="auto">
          <a:xfrm>
            <a:off x="9042400" y="1524000"/>
            <a:ext cx="2675467" cy="2438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8917" name="Picture 5"/>
          <p:cNvPicPr>
            <a:picLocks noChangeAspect="1" noChangeArrowheads="1"/>
          </p:cNvPicPr>
          <p:nvPr/>
        </p:nvPicPr>
        <p:blipFill>
          <a:blip r:embed="rId3">
            <a:extLst>
              <a:ext uri="{28A0092B-C50C-407E-A947-70E740481C1C}">
                <a14:useLocalDpi xmlns:a14="http://schemas.microsoft.com/office/drawing/2010/main" val="0"/>
              </a:ext>
            </a:extLst>
          </a:blip>
          <a:srcRect l="50781" t="39583" r="28906" b="25000"/>
          <a:stretch>
            <a:fillRect/>
          </a:stretch>
        </p:blipFill>
        <p:spPr bwMode="auto">
          <a:xfrm>
            <a:off x="9144000" y="4038600"/>
            <a:ext cx="2641600" cy="2590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0296155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MY" dirty="0"/>
              <a:t>Entity</a:t>
            </a:r>
          </a:p>
        </p:txBody>
      </p:sp>
      <p:sp>
        <p:nvSpPr>
          <p:cNvPr id="3" name="Content Placeholder 2"/>
          <p:cNvSpPr>
            <a:spLocks noGrp="1"/>
          </p:cNvSpPr>
          <p:nvPr>
            <p:ph idx="1"/>
          </p:nvPr>
        </p:nvSpPr>
        <p:spPr/>
        <p:txBody>
          <a:bodyPr>
            <a:noAutofit/>
          </a:bodyPr>
          <a:lstStyle/>
          <a:p>
            <a:pPr>
              <a:buFont typeface="Arial" panose="020B0604020202020204" pitchFamily="34" charset="0"/>
              <a:buChar char="•"/>
            </a:pPr>
            <a:r>
              <a:rPr lang="en-MY" sz="2800" dirty="0">
                <a:solidFill>
                  <a:schemeClr val="tx1"/>
                </a:solidFill>
              </a:rPr>
              <a:t>An </a:t>
            </a:r>
            <a:r>
              <a:rPr lang="en-MY" sz="2800" b="1" i="1" dirty="0">
                <a:solidFill>
                  <a:schemeClr val="tx1"/>
                </a:solidFill>
              </a:rPr>
              <a:t>entity </a:t>
            </a:r>
            <a:r>
              <a:rPr lang="en-MY" sz="2800" dirty="0">
                <a:solidFill>
                  <a:schemeClr val="tx1"/>
                </a:solidFill>
              </a:rPr>
              <a:t>is an object that exists and which is distinguishable from other objects. An entity can be a person, a place, an object, an event, or a concept about which an organization wishes to maintain data. </a:t>
            </a:r>
          </a:p>
          <a:p>
            <a:pPr>
              <a:buFont typeface="Arial" panose="020B0604020202020204" pitchFamily="34" charset="0"/>
              <a:buChar char="•"/>
            </a:pPr>
            <a:r>
              <a:rPr lang="en-MY" sz="2800" dirty="0">
                <a:solidFill>
                  <a:schemeClr val="tx1"/>
                </a:solidFill>
              </a:rPr>
              <a:t>In both the Chen and Crow’s Foot notations, an entity is represented by a rectangle containing the entity’s name. </a:t>
            </a:r>
          </a:p>
          <a:p>
            <a:endParaRPr lang="en-MY" sz="2800" dirty="0">
              <a:solidFill>
                <a:schemeClr val="tx1"/>
              </a:solidFill>
            </a:endParaRPr>
          </a:p>
        </p:txBody>
      </p:sp>
    </p:spTree>
    <p:extLst>
      <p:ext uri="{BB962C8B-B14F-4D97-AF65-F5344CB8AC3E}">
        <p14:creationId xmlns:p14="http://schemas.microsoft.com/office/powerpoint/2010/main" val="30605749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Entity</a:t>
            </a:r>
            <a:br>
              <a:rPr lang="en-US" dirty="0"/>
            </a:br>
            <a:endParaRPr lang="en-MY" sz="4800" dirty="0"/>
          </a:p>
        </p:txBody>
      </p:sp>
      <p:sp>
        <p:nvSpPr>
          <p:cNvPr id="3" name="Content Placeholder 2"/>
          <p:cNvSpPr>
            <a:spLocks noGrp="1"/>
          </p:cNvSpPr>
          <p:nvPr>
            <p:ph idx="1"/>
          </p:nvPr>
        </p:nvSpPr>
        <p:spPr/>
        <p:txBody>
          <a:bodyPr>
            <a:normAutofit/>
          </a:bodyPr>
          <a:lstStyle/>
          <a:p>
            <a:pPr marL="201168" lvl="1" indent="0">
              <a:buNone/>
            </a:pPr>
            <a:r>
              <a:rPr lang="en-MY" sz="2800" dirty="0">
                <a:solidFill>
                  <a:schemeClr val="tx1"/>
                </a:solidFill>
              </a:rPr>
              <a:t>The entity name, a noun, is usually written in all capital letters.</a:t>
            </a:r>
          </a:p>
          <a:p>
            <a:r>
              <a:rPr lang="en-MY" sz="2800" dirty="0">
                <a:solidFill>
                  <a:schemeClr val="tx1"/>
                </a:solidFill>
              </a:rPr>
              <a:t>  The following are some examples of entities:</a:t>
            </a:r>
          </a:p>
          <a:p>
            <a:pPr marL="533387" lvl="1" indent="0">
              <a:buNone/>
            </a:pPr>
            <a:r>
              <a:rPr lang="en-MY" sz="2800" dirty="0">
                <a:solidFill>
                  <a:srgbClr val="0070C0"/>
                </a:solidFill>
              </a:rPr>
              <a:t>Person: STUDENT, EMPLOYEE, CLIENT</a:t>
            </a:r>
          </a:p>
          <a:p>
            <a:pPr marL="533387" lvl="1" indent="0">
              <a:buNone/>
            </a:pPr>
            <a:r>
              <a:rPr lang="en-MY" sz="2800" dirty="0">
                <a:solidFill>
                  <a:srgbClr val="0070C0"/>
                </a:solidFill>
              </a:rPr>
              <a:t>Object: COUCH, AIRPLANE, MACHINE</a:t>
            </a:r>
          </a:p>
          <a:p>
            <a:pPr marL="533387" lvl="1" indent="0">
              <a:buNone/>
            </a:pPr>
            <a:r>
              <a:rPr lang="en-MY" sz="2800" dirty="0">
                <a:solidFill>
                  <a:srgbClr val="0070C0"/>
                </a:solidFill>
              </a:rPr>
              <a:t>Place: CITY, NATIONAL PARK, ROOM, WAREHOUSE</a:t>
            </a:r>
          </a:p>
          <a:p>
            <a:pPr marL="533387" lvl="1" indent="0">
              <a:buNone/>
            </a:pPr>
            <a:r>
              <a:rPr lang="en-MY" sz="2800" dirty="0">
                <a:solidFill>
                  <a:srgbClr val="0070C0"/>
                </a:solidFill>
              </a:rPr>
              <a:t>Event: WAR, MARRIAGE, LEASE</a:t>
            </a:r>
          </a:p>
          <a:p>
            <a:pPr marL="533387" lvl="1" indent="0">
              <a:buNone/>
            </a:pPr>
            <a:r>
              <a:rPr lang="en-MY" sz="2800" dirty="0">
                <a:solidFill>
                  <a:srgbClr val="0070C0"/>
                </a:solidFill>
              </a:rPr>
              <a:t>Concept: PROJECT, ACCOUNT, COURSE</a:t>
            </a:r>
          </a:p>
          <a:p>
            <a:pPr lvl="1"/>
            <a:endParaRPr lang="en-MY" sz="2800" dirty="0"/>
          </a:p>
        </p:txBody>
      </p:sp>
    </p:spTree>
    <p:extLst>
      <p:ext uri="{BB962C8B-B14F-4D97-AF65-F5344CB8AC3E}">
        <p14:creationId xmlns:p14="http://schemas.microsoft.com/office/powerpoint/2010/main" val="25140002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5" name="Content Placeholder 2"/>
          <p:cNvSpPr>
            <a:spLocks noGrp="1"/>
          </p:cNvSpPr>
          <p:nvPr>
            <p:ph idx="1"/>
          </p:nvPr>
        </p:nvSpPr>
        <p:spPr>
          <a:xfrm>
            <a:off x="1197033" y="1854047"/>
            <a:ext cx="10058400" cy="4023360"/>
          </a:xfrm>
        </p:spPr>
        <p:txBody>
          <a:bodyPr>
            <a:normAutofit/>
          </a:bodyPr>
          <a:lstStyle/>
          <a:p>
            <a:pPr marL="0" indent="0">
              <a:buNone/>
            </a:pPr>
            <a:r>
              <a:rPr lang="en-US" altLang="en-US" sz="3600" dirty="0"/>
              <a:t>Which of the following are likely to be entities?</a:t>
            </a:r>
          </a:p>
          <a:p>
            <a:pPr marL="0" indent="0">
              <a:buNone/>
            </a:pPr>
            <a:r>
              <a:rPr lang="en-US" altLang="en-US" sz="3600" dirty="0"/>
              <a:t>1. Customer</a:t>
            </a:r>
          </a:p>
          <a:p>
            <a:pPr marL="0" indent="0">
              <a:buNone/>
            </a:pPr>
            <a:r>
              <a:rPr lang="en-US" altLang="en-US" sz="3600" dirty="0"/>
              <a:t>2. Computer sales tax</a:t>
            </a:r>
          </a:p>
          <a:p>
            <a:pPr marL="0" indent="0">
              <a:buNone/>
            </a:pPr>
            <a:r>
              <a:rPr lang="en-US" altLang="en-US" sz="3600" dirty="0"/>
              <a:t>3. Height</a:t>
            </a:r>
          </a:p>
          <a:p>
            <a:pPr marL="0" indent="0">
              <a:buNone/>
            </a:pPr>
            <a:r>
              <a:rPr lang="en-US" altLang="en-US" sz="3600" dirty="0"/>
              <a:t>4. Product</a:t>
            </a:r>
          </a:p>
          <a:p>
            <a:pPr marL="0" indent="0">
              <a:buNone/>
            </a:pPr>
            <a:r>
              <a:rPr lang="en-US" altLang="en-US" sz="3600" dirty="0"/>
              <a:t>5. Tomato</a:t>
            </a:r>
          </a:p>
        </p:txBody>
      </p:sp>
      <p:sp>
        <p:nvSpPr>
          <p:cNvPr id="5" name="Title 1"/>
          <p:cNvSpPr>
            <a:spLocks noGrp="1"/>
          </p:cNvSpPr>
          <p:nvPr>
            <p:ph type="title"/>
          </p:nvPr>
        </p:nvSpPr>
        <p:spPr>
          <a:xfrm>
            <a:off x="1097280" y="286603"/>
            <a:ext cx="10058400" cy="1450757"/>
          </a:xfrm>
        </p:spPr>
        <p:txBody>
          <a:bodyPr/>
          <a:lstStyle/>
          <a:p>
            <a:r>
              <a:rPr lang="en-US" altLang="en-US" dirty="0"/>
              <a:t>Let’s discuss</a:t>
            </a:r>
          </a:p>
        </p:txBody>
      </p:sp>
    </p:spTree>
    <p:extLst>
      <p:ext uri="{BB962C8B-B14F-4D97-AF65-F5344CB8AC3E}">
        <p14:creationId xmlns:p14="http://schemas.microsoft.com/office/powerpoint/2010/main" val="5171041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p:cNvSpPr>
            <a:spLocks noGrp="1"/>
          </p:cNvSpPr>
          <p:nvPr>
            <p:ph type="title"/>
          </p:nvPr>
        </p:nvSpPr>
        <p:spPr/>
        <p:txBody>
          <a:bodyPr/>
          <a:lstStyle/>
          <a:p>
            <a:r>
              <a:rPr lang="en-US" altLang="en-US"/>
              <a:t>Answer 1</a:t>
            </a:r>
            <a:br>
              <a:rPr lang="en-US" altLang="en-US"/>
            </a:br>
            <a:endParaRPr lang="en-US" altLang="en-US"/>
          </a:p>
        </p:txBody>
      </p:sp>
      <p:sp>
        <p:nvSpPr>
          <p:cNvPr id="27651" name="Content Placeholder 2"/>
          <p:cNvSpPr>
            <a:spLocks noGrp="1"/>
          </p:cNvSpPr>
          <p:nvPr>
            <p:ph idx="1"/>
          </p:nvPr>
        </p:nvSpPr>
        <p:spPr>
          <a:xfrm>
            <a:off x="698269" y="2011680"/>
            <a:ext cx="11205556" cy="4206240"/>
          </a:xfrm>
        </p:spPr>
        <p:txBody>
          <a:bodyPr>
            <a:noAutofit/>
          </a:bodyPr>
          <a:lstStyle/>
          <a:p>
            <a:pPr marL="0" indent="0">
              <a:buNone/>
            </a:pPr>
            <a:r>
              <a:rPr lang="en-US" altLang="en-US" sz="2800" dirty="0"/>
              <a:t>1. Customer – </a:t>
            </a:r>
            <a:r>
              <a:rPr lang="en-US" altLang="en-US" sz="2800" b="1" dirty="0"/>
              <a:t>Yes.</a:t>
            </a:r>
          </a:p>
          <a:p>
            <a:pPr marL="0" indent="0">
              <a:buNone/>
            </a:pPr>
            <a:r>
              <a:rPr lang="en-US" altLang="en-US" sz="2800" dirty="0"/>
              <a:t>2. Computer sales tax – </a:t>
            </a:r>
            <a:r>
              <a:rPr lang="en-US" altLang="en-US" sz="2800" b="1" dirty="0"/>
              <a:t>does not have occurrences which are distinguishable by attributes. It is an imperative statement.</a:t>
            </a:r>
          </a:p>
          <a:p>
            <a:pPr marL="0" indent="0">
              <a:buNone/>
            </a:pPr>
            <a:r>
              <a:rPr lang="en-US" altLang="en-US" sz="2800" dirty="0"/>
              <a:t>3. Height – </a:t>
            </a:r>
            <a:r>
              <a:rPr lang="en-US" altLang="en-US" sz="2800" b="1" dirty="0"/>
              <a:t>does not have attributes. It takes numerical values, therefore, is an attribute.</a:t>
            </a:r>
          </a:p>
          <a:p>
            <a:pPr marL="0" indent="0">
              <a:buNone/>
            </a:pPr>
            <a:r>
              <a:rPr lang="en-US" altLang="en-US" sz="2800" dirty="0"/>
              <a:t>4. Product – </a:t>
            </a:r>
            <a:r>
              <a:rPr lang="en-US" altLang="en-US" sz="2800" b="1" dirty="0"/>
              <a:t>Yes.</a:t>
            </a:r>
          </a:p>
          <a:p>
            <a:pPr marL="0" indent="0">
              <a:buNone/>
            </a:pPr>
            <a:r>
              <a:rPr lang="en-US" altLang="en-US" sz="2800" dirty="0"/>
              <a:t>5. Tomato – </a:t>
            </a:r>
            <a:r>
              <a:rPr lang="en-US" altLang="en-US" sz="2800" b="1" dirty="0"/>
              <a:t>could be an entity if we are concerned with keep data about distinguishable tomatoes. But it is more likely to be an occurrence of another more general entity like FRUIT or PRODUCT</a:t>
            </a:r>
          </a:p>
        </p:txBody>
      </p:sp>
    </p:spTree>
    <p:extLst>
      <p:ext uri="{BB962C8B-B14F-4D97-AF65-F5344CB8AC3E}">
        <p14:creationId xmlns:p14="http://schemas.microsoft.com/office/powerpoint/2010/main" val="423283097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t>Attributes</a:t>
            </a:r>
            <a:endParaRPr lang="en-MY"/>
          </a:p>
        </p:txBody>
      </p:sp>
      <p:sp>
        <p:nvSpPr>
          <p:cNvPr id="3" name="Content Placeholder 2"/>
          <p:cNvSpPr>
            <a:spLocks noGrp="1"/>
          </p:cNvSpPr>
          <p:nvPr>
            <p:ph idx="1"/>
          </p:nvPr>
        </p:nvSpPr>
        <p:spPr>
          <a:xfrm>
            <a:off x="606829" y="1737360"/>
            <a:ext cx="11288683" cy="4023360"/>
          </a:xfrm>
        </p:spPr>
        <p:txBody>
          <a:bodyPr>
            <a:noAutofit/>
          </a:bodyPr>
          <a:lstStyle/>
          <a:p>
            <a:r>
              <a:rPr lang="en-MY" sz="2800" dirty="0">
                <a:solidFill>
                  <a:schemeClr val="tx1"/>
                </a:solidFill>
              </a:rPr>
              <a:t>Attributes are characteristics of entities. </a:t>
            </a:r>
          </a:p>
          <a:p>
            <a:r>
              <a:rPr lang="en-MY" sz="2800" dirty="0">
                <a:solidFill>
                  <a:schemeClr val="tx1"/>
                </a:solidFill>
              </a:rPr>
              <a:t>Some attributes of common entity types include the following:</a:t>
            </a:r>
          </a:p>
          <a:p>
            <a:pPr marL="1066773" lvl="2" indent="0">
              <a:buNone/>
            </a:pPr>
            <a:r>
              <a:rPr lang="en-MY" sz="2800" dirty="0">
                <a:solidFill>
                  <a:srgbClr val="0070C0"/>
                </a:solidFill>
              </a:rPr>
              <a:t>STUDENT (Student ID, SSN, Name, Address, Phone, Email, DOB)</a:t>
            </a:r>
          </a:p>
          <a:p>
            <a:pPr marL="1066773" lvl="2" indent="0">
              <a:buNone/>
            </a:pPr>
            <a:r>
              <a:rPr lang="en-MY" sz="2800" dirty="0">
                <a:solidFill>
                  <a:srgbClr val="0070C0"/>
                </a:solidFill>
              </a:rPr>
              <a:t>ORDER (Order ID, Date of Order, Amount of Order)</a:t>
            </a:r>
          </a:p>
          <a:p>
            <a:pPr marL="1066773" lvl="2" indent="0">
              <a:buNone/>
            </a:pPr>
            <a:r>
              <a:rPr lang="en-MY" sz="2800" dirty="0">
                <a:solidFill>
                  <a:srgbClr val="0070C0"/>
                </a:solidFill>
              </a:rPr>
              <a:t>ACCOUNT (Account Number, Account Type, Date Opened, Balance)</a:t>
            </a:r>
          </a:p>
          <a:p>
            <a:pPr marL="1066773" lvl="2" indent="0">
              <a:buNone/>
            </a:pPr>
            <a:r>
              <a:rPr lang="en-MY" sz="2800" dirty="0">
                <a:solidFill>
                  <a:srgbClr val="0070C0"/>
                </a:solidFill>
              </a:rPr>
              <a:t>CITY (City Name, State, Population)</a:t>
            </a:r>
          </a:p>
        </p:txBody>
      </p:sp>
    </p:spTree>
    <p:extLst>
      <p:ext uri="{BB962C8B-B14F-4D97-AF65-F5344CB8AC3E}">
        <p14:creationId xmlns:p14="http://schemas.microsoft.com/office/powerpoint/2010/main" val="362278231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14600" y="0"/>
            <a:ext cx="6553200" cy="990600"/>
          </a:xfrm>
        </p:spPr>
        <p:txBody>
          <a:bodyPr>
            <a:noAutofit/>
          </a:bodyPr>
          <a:lstStyle/>
          <a:p>
            <a:r>
              <a:rPr lang="en-US" sz="6000" dirty="0">
                <a:effectLst>
                  <a:outerShdw blurRad="38100" dist="38100" dir="2700000" algn="tl">
                    <a:srgbClr val="000000">
                      <a:alpha val="43137"/>
                    </a:srgbClr>
                  </a:outerShdw>
                </a:effectLst>
              </a:rPr>
              <a:t>Attribute</a:t>
            </a:r>
            <a:endParaRPr lang="en-US" sz="6000" dirty="0">
              <a:effectLst>
                <a:outerShdw blurRad="38100" dist="38100" dir="2700000" algn="tl">
                  <a:srgbClr val="000000">
                    <a:alpha val="43137"/>
                  </a:srgbClr>
                </a:outerShdw>
              </a:effectLst>
              <a:latin typeface="Adobe Garamond Pro Bold" pitchFamily="18" charset="0"/>
            </a:endParaRPr>
          </a:p>
        </p:txBody>
      </p:sp>
      <p:sp>
        <p:nvSpPr>
          <p:cNvPr id="3" name="Content Placeholder 2"/>
          <p:cNvSpPr>
            <a:spLocks noGrp="1"/>
          </p:cNvSpPr>
          <p:nvPr>
            <p:ph idx="1"/>
          </p:nvPr>
        </p:nvSpPr>
        <p:spPr>
          <a:xfrm>
            <a:off x="898635" y="1962040"/>
            <a:ext cx="10846676" cy="3000703"/>
          </a:xfrm>
        </p:spPr>
        <p:txBody>
          <a:bodyPr>
            <a:normAutofit/>
          </a:bodyPr>
          <a:lstStyle/>
          <a:p>
            <a:pPr>
              <a:buFont typeface="Arial" panose="020B0604020202020204" pitchFamily="34" charset="0"/>
              <a:buChar char="•"/>
            </a:pPr>
            <a:r>
              <a:rPr lang="en-US" altLang="en-US" sz="2800" dirty="0"/>
              <a:t>In Chen model, attributes are represented by ovals and are connected to entity rectangle with a line  </a:t>
            </a:r>
          </a:p>
          <a:p>
            <a:pPr>
              <a:buFont typeface="Arial" panose="020B0604020202020204" pitchFamily="34" charset="0"/>
              <a:buChar char="•"/>
            </a:pPr>
            <a:r>
              <a:rPr lang="en-US" altLang="en-US" sz="2800" dirty="0"/>
              <a:t>Each oval contains the name of attribute it represents </a:t>
            </a:r>
          </a:p>
          <a:p>
            <a:pPr>
              <a:buFont typeface="Arial" panose="020B0604020202020204" pitchFamily="34" charset="0"/>
              <a:buChar char="•"/>
            </a:pPr>
            <a:r>
              <a:rPr lang="en-US" altLang="en-US" sz="2800" dirty="0"/>
              <a:t>In Crow’s Foot model, attributes are written in attribute box below entity rectangle </a:t>
            </a:r>
          </a:p>
        </p:txBody>
      </p:sp>
      <p:sp>
        <p:nvSpPr>
          <p:cNvPr id="5" name="Oval 4"/>
          <p:cNvSpPr/>
          <p:nvPr/>
        </p:nvSpPr>
        <p:spPr>
          <a:xfrm>
            <a:off x="3053255" y="4143703"/>
            <a:ext cx="2057400" cy="838200"/>
          </a:xfrm>
          <a:prstGeom prst="ellipse">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dirty="0">
                <a:ln w="0"/>
                <a:solidFill>
                  <a:schemeClr val="tx1"/>
                </a:solidFill>
                <a:effectLst>
                  <a:outerShdw blurRad="38100" dist="19050" dir="2700000" algn="tl" rotWithShape="0">
                    <a:schemeClr val="dk1">
                      <a:alpha val="40000"/>
                    </a:schemeClr>
                  </a:outerShdw>
                </a:effectLst>
              </a:rPr>
              <a:t>Attributes</a:t>
            </a:r>
            <a:endParaRPr lang="en-MY" dirty="0">
              <a:ln w="0"/>
              <a:solidFill>
                <a:schemeClr val="tx1"/>
              </a:solidFill>
              <a:effectLst>
                <a:outerShdw blurRad="38100" dist="19050" dir="2700000" algn="tl" rotWithShape="0">
                  <a:schemeClr val="dk1">
                    <a:alpha val="40000"/>
                  </a:schemeClr>
                </a:outerShdw>
              </a:effectLst>
            </a:endParaRPr>
          </a:p>
        </p:txBody>
      </p:sp>
      <p:grpSp>
        <p:nvGrpSpPr>
          <p:cNvPr id="6" name="Group 5"/>
          <p:cNvGrpSpPr/>
          <p:nvPr/>
        </p:nvGrpSpPr>
        <p:grpSpPr>
          <a:xfrm>
            <a:off x="6534807" y="4106434"/>
            <a:ext cx="1524000" cy="1128712"/>
            <a:chOff x="7315200" y="5354638"/>
            <a:chExt cx="1158875" cy="1128712"/>
          </a:xfrm>
        </p:grpSpPr>
        <p:sp>
          <p:nvSpPr>
            <p:cNvPr id="7" name="Rounded Rectangle 6"/>
            <p:cNvSpPr/>
            <p:nvPr/>
          </p:nvSpPr>
          <p:spPr>
            <a:xfrm>
              <a:off x="7327900" y="5354638"/>
              <a:ext cx="1146175" cy="1128712"/>
            </a:xfrm>
            <a:prstGeom prst="round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MY"/>
            </a:p>
          </p:txBody>
        </p:sp>
        <p:cxnSp>
          <p:nvCxnSpPr>
            <p:cNvPr id="8" name="Straight Connector 7"/>
            <p:cNvCxnSpPr/>
            <p:nvPr/>
          </p:nvCxnSpPr>
          <p:spPr>
            <a:xfrm>
              <a:off x="7315200" y="5745163"/>
              <a:ext cx="1158875"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9" name="TextBox 6"/>
            <p:cNvSpPr txBox="1">
              <a:spLocks noChangeArrowheads="1"/>
            </p:cNvSpPr>
            <p:nvPr/>
          </p:nvSpPr>
          <p:spPr bwMode="auto">
            <a:xfrm>
              <a:off x="7453865" y="5842000"/>
              <a:ext cx="88154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r>
                <a:rPr lang="en-US" altLang="en-US" dirty="0"/>
                <a:t>Attributes</a:t>
              </a:r>
              <a:endParaRPr lang="en-MY" altLang="en-US" dirty="0"/>
            </a:p>
          </p:txBody>
        </p:sp>
        <p:sp>
          <p:nvSpPr>
            <p:cNvPr id="10" name="TextBox 9"/>
            <p:cNvSpPr txBox="1">
              <a:spLocks noChangeArrowheads="1"/>
            </p:cNvSpPr>
            <p:nvPr/>
          </p:nvSpPr>
          <p:spPr bwMode="auto">
            <a:xfrm>
              <a:off x="7585398" y="5394325"/>
              <a:ext cx="62800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r>
                <a:rPr lang="en-US" altLang="en-US" dirty="0"/>
                <a:t>Entity </a:t>
              </a:r>
              <a:endParaRPr lang="en-MY" altLang="en-US" dirty="0"/>
            </a:p>
          </p:txBody>
        </p:sp>
      </p:grpSp>
    </p:spTree>
    <p:extLst>
      <p:ext uri="{BB962C8B-B14F-4D97-AF65-F5344CB8AC3E}">
        <p14:creationId xmlns:p14="http://schemas.microsoft.com/office/powerpoint/2010/main" val="246364398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83069" y="382694"/>
            <a:ext cx="6553200" cy="990600"/>
          </a:xfrm>
        </p:spPr>
        <p:txBody>
          <a:bodyPr>
            <a:noAutofit/>
          </a:bodyPr>
          <a:lstStyle/>
          <a:p>
            <a:r>
              <a:rPr lang="en-US" sz="6000" dirty="0">
                <a:effectLst>
                  <a:outerShdw blurRad="38100" dist="38100" dir="2700000" algn="tl">
                    <a:srgbClr val="000000">
                      <a:alpha val="43137"/>
                    </a:srgbClr>
                  </a:outerShdw>
                </a:effectLst>
              </a:rPr>
              <a:t>Example attribute</a:t>
            </a:r>
          </a:p>
        </p:txBody>
      </p:sp>
      <p:sp>
        <p:nvSpPr>
          <p:cNvPr id="4" name="Content Placeholder 3"/>
          <p:cNvSpPr>
            <a:spLocks noGrp="1"/>
          </p:cNvSpPr>
          <p:nvPr>
            <p:ph idx="1"/>
          </p:nvPr>
        </p:nvSpPr>
        <p:spPr/>
        <p:txBody>
          <a:bodyPr/>
          <a:lstStyle/>
          <a:p>
            <a:endParaRPr lang="en-US" dirty="0"/>
          </a:p>
        </p:txBody>
      </p:sp>
      <p:pic>
        <p:nvPicPr>
          <p:cNvPr id="11" name="Picture 3" descr="Fig04-01"/>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a:xfrm>
            <a:off x="1097280" y="1373294"/>
            <a:ext cx="10058400" cy="4495800"/>
          </a:xfrm>
          <a:prstGeom prst="rect">
            <a:avLst/>
          </a:prstGeom>
        </p:spPr>
      </p:pic>
    </p:spTree>
    <p:extLst>
      <p:ext uri="{BB962C8B-B14F-4D97-AF65-F5344CB8AC3E}">
        <p14:creationId xmlns:p14="http://schemas.microsoft.com/office/powerpoint/2010/main" val="74462922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a:spLocks noGrp="1"/>
          </p:cNvSpPr>
          <p:nvPr>
            <p:ph type="title"/>
          </p:nvPr>
        </p:nvSpPr>
        <p:spPr/>
        <p:txBody>
          <a:bodyPr/>
          <a:lstStyle/>
          <a:p>
            <a:r>
              <a:rPr lang="en-US" altLang="en-US" dirty="0"/>
              <a:t>Let’s discuss</a:t>
            </a:r>
          </a:p>
        </p:txBody>
      </p:sp>
      <p:sp>
        <p:nvSpPr>
          <p:cNvPr id="3" name="Content Placeholder 2"/>
          <p:cNvSpPr>
            <a:spLocks noGrp="1"/>
          </p:cNvSpPr>
          <p:nvPr>
            <p:ph idx="1"/>
          </p:nvPr>
        </p:nvSpPr>
        <p:spPr>
          <a:xfrm>
            <a:off x="1097280" y="1895302"/>
            <a:ext cx="9784080" cy="4206240"/>
          </a:xfrm>
        </p:spPr>
        <p:txBody>
          <a:bodyPr/>
          <a:lstStyle/>
          <a:p>
            <a:pPr marL="0" indent="0">
              <a:spcBef>
                <a:spcPts val="0"/>
              </a:spcBef>
              <a:buNone/>
            </a:pPr>
            <a:endParaRPr lang="en-MY" sz="2400" dirty="0"/>
          </a:p>
          <a:p>
            <a:pPr marL="0" indent="0">
              <a:spcBef>
                <a:spcPts val="0"/>
              </a:spcBef>
              <a:buNone/>
            </a:pPr>
            <a:r>
              <a:rPr lang="en-MY" sz="2400" dirty="0"/>
              <a:t>We are a small fast food business. Our menu features food items that can be ordered by a customer. A customer places an order at the counter and indicates what food items he/she would like on that order. </a:t>
            </a:r>
          </a:p>
          <a:p>
            <a:pPr marL="0" indent="0">
              <a:spcBef>
                <a:spcPts val="0"/>
              </a:spcBef>
              <a:buNone/>
            </a:pPr>
            <a:r>
              <a:rPr lang="en-MY" sz="2400" dirty="0"/>
              <a:t>Lately we’ve noticed that we have some regular customers, so we started asking them for information – such as name and address, so we can mail them coupons when we have specials. </a:t>
            </a:r>
          </a:p>
          <a:p>
            <a:pPr marL="533387" lvl="1" indent="0">
              <a:spcBef>
                <a:spcPts val="0"/>
              </a:spcBef>
              <a:buNone/>
            </a:pPr>
            <a:r>
              <a:rPr lang="en-MY" sz="2400" dirty="0">
                <a:solidFill>
                  <a:srgbClr val="0070C0"/>
                </a:solidFill>
              </a:rPr>
              <a:t>a. Using the restaurant entities ORDER, FOOD ITEM and CUSTOMER, </a:t>
            </a:r>
            <a:r>
              <a:rPr lang="en-MY" sz="2400" b="1" dirty="0">
                <a:solidFill>
                  <a:srgbClr val="0070C0"/>
                </a:solidFill>
              </a:rPr>
              <a:t>identify the </a:t>
            </a:r>
            <a:r>
              <a:rPr lang="en-MY" sz="2400" b="1" dirty="0">
                <a:solidFill>
                  <a:srgbClr val="C00000"/>
                </a:solidFill>
              </a:rPr>
              <a:t>attributes</a:t>
            </a:r>
            <a:r>
              <a:rPr lang="en-MY" sz="2400" b="1" dirty="0">
                <a:solidFill>
                  <a:srgbClr val="0070C0"/>
                </a:solidFill>
              </a:rPr>
              <a:t> for each entity. </a:t>
            </a:r>
          </a:p>
          <a:p>
            <a:endParaRPr lang="en-MY" dirty="0"/>
          </a:p>
        </p:txBody>
      </p:sp>
      <p:sp>
        <p:nvSpPr>
          <p:cNvPr id="2" name="Rounded Rectangle 1"/>
          <p:cNvSpPr/>
          <p:nvPr/>
        </p:nvSpPr>
        <p:spPr>
          <a:xfrm>
            <a:off x="8013469" y="174567"/>
            <a:ext cx="3474720" cy="179554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MY" sz="2800" dirty="0">
                <a:solidFill>
                  <a:schemeClr val="tx1"/>
                </a:solidFill>
              </a:rPr>
              <a:t>Remember !</a:t>
            </a:r>
          </a:p>
          <a:p>
            <a:pPr algn="ctr"/>
            <a:r>
              <a:rPr lang="en-MY" sz="2800" dirty="0">
                <a:solidFill>
                  <a:schemeClr val="tx1"/>
                </a:solidFill>
              </a:rPr>
              <a:t> Entities = Relation/Table name</a:t>
            </a:r>
          </a:p>
        </p:txBody>
      </p:sp>
    </p:spTree>
    <p:extLst>
      <p:ext uri="{BB962C8B-B14F-4D97-AF65-F5344CB8AC3E}">
        <p14:creationId xmlns:p14="http://schemas.microsoft.com/office/powerpoint/2010/main" val="192584825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50883" y="688428"/>
            <a:ext cx="7924800" cy="990600"/>
          </a:xfrm>
        </p:spPr>
        <p:txBody>
          <a:bodyPr>
            <a:noAutofit/>
          </a:bodyPr>
          <a:lstStyle/>
          <a:p>
            <a:r>
              <a:rPr lang="en-US" sz="6000" dirty="0">
                <a:effectLst>
                  <a:outerShdw blurRad="38100" dist="38100" dir="2700000" algn="tl">
                    <a:srgbClr val="000000">
                      <a:alpha val="43137"/>
                    </a:srgbClr>
                  </a:outerShdw>
                </a:effectLst>
              </a:rPr>
              <a:t>Relationships</a:t>
            </a:r>
            <a:endParaRPr lang="en-US" sz="6000" dirty="0">
              <a:effectLst>
                <a:outerShdw blurRad="38100" dist="38100" dir="2700000" algn="tl">
                  <a:srgbClr val="000000">
                    <a:alpha val="43137"/>
                  </a:srgbClr>
                </a:outerShdw>
              </a:effectLst>
              <a:latin typeface="Adobe Garamond Pro Bold" pitchFamily="18" charset="0"/>
            </a:endParaRPr>
          </a:p>
        </p:txBody>
      </p:sp>
      <p:sp>
        <p:nvSpPr>
          <p:cNvPr id="3" name="Content Placeholder 2"/>
          <p:cNvSpPr>
            <a:spLocks noGrp="1"/>
          </p:cNvSpPr>
          <p:nvPr>
            <p:ph idx="1"/>
          </p:nvPr>
        </p:nvSpPr>
        <p:spPr>
          <a:xfrm>
            <a:off x="1150883" y="1770754"/>
            <a:ext cx="10357944" cy="5486400"/>
          </a:xfrm>
        </p:spPr>
        <p:txBody>
          <a:bodyPr>
            <a:normAutofit/>
          </a:bodyPr>
          <a:lstStyle/>
          <a:p>
            <a:pPr>
              <a:buFont typeface="Arial" panose="020B0604020202020204" pitchFamily="34" charset="0"/>
              <a:buChar char="•"/>
            </a:pPr>
            <a:r>
              <a:rPr lang="en-US" sz="2800" dirty="0"/>
              <a:t>Its meaningful associations between or among entities. </a:t>
            </a:r>
          </a:p>
          <a:p>
            <a:pPr>
              <a:buFont typeface="Arial" panose="020B0604020202020204" pitchFamily="34" charset="0"/>
              <a:buChar char="•"/>
            </a:pPr>
            <a:r>
              <a:rPr lang="en-US" sz="2800" dirty="0"/>
              <a:t>They are usually verbs, e.g. </a:t>
            </a:r>
            <a:r>
              <a:rPr lang="en-US" sz="2800" i="1" dirty="0"/>
              <a:t>assign</a:t>
            </a:r>
            <a:r>
              <a:rPr lang="en-US" sz="2800" dirty="0"/>
              <a:t>, </a:t>
            </a:r>
            <a:r>
              <a:rPr lang="en-US" sz="2800" i="1" dirty="0"/>
              <a:t>associate</a:t>
            </a:r>
            <a:r>
              <a:rPr lang="en-US" sz="2800" dirty="0"/>
              <a:t>, or </a:t>
            </a:r>
            <a:r>
              <a:rPr lang="en-US" sz="2800" i="1" dirty="0"/>
              <a:t>track</a:t>
            </a:r>
            <a:r>
              <a:rPr lang="en-US" sz="2800" dirty="0"/>
              <a:t>. </a:t>
            </a:r>
          </a:p>
          <a:p>
            <a:pPr>
              <a:buFont typeface="Arial" panose="020B0604020202020204" pitchFamily="34" charset="0"/>
              <a:buChar char="•"/>
            </a:pPr>
            <a:r>
              <a:rPr lang="en-US" sz="2800" dirty="0"/>
              <a:t>A relationship provides useful information that could not be discerned with just the entity types.</a:t>
            </a:r>
          </a:p>
          <a:p>
            <a:pPr>
              <a:buFont typeface="Arial" panose="020B0604020202020204" pitchFamily="34" charset="0"/>
              <a:buChar char="•"/>
            </a:pPr>
            <a:r>
              <a:rPr lang="en-US" sz="2800" dirty="0"/>
              <a:t>In Chen model, relationship is represented by a single rhombus (diamond).</a:t>
            </a:r>
          </a:p>
          <a:p>
            <a:endParaRPr lang="en-US" altLang="en-US" sz="2800" dirty="0"/>
          </a:p>
        </p:txBody>
      </p:sp>
      <p:sp>
        <p:nvSpPr>
          <p:cNvPr id="4" name="Flowchart: Decision 3"/>
          <p:cNvSpPr/>
          <p:nvPr/>
        </p:nvSpPr>
        <p:spPr>
          <a:xfrm>
            <a:off x="4243741" y="4339386"/>
            <a:ext cx="2895600" cy="1371600"/>
          </a:xfrm>
          <a:prstGeom prst="flowChartDecision">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US" sz="1600" b="1" dirty="0"/>
              <a:t>Relationship</a:t>
            </a:r>
          </a:p>
        </p:txBody>
      </p:sp>
    </p:spTree>
    <p:extLst>
      <p:ext uri="{BB962C8B-B14F-4D97-AF65-F5344CB8AC3E}">
        <p14:creationId xmlns:p14="http://schemas.microsoft.com/office/powerpoint/2010/main" val="127414837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Rectangle 2"/>
          <p:cNvSpPr>
            <a:spLocks noGrp="1" noChangeArrowheads="1"/>
          </p:cNvSpPr>
          <p:nvPr>
            <p:ph type="title"/>
          </p:nvPr>
        </p:nvSpPr>
        <p:spPr>
          <a:xfrm>
            <a:off x="1072342" y="413165"/>
            <a:ext cx="8376458" cy="1219200"/>
          </a:xfrm>
        </p:spPr>
        <p:txBody>
          <a:bodyPr/>
          <a:lstStyle/>
          <a:p>
            <a:pPr eaLnBrk="1" hangingPunct="1"/>
            <a:r>
              <a:rPr lang="en-US" altLang="en-US" sz="2800" b="1" dirty="0"/>
              <a:t> </a:t>
            </a:r>
            <a:r>
              <a:rPr lang="en-US" altLang="en-US" sz="6000" b="1" dirty="0"/>
              <a:t>Example Relationships</a:t>
            </a:r>
          </a:p>
        </p:txBody>
      </p:sp>
      <p:pic>
        <p:nvPicPr>
          <p:cNvPr id="13317" name="Picture 6" descr="MCBD05865_0000[1]"/>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602828" y="2464375"/>
            <a:ext cx="1009650" cy="13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318" name="Picture 7" descr="MCj04152120000[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193378" y="3112293"/>
            <a:ext cx="1295400" cy="820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319" name="AutoShape 8"/>
          <p:cNvSpPr>
            <a:spLocks noChangeArrowheads="1"/>
          </p:cNvSpPr>
          <p:nvPr/>
        </p:nvSpPr>
        <p:spPr bwMode="auto">
          <a:xfrm>
            <a:off x="1736178" y="4229100"/>
            <a:ext cx="1752600" cy="381000"/>
          </a:xfrm>
          <a:prstGeom prst="roundRect">
            <a:avLst>
              <a:gd name="adj" fmla="val 16667"/>
            </a:avLst>
          </a:prstGeom>
          <a:gradFill rotWithShape="1">
            <a:gsLst>
              <a:gs pos="0">
                <a:srgbClr val="E7F4FD"/>
              </a:gs>
              <a:gs pos="100000">
                <a:srgbClr val="EAE9FB"/>
              </a:gs>
            </a:gsLst>
            <a:lin ang="5400000" scaled="1"/>
          </a:gradFill>
          <a:ln w="9525">
            <a:solidFill>
              <a:schemeClr val="tx1"/>
            </a:solidFill>
            <a:round/>
            <a:headEnd/>
            <a:tailEnd/>
          </a:ln>
        </p:spPr>
        <p:txBody>
          <a:bodyPr anchor="ctr" anchorCtr="1"/>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1400" b="1" dirty="0">
                <a:latin typeface="Arial" panose="020B0604020202020204" pitchFamily="34" charset="0"/>
              </a:rPr>
              <a:t>Author</a:t>
            </a:r>
          </a:p>
        </p:txBody>
      </p:sp>
      <p:sp>
        <p:nvSpPr>
          <p:cNvPr id="13320" name="AutoShape 9"/>
          <p:cNvSpPr>
            <a:spLocks noChangeArrowheads="1"/>
          </p:cNvSpPr>
          <p:nvPr/>
        </p:nvSpPr>
        <p:spPr bwMode="auto">
          <a:xfrm>
            <a:off x="7239000" y="4148607"/>
            <a:ext cx="1676400" cy="457200"/>
          </a:xfrm>
          <a:prstGeom prst="roundRect">
            <a:avLst>
              <a:gd name="adj" fmla="val 16667"/>
            </a:avLst>
          </a:prstGeom>
          <a:gradFill rotWithShape="1">
            <a:gsLst>
              <a:gs pos="0">
                <a:srgbClr val="E7F4FD"/>
              </a:gs>
              <a:gs pos="100000">
                <a:srgbClr val="EAE9FB"/>
              </a:gs>
            </a:gsLst>
            <a:lin ang="5400000" scaled="1"/>
          </a:gradFill>
          <a:ln w="9525">
            <a:solidFill>
              <a:schemeClr val="tx1"/>
            </a:solidFill>
            <a:round/>
            <a:headEnd/>
            <a:tailEnd/>
          </a:ln>
        </p:spPr>
        <p:txBody>
          <a:bodyPr anchor="ctr" anchorCtr="1"/>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1400" b="1" dirty="0">
                <a:latin typeface="Arial" panose="020B0604020202020204" pitchFamily="34" charset="0"/>
              </a:rPr>
              <a:t>Book</a:t>
            </a:r>
          </a:p>
        </p:txBody>
      </p:sp>
      <p:sp>
        <p:nvSpPr>
          <p:cNvPr id="13321" name="AutoShape 10"/>
          <p:cNvSpPr>
            <a:spLocks noChangeArrowheads="1"/>
          </p:cNvSpPr>
          <p:nvPr/>
        </p:nvSpPr>
        <p:spPr bwMode="auto">
          <a:xfrm>
            <a:off x="4293619" y="4305300"/>
            <a:ext cx="1828800" cy="228600"/>
          </a:xfrm>
          <a:prstGeom prst="leftRightArrow">
            <a:avLst>
              <a:gd name="adj1" fmla="val 50000"/>
              <a:gd name="adj2" fmla="val 160000"/>
            </a:avLst>
          </a:prstGeom>
          <a:solidFill>
            <a:srgbClr val="333399"/>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latin typeface="Arial" panose="020B0604020202020204" pitchFamily="34" charset="0"/>
            </a:endParaRPr>
          </a:p>
        </p:txBody>
      </p:sp>
      <p:sp>
        <p:nvSpPr>
          <p:cNvPr id="13322" name="Text Box 11"/>
          <p:cNvSpPr txBox="1">
            <a:spLocks noChangeArrowheads="1"/>
          </p:cNvSpPr>
          <p:nvPr/>
        </p:nvSpPr>
        <p:spPr bwMode="auto">
          <a:xfrm>
            <a:off x="4269971" y="3249121"/>
            <a:ext cx="1981200" cy="527050"/>
          </a:xfrm>
          <a:prstGeom prst="rect">
            <a:avLst/>
          </a:prstGeom>
          <a:noFill/>
          <a:ln w="9525">
            <a:solidFill>
              <a:srgbClr val="0000FF"/>
            </a:solidFill>
            <a:prstDash val="sysDot"/>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50000"/>
              </a:spcBef>
              <a:buFontTx/>
              <a:buNone/>
            </a:pPr>
            <a:r>
              <a:rPr lang="en-US" altLang="en-US" sz="1400" b="1" dirty="0">
                <a:latin typeface="Arial" panose="020B0604020202020204" pitchFamily="34" charset="0"/>
              </a:rPr>
              <a:t>Relationship name: </a:t>
            </a:r>
            <a:r>
              <a:rPr lang="en-US" altLang="en-US" sz="1400" b="1" i="1" dirty="0">
                <a:latin typeface="Arial" panose="020B0604020202020204" pitchFamily="34" charset="0"/>
              </a:rPr>
              <a:t>writes</a:t>
            </a:r>
          </a:p>
        </p:txBody>
      </p:sp>
      <p:pic>
        <p:nvPicPr>
          <p:cNvPr id="13323" name="Picture 12" descr="MCj03972740000[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315200" y="2919882"/>
            <a:ext cx="2362200" cy="1038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324" name="Text Box 13"/>
          <p:cNvSpPr txBox="1">
            <a:spLocks noChangeArrowheads="1"/>
          </p:cNvSpPr>
          <p:nvPr/>
        </p:nvSpPr>
        <p:spPr bwMode="auto">
          <a:xfrm>
            <a:off x="2841078" y="5063029"/>
            <a:ext cx="5486400" cy="590550"/>
          </a:xfrm>
          <a:prstGeom prst="rect">
            <a:avLst/>
          </a:prstGeom>
          <a:noFill/>
          <a:ln w="9525">
            <a:solidFill>
              <a:srgbClr val="00CCFF"/>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50000"/>
              </a:spcBef>
              <a:buFontTx/>
              <a:buNone/>
            </a:pPr>
            <a:r>
              <a:rPr lang="en-US" altLang="en-US" sz="1600" dirty="0">
                <a:latin typeface="Arial" panose="020B0604020202020204" pitchFamily="34" charset="0"/>
              </a:rPr>
              <a:t>An author writes one or more books</a:t>
            </a:r>
            <a:br>
              <a:rPr lang="en-US" altLang="en-US" sz="1600" dirty="0">
                <a:latin typeface="Arial" panose="020B0604020202020204" pitchFamily="34" charset="0"/>
              </a:rPr>
            </a:br>
            <a:r>
              <a:rPr lang="en-US" altLang="en-US" sz="1600" dirty="0">
                <a:latin typeface="Arial" panose="020B0604020202020204" pitchFamily="34" charset="0"/>
              </a:rPr>
              <a:t>A book can be written by one or more authors.</a:t>
            </a:r>
            <a:endParaRPr lang="en-US" altLang="en-US" sz="1600" i="1" dirty="0">
              <a:latin typeface="Arial" panose="020B0604020202020204" pitchFamily="34" charset="0"/>
            </a:endParaRPr>
          </a:p>
        </p:txBody>
      </p:sp>
    </p:spTree>
    <p:extLst>
      <p:ext uri="{BB962C8B-B14F-4D97-AF65-F5344CB8AC3E}">
        <p14:creationId xmlns:p14="http://schemas.microsoft.com/office/powerpoint/2010/main" val="327850978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Content Placeholder 2"/>
          <p:cNvSpPr>
            <a:spLocks noGrp="1"/>
          </p:cNvSpPr>
          <p:nvPr>
            <p:ph idx="1"/>
          </p:nvPr>
        </p:nvSpPr>
        <p:spPr>
          <a:xfrm>
            <a:off x="1188720" y="2045240"/>
            <a:ext cx="10058400" cy="4023360"/>
          </a:xfrm>
        </p:spPr>
        <p:txBody>
          <a:bodyPr>
            <a:normAutofit/>
          </a:bodyPr>
          <a:lstStyle/>
          <a:p>
            <a:pPr>
              <a:buFont typeface="Arial" panose="020B0604020202020204" pitchFamily="34" charset="0"/>
              <a:buNone/>
            </a:pPr>
            <a:r>
              <a:rPr lang="en-US" altLang="en-US" sz="2800" dirty="0"/>
              <a:t>Which of the following are likely to be relationships?</a:t>
            </a:r>
          </a:p>
          <a:p>
            <a:pPr marL="0" indent="0">
              <a:buNone/>
            </a:pPr>
            <a:r>
              <a:rPr lang="en-US" altLang="en-US" sz="2800" dirty="0"/>
              <a:t>1. purchases</a:t>
            </a:r>
          </a:p>
          <a:p>
            <a:pPr marL="0" indent="0">
              <a:buNone/>
            </a:pPr>
            <a:r>
              <a:rPr lang="en-US" altLang="en-US" sz="2800" dirty="0"/>
              <a:t>2. customer</a:t>
            </a:r>
          </a:p>
          <a:p>
            <a:pPr marL="0" indent="0">
              <a:buNone/>
            </a:pPr>
            <a:r>
              <a:rPr lang="en-US" altLang="en-US" sz="2800" dirty="0"/>
              <a:t>3. belongs to</a:t>
            </a:r>
          </a:p>
          <a:p>
            <a:pPr marL="0" indent="0">
              <a:buNone/>
            </a:pPr>
            <a:r>
              <a:rPr lang="en-US" altLang="en-US" sz="2800" dirty="0"/>
              <a:t>4. </a:t>
            </a:r>
            <a:r>
              <a:rPr lang="en-US" altLang="en-US" sz="2800" dirty="0" err="1"/>
              <a:t>MatricNo</a:t>
            </a:r>
            <a:endParaRPr lang="en-US" altLang="en-US" sz="2800" dirty="0"/>
          </a:p>
        </p:txBody>
      </p:sp>
      <p:sp>
        <p:nvSpPr>
          <p:cNvPr id="5" name="Title 1"/>
          <p:cNvSpPr>
            <a:spLocks noGrp="1"/>
          </p:cNvSpPr>
          <p:nvPr>
            <p:ph type="title"/>
          </p:nvPr>
        </p:nvSpPr>
        <p:spPr>
          <a:xfrm>
            <a:off x="1097280" y="286603"/>
            <a:ext cx="10058400" cy="1450757"/>
          </a:xfrm>
        </p:spPr>
        <p:txBody>
          <a:bodyPr/>
          <a:lstStyle/>
          <a:p>
            <a:r>
              <a:rPr lang="en-US" altLang="en-US" dirty="0"/>
              <a:t>Let’s discuss</a:t>
            </a:r>
          </a:p>
        </p:txBody>
      </p:sp>
    </p:spTree>
    <p:extLst>
      <p:ext uri="{BB962C8B-B14F-4D97-AF65-F5344CB8AC3E}">
        <p14:creationId xmlns:p14="http://schemas.microsoft.com/office/powerpoint/2010/main" val="322770749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le 1"/>
          <p:cNvSpPr>
            <a:spLocks noGrp="1"/>
          </p:cNvSpPr>
          <p:nvPr>
            <p:ph type="title"/>
          </p:nvPr>
        </p:nvSpPr>
        <p:spPr/>
        <p:txBody>
          <a:bodyPr/>
          <a:lstStyle/>
          <a:p>
            <a:r>
              <a:rPr lang="en-US" altLang="en-US"/>
              <a:t>Answer 2</a:t>
            </a:r>
          </a:p>
        </p:txBody>
      </p:sp>
      <p:sp>
        <p:nvSpPr>
          <p:cNvPr id="28675" name="Content Placeholder 2"/>
          <p:cNvSpPr>
            <a:spLocks noGrp="1"/>
          </p:cNvSpPr>
          <p:nvPr>
            <p:ph idx="1"/>
          </p:nvPr>
        </p:nvSpPr>
        <p:spPr/>
        <p:txBody>
          <a:bodyPr>
            <a:normAutofit/>
          </a:bodyPr>
          <a:lstStyle/>
          <a:p>
            <a:pPr marL="0" indent="0">
              <a:buNone/>
            </a:pPr>
            <a:r>
              <a:rPr lang="en-US" altLang="en-US" sz="2800" dirty="0"/>
              <a:t>1. purchases – yes, describing association between a Customer and Product.</a:t>
            </a:r>
          </a:p>
          <a:p>
            <a:pPr marL="0" indent="0">
              <a:buNone/>
            </a:pPr>
            <a:r>
              <a:rPr lang="en-US" altLang="en-US" sz="2800" dirty="0"/>
              <a:t>2. customer – no, suitable to be entity.</a:t>
            </a:r>
          </a:p>
          <a:p>
            <a:pPr marL="0" indent="0">
              <a:buNone/>
            </a:pPr>
            <a:r>
              <a:rPr lang="en-US" altLang="en-US" sz="2800" dirty="0"/>
              <a:t>3. belongs to – yes, describing association between a Person and Item.</a:t>
            </a:r>
          </a:p>
          <a:p>
            <a:pPr marL="0" indent="0">
              <a:buNone/>
            </a:pPr>
            <a:r>
              <a:rPr lang="en-US" altLang="en-US" sz="2800" dirty="0"/>
              <a:t>4. </a:t>
            </a:r>
            <a:r>
              <a:rPr lang="en-US" altLang="en-US" sz="2800" dirty="0" err="1"/>
              <a:t>MatricNo</a:t>
            </a:r>
            <a:r>
              <a:rPr lang="en-US" altLang="en-US" sz="2800" dirty="0"/>
              <a:t> – no, suitable to be attribute.</a:t>
            </a:r>
          </a:p>
        </p:txBody>
      </p:sp>
    </p:spTree>
    <p:extLst>
      <p:ext uri="{BB962C8B-B14F-4D97-AF65-F5344CB8AC3E}">
        <p14:creationId xmlns:p14="http://schemas.microsoft.com/office/powerpoint/2010/main" val="192806865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497227-4D3F-4A28-8195-96370BE3BEEB}"/>
              </a:ext>
            </a:extLst>
          </p:cNvPr>
          <p:cNvSpPr>
            <a:spLocks noGrp="1"/>
          </p:cNvSpPr>
          <p:nvPr>
            <p:ph type="title"/>
          </p:nvPr>
        </p:nvSpPr>
        <p:spPr>
          <a:xfrm>
            <a:off x="342248" y="102680"/>
            <a:ext cx="9784080" cy="1121081"/>
          </a:xfrm>
        </p:spPr>
        <p:txBody>
          <a:bodyPr>
            <a:normAutofit/>
          </a:bodyPr>
          <a:lstStyle/>
          <a:p>
            <a:r>
              <a:rPr lang="en-MY" dirty="0"/>
              <a:t>Cardinality</a:t>
            </a:r>
          </a:p>
        </p:txBody>
      </p:sp>
      <p:pic>
        <p:nvPicPr>
          <p:cNvPr id="4" name="Picture 3">
            <a:extLst>
              <a:ext uri="{FF2B5EF4-FFF2-40B4-BE49-F238E27FC236}">
                <a16:creationId xmlns:a16="http://schemas.microsoft.com/office/drawing/2014/main" id="{1BA10FAA-A537-4DFA-98D3-0E4D2BB0C423}"/>
              </a:ext>
            </a:extLst>
          </p:cNvPr>
          <p:cNvPicPr>
            <a:picLocks noChangeAspect="1"/>
          </p:cNvPicPr>
          <p:nvPr/>
        </p:nvPicPr>
        <p:blipFill rotWithShape="1">
          <a:blip r:embed="rId3"/>
          <a:srcRect t="11184"/>
          <a:stretch/>
        </p:blipFill>
        <p:spPr>
          <a:xfrm>
            <a:off x="990642" y="1223760"/>
            <a:ext cx="10436815" cy="4877781"/>
          </a:xfrm>
          <a:prstGeom prst="rect">
            <a:avLst/>
          </a:prstGeom>
        </p:spPr>
      </p:pic>
    </p:spTree>
    <p:extLst>
      <p:ext uri="{BB962C8B-B14F-4D97-AF65-F5344CB8AC3E}">
        <p14:creationId xmlns:p14="http://schemas.microsoft.com/office/powerpoint/2010/main" val="289782953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497227-4D3F-4A28-8195-96370BE3BEEB}"/>
              </a:ext>
            </a:extLst>
          </p:cNvPr>
          <p:cNvSpPr>
            <a:spLocks noGrp="1"/>
          </p:cNvSpPr>
          <p:nvPr>
            <p:ph type="title"/>
          </p:nvPr>
        </p:nvSpPr>
        <p:spPr>
          <a:xfrm>
            <a:off x="645812" y="-183039"/>
            <a:ext cx="10058400" cy="1450757"/>
          </a:xfrm>
        </p:spPr>
        <p:txBody>
          <a:bodyPr>
            <a:normAutofit/>
          </a:bodyPr>
          <a:lstStyle/>
          <a:p>
            <a:r>
              <a:rPr lang="en-MY" dirty="0"/>
              <a:t>Cardinality</a:t>
            </a:r>
          </a:p>
        </p:txBody>
      </p:sp>
      <p:pic>
        <p:nvPicPr>
          <p:cNvPr id="5" name="Picture 4">
            <a:extLst>
              <a:ext uri="{FF2B5EF4-FFF2-40B4-BE49-F238E27FC236}">
                <a16:creationId xmlns:a16="http://schemas.microsoft.com/office/drawing/2014/main" id="{FDC976DB-E823-492D-8D01-098B1E058B83}"/>
              </a:ext>
            </a:extLst>
          </p:cNvPr>
          <p:cNvPicPr>
            <a:picLocks noChangeAspect="1"/>
          </p:cNvPicPr>
          <p:nvPr/>
        </p:nvPicPr>
        <p:blipFill>
          <a:blip r:embed="rId3"/>
          <a:stretch>
            <a:fillRect/>
          </a:stretch>
        </p:blipFill>
        <p:spPr>
          <a:xfrm>
            <a:off x="1194887" y="1101463"/>
            <a:ext cx="9229273" cy="4944296"/>
          </a:xfrm>
          <a:prstGeom prst="rect">
            <a:avLst/>
          </a:prstGeom>
        </p:spPr>
      </p:pic>
    </p:spTree>
    <p:extLst>
      <p:ext uri="{BB962C8B-B14F-4D97-AF65-F5344CB8AC3E}">
        <p14:creationId xmlns:p14="http://schemas.microsoft.com/office/powerpoint/2010/main" val="8523889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62151" y="725213"/>
            <a:ext cx="11387959" cy="990600"/>
          </a:xfrm>
        </p:spPr>
        <p:txBody>
          <a:bodyPr>
            <a:noAutofit/>
          </a:bodyPr>
          <a:lstStyle/>
          <a:p>
            <a:r>
              <a:rPr lang="en-US" sz="6000" dirty="0">
                <a:effectLst>
                  <a:outerShdw blurRad="38100" dist="38100" dir="2700000" algn="tl">
                    <a:srgbClr val="000000">
                      <a:alpha val="43137"/>
                    </a:srgbClr>
                  </a:outerShdw>
                </a:effectLst>
              </a:rPr>
              <a:t>Cardinality Notation (crow’s foot notation)</a:t>
            </a:r>
            <a:endParaRPr lang="en-US" sz="6000" dirty="0">
              <a:effectLst>
                <a:outerShdw blurRad="38100" dist="38100" dir="2700000" algn="tl">
                  <a:srgbClr val="000000">
                    <a:alpha val="43137"/>
                  </a:srgbClr>
                </a:outerShdw>
              </a:effectLst>
              <a:latin typeface="Adobe Garamond Pro Bold" pitchFamily="18" charset="0"/>
            </a:endParaRPr>
          </a:p>
        </p:txBody>
      </p:sp>
      <p:pic>
        <p:nvPicPr>
          <p:cNvPr id="4" name="Picture 18"/>
          <p:cNvPicPr>
            <a:picLocks noChangeAspect="1" noChangeArrowheads="1"/>
          </p:cNvPicPr>
          <p:nvPr/>
        </p:nvPicPr>
        <p:blipFill>
          <a:blip r:embed="rId2" cstate="print"/>
          <a:srcRect l="50073" t="21399" r="8638" b="17695"/>
          <a:stretch>
            <a:fillRect/>
          </a:stretch>
        </p:blipFill>
        <p:spPr bwMode="auto">
          <a:xfrm>
            <a:off x="2170385" y="1907594"/>
            <a:ext cx="8371490" cy="4319785"/>
          </a:xfrm>
          <a:prstGeom prst="rect">
            <a:avLst/>
          </a:prstGeom>
          <a:noFill/>
          <a:ln w="3175">
            <a:solidFill>
              <a:schemeClr val="tx1"/>
            </a:solidFill>
            <a:miter lim="800000"/>
            <a:headEnd/>
            <a:tailEnd/>
          </a:ln>
        </p:spPr>
      </p:pic>
    </p:spTree>
    <p:extLst>
      <p:ext uri="{BB962C8B-B14F-4D97-AF65-F5344CB8AC3E}">
        <p14:creationId xmlns:p14="http://schemas.microsoft.com/office/powerpoint/2010/main" val="174182933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7937"/>
            <a:ext cx="2369127" cy="673707"/>
          </a:xfrm>
        </p:spPr>
        <p:txBody>
          <a:bodyPr>
            <a:normAutofit fontScale="90000"/>
          </a:bodyPr>
          <a:lstStyle/>
          <a:p>
            <a:r>
              <a:rPr lang="en-MY" dirty="0"/>
              <a:t>Example: </a:t>
            </a:r>
          </a:p>
        </p:txBody>
      </p:sp>
      <p:sp>
        <p:nvSpPr>
          <p:cNvPr id="5" name="AutoShape 2" descr="Data Modeling and Entity Relationship Diagram (ERD)"/>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MY"/>
          </a:p>
        </p:txBody>
      </p:sp>
      <p:pic>
        <p:nvPicPr>
          <p:cNvPr id="6148" name="Picture 4" descr="IDEF1X, Crowsfoot, Chen [Data Model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53959" y="557468"/>
            <a:ext cx="10067727" cy="57344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9779439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MY" b="1" dirty="0">
                <a:solidFill>
                  <a:srgbClr val="FF0000"/>
                </a:solidFill>
              </a:rPr>
              <a:t>Optionality</a:t>
            </a:r>
            <a:r>
              <a:rPr lang="en-MY" b="1" dirty="0"/>
              <a:t> and </a:t>
            </a:r>
            <a:r>
              <a:rPr lang="en-MY" b="1" dirty="0">
                <a:solidFill>
                  <a:srgbClr val="0070C0"/>
                </a:solidFill>
              </a:rPr>
              <a:t>Cardinality</a:t>
            </a:r>
            <a:endParaRPr lang="en-MY" dirty="0">
              <a:solidFill>
                <a:srgbClr val="0070C0"/>
              </a:solidFill>
            </a:endParaRPr>
          </a:p>
        </p:txBody>
      </p:sp>
      <p:sp>
        <p:nvSpPr>
          <p:cNvPr id="3" name="Content Placeholder 2"/>
          <p:cNvSpPr>
            <a:spLocks noGrp="1"/>
          </p:cNvSpPr>
          <p:nvPr>
            <p:ph idx="1"/>
          </p:nvPr>
        </p:nvSpPr>
        <p:spPr/>
        <p:txBody>
          <a:bodyPr/>
          <a:lstStyle/>
          <a:p>
            <a:pPr fontAlgn="base"/>
            <a:r>
              <a:rPr lang="en-US" sz="3200" dirty="0"/>
              <a:t>Examples: </a:t>
            </a:r>
          </a:p>
          <a:p>
            <a:pPr fontAlgn="base"/>
            <a:r>
              <a:rPr lang="en-US" sz="3200" dirty="0"/>
              <a:t>Each </a:t>
            </a:r>
            <a:r>
              <a:rPr lang="en-US" sz="3200" b="1" dirty="0"/>
              <a:t>EMPLOYEE </a:t>
            </a:r>
            <a:r>
              <a:rPr lang="en-US" sz="3200" b="1" dirty="0">
                <a:solidFill>
                  <a:srgbClr val="FF0000"/>
                </a:solidFill>
              </a:rPr>
              <a:t>must hold </a:t>
            </a:r>
            <a:r>
              <a:rPr lang="en-US" sz="3200" b="1" dirty="0">
                <a:solidFill>
                  <a:srgbClr val="0070C0"/>
                </a:solidFill>
              </a:rPr>
              <a:t>one and only one </a:t>
            </a:r>
            <a:r>
              <a:rPr lang="en-US" sz="3200" b="1" dirty="0"/>
              <a:t>JOB </a:t>
            </a:r>
            <a:endParaRPr lang="en-US" sz="3200" dirty="0"/>
          </a:p>
          <a:p>
            <a:pPr fontAlgn="base"/>
            <a:r>
              <a:rPr lang="en-US" sz="3200" dirty="0"/>
              <a:t>Each </a:t>
            </a:r>
            <a:r>
              <a:rPr lang="en-US" sz="3200" b="1" dirty="0"/>
              <a:t>JOB </a:t>
            </a:r>
            <a:r>
              <a:rPr lang="en-US" sz="3200" b="1" dirty="0">
                <a:solidFill>
                  <a:srgbClr val="FF0000"/>
                </a:solidFill>
              </a:rPr>
              <a:t>may be held by </a:t>
            </a:r>
            <a:r>
              <a:rPr lang="en-US" sz="3200" b="1" dirty="0">
                <a:solidFill>
                  <a:srgbClr val="0070C0"/>
                </a:solidFill>
              </a:rPr>
              <a:t>one or more </a:t>
            </a:r>
            <a:r>
              <a:rPr lang="en-US" sz="3200" b="1" dirty="0"/>
              <a:t>EMPLOYEEs </a:t>
            </a:r>
            <a:endParaRPr lang="en-US" sz="3200" dirty="0"/>
          </a:p>
          <a:p>
            <a:pPr fontAlgn="base"/>
            <a:br>
              <a:rPr lang="en-US" sz="3200" dirty="0"/>
            </a:br>
            <a:r>
              <a:rPr lang="en-US" sz="3200" dirty="0"/>
              <a:t>Each </a:t>
            </a:r>
            <a:r>
              <a:rPr lang="en-US" sz="3200" b="1" dirty="0"/>
              <a:t>PRODUCT </a:t>
            </a:r>
            <a:r>
              <a:rPr lang="en-US" sz="3200" b="1" dirty="0">
                <a:solidFill>
                  <a:srgbClr val="FF0000"/>
                </a:solidFill>
              </a:rPr>
              <a:t>must be classified by </a:t>
            </a:r>
            <a:r>
              <a:rPr lang="en-US" sz="3200" b="1" dirty="0">
                <a:solidFill>
                  <a:srgbClr val="0070C0"/>
                </a:solidFill>
              </a:rPr>
              <a:t>one and only one </a:t>
            </a:r>
            <a:r>
              <a:rPr lang="en-US" sz="3200" b="1" dirty="0"/>
              <a:t>PRODUCT TYPE </a:t>
            </a:r>
            <a:endParaRPr lang="en-US" sz="3200" dirty="0"/>
          </a:p>
          <a:p>
            <a:pPr fontAlgn="base"/>
            <a:r>
              <a:rPr lang="en-US" sz="3200" dirty="0"/>
              <a:t>Each </a:t>
            </a:r>
            <a:r>
              <a:rPr lang="en-US" sz="3200" b="1" dirty="0"/>
              <a:t>PRODUCT TYPE </a:t>
            </a:r>
            <a:r>
              <a:rPr lang="en-US" sz="3200" b="1" dirty="0">
                <a:solidFill>
                  <a:srgbClr val="FF0000"/>
                </a:solidFill>
              </a:rPr>
              <a:t>may classify </a:t>
            </a:r>
            <a:r>
              <a:rPr lang="en-US" sz="3200" b="1" dirty="0">
                <a:solidFill>
                  <a:srgbClr val="0070C0"/>
                </a:solidFill>
              </a:rPr>
              <a:t>one or more </a:t>
            </a:r>
            <a:r>
              <a:rPr lang="en-US" sz="3200" b="1" dirty="0"/>
              <a:t>PRODUCTs </a:t>
            </a:r>
            <a:endParaRPr lang="en-US" sz="3200" dirty="0"/>
          </a:p>
          <a:p>
            <a:endParaRPr lang="en-MY" dirty="0"/>
          </a:p>
        </p:txBody>
      </p:sp>
    </p:spTree>
    <p:extLst>
      <p:ext uri="{BB962C8B-B14F-4D97-AF65-F5344CB8AC3E}">
        <p14:creationId xmlns:p14="http://schemas.microsoft.com/office/powerpoint/2010/main" val="86559002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What is Cardinality in a Relationship? </a:t>
            </a:r>
            <a:endParaRPr lang="en-MY" dirty="0"/>
          </a:p>
        </p:txBody>
      </p:sp>
      <p:sp>
        <p:nvSpPr>
          <p:cNvPr id="3" name="Content Placeholder 2"/>
          <p:cNvSpPr>
            <a:spLocks noGrp="1"/>
          </p:cNvSpPr>
          <p:nvPr>
            <p:ph idx="1"/>
          </p:nvPr>
        </p:nvSpPr>
        <p:spPr>
          <a:xfrm>
            <a:off x="735981" y="1845734"/>
            <a:ext cx="10883590" cy="4023360"/>
          </a:xfrm>
        </p:spPr>
        <p:txBody>
          <a:bodyPr>
            <a:normAutofit fontScale="92500" lnSpcReduction="20000"/>
          </a:bodyPr>
          <a:lstStyle/>
          <a:p>
            <a:r>
              <a:rPr lang="en-US" sz="2800" dirty="0"/>
              <a:t>Cardinality. This specifies the number of each entity that is involved in the relationship. There are 3 types of cardinality for binary and unary relationships:</a:t>
            </a:r>
            <a:br>
              <a:rPr lang="en-US" sz="2800" dirty="0"/>
            </a:br>
            <a:br>
              <a:rPr lang="en-US" sz="2800" dirty="0"/>
            </a:br>
            <a:r>
              <a:rPr lang="en-US" sz="2800" dirty="0"/>
              <a:t>1. </a:t>
            </a:r>
            <a:r>
              <a:rPr lang="en-US" sz="2800" b="1" dirty="0"/>
              <a:t>One to one (1:1). </a:t>
            </a:r>
            <a:r>
              <a:rPr lang="en-US" sz="2800" dirty="0"/>
              <a:t>For example, </a:t>
            </a:r>
            <a:r>
              <a:rPr lang="en-US" sz="2800" b="1" dirty="0"/>
              <a:t>1 man is married to 1 woman.</a:t>
            </a:r>
            <a:br>
              <a:rPr lang="en-US" sz="2800" dirty="0"/>
            </a:br>
            <a:br>
              <a:rPr lang="en-US" sz="2800" dirty="0"/>
            </a:br>
            <a:r>
              <a:rPr lang="en-US" sz="2800" dirty="0"/>
              <a:t>2. </a:t>
            </a:r>
            <a:r>
              <a:rPr lang="en-US" sz="2800" b="1" dirty="0"/>
              <a:t>One to many (1:M). </a:t>
            </a:r>
            <a:r>
              <a:rPr lang="en-US" sz="2800" dirty="0"/>
              <a:t>For example</a:t>
            </a:r>
            <a:r>
              <a:rPr lang="en-US" sz="2800" b="1" dirty="0"/>
              <a:t>, 1 manager manages many employees, each employee is managed by 1 manager.</a:t>
            </a:r>
            <a:br>
              <a:rPr lang="en-US" sz="2800" dirty="0"/>
            </a:br>
            <a:br>
              <a:rPr lang="en-US" sz="2800" dirty="0"/>
            </a:br>
            <a:r>
              <a:rPr lang="en-US" sz="2800" dirty="0"/>
              <a:t>3. </a:t>
            </a:r>
            <a:r>
              <a:rPr lang="en-US" sz="2800" b="1" dirty="0"/>
              <a:t>Many to many (M:N). </a:t>
            </a:r>
            <a:r>
              <a:rPr lang="en-US" sz="2800" dirty="0"/>
              <a:t>For example, </a:t>
            </a:r>
            <a:r>
              <a:rPr lang="en-US" sz="2800" b="1" dirty="0"/>
              <a:t>Each students take many modules, each module is taken by many students.</a:t>
            </a:r>
            <a:br>
              <a:rPr lang="en-US" sz="2800" dirty="0"/>
            </a:br>
            <a:br>
              <a:rPr lang="en-US" sz="2800" dirty="0"/>
            </a:br>
            <a:r>
              <a:rPr lang="en-US" sz="2800" dirty="0"/>
              <a:t>How many is many? It doesn't matter! If it's 0, 10 or 100, the way you implement the relationship is the same.</a:t>
            </a:r>
          </a:p>
          <a:p>
            <a:endParaRPr lang="en-MY" dirty="0"/>
          </a:p>
        </p:txBody>
      </p:sp>
    </p:spTree>
    <p:extLst>
      <p:ext uri="{BB962C8B-B14F-4D97-AF65-F5344CB8AC3E}">
        <p14:creationId xmlns:p14="http://schemas.microsoft.com/office/powerpoint/2010/main" val="294934084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AnyQuestions – Hamilton Librarie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92315" y="2560019"/>
            <a:ext cx="3605786" cy="2036920"/>
          </a:xfrm>
          <a:prstGeom prst="rect">
            <a:avLst/>
          </a:prstGeom>
          <a:noFill/>
          <a:extLst>
            <a:ext uri="{909E8E84-426E-40DD-AFC4-6F175D3DCCD1}">
              <a14:hiddenFill xmlns:a14="http://schemas.microsoft.com/office/drawing/2010/main">
                <a:solidFill>
                  <a:srgbClr val="FFFFFF"/>
                </a:solidFill>
              </a14:hiddenFill>
            </a:ext>
          </a:extLst>
        </p:spPr>
      </p:pic>
      <p:sp>
        <p:nvSpPr>
          <p:cNvPr id="5" name="Title 4"/>
          <p:cNvSpPr>
            <a:spLocks noGrp="1"/>
          </p:cNvSpPr>
          <p:nvPr>
            <p:ph type="title"/>
          </p:nvPr>
        </p:nvSpPr>
        <p:spPr/>
        <p:txBody>
          <a:bodyPr/>
          <a:lstStyle/>
          <a:p>
            <a:endParaRPr lang="en-MY"/>
          </a:p>
        </p:txBody>
      </p:sp>
      <p:sp>
        <p:nvSpPr>
          <p:cNvPr id="2" name="Rectangle 1"/>
          <p:cNvSpPr/>
          <p:nvPr/>
        </p:nvSpPr>
        <p:spPr>
          <a:xfrm>
            <a:off x="5977217" y="3244334"/>
            <a:ext cx="237566" cy="369332"/>
          </a:xfrm>
          <a:prstGeom prst="rect">
            <a:avLst/>
          </a:prstGeom>
        </p:spPr>
        <p:txBody>
          <a:bodyPr wrap="none">
            <a:spAutoFit/>
          </a:bodyPr>
          <a:lstStyle/>
          <a:p>
            <a:r>
              <a:rPr lang="en-MY" dirty="0"/>
              <a:t> </a:t>
            </a:r>
          </a:p>
        </p:txBody>
      </p:sp>
    </p:spTree>
    <p:extLst>
      <p:ext uri="{BB962C8B-B14F-4D97-AF65-F5344CB8AC3E}">
        <p14:creationId xmlns:p14="http://schemas.microsoft.com/office/powerpoint/2010/main" val="261838362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264135" y="376310"/>
            <a:ext cx="10058400" cy="4023360"/>
          </a:xfrm>
        </p:spPr>
        <p:txBody>
          <a:bodyPr/>
          <a:lstStyle/>
          <a:p>
            <a:r>
              <a:rPr lang="en-US" sz="3200" dirty="0"/>
              <a:t>Since each relationship has two sides, first read relationship from </a:t>
            </a:r>
            <a:r>
              <a:rPr lang="en-US" sz="3200" b="1" dirty="0"/>
              <a:t>left to right </a:t>
            </a:r>
            <a:r>
              <a:rPr lang="en-US" sz="3200" dirty="0"/>
              <a:t>(or top to bottom, depending on the ERD layout). </a:t>
            </a:r>
          </a:p>
          <a:p>
            <a:endParaRPr lang="en-MY" dirty="0"/>
          </a:p>
        </p:txBody>
      </p:sp>
      <p:pic>
        <p:nvPicPr>
          <p:cNvPr id="2050" name="Picture 2" descr="https://lh5.googleusercontent.com/-3GCGKD0y_OI_PUCWYq3SdUFWlCFff6jhuZNNfzSQkBBqgEHrH1Z4q8BUm2_ZKTpvSq7M755PkiEkFcd_yc4LsBz189NZ7dSWMK4c83NplzlgswzjwanFs7uKaJb-OkfpTFge-FJhhSrf4HGCwC_Cw=s204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84377" y="1876938"/>
            <a:ext cx="9574418" cy="38837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7842062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MY"/>
          </a:p>
        </p:txBody>
      </p:sp>
      <p:pic>
        <p:nvPicPr>
          <p:cNvPr id="3074" name="Picture 2" descr="https://lh6.googleusercontent.com/Z2Gk0erY5IraoEd9MpFe0z7Qw5HFX1ZbMdobhRqxF9ckE8zI6UbV8xMnzAKFmXVncQg3y97ao973wdpSxtvjYQ9q2euUAHhIRw-en2odfK1t5uaO2TcATJqX9bmp3-1Wa0NP6k_ErGAsybAjAVHJ1Q=s204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08223" y="894858"/>
            <a:ext cx="7036222" cy="457155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4785616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MY"/>
          </a:p>
        </p:txBody>
      </p:sp>
      <p:pic>
        <p:nvPicPr>
          <p:cNvPr id="4098" name="Picture 2" descr="https://lh4.googleusercontent.com/DOxxeD2qCU_3u33UAJcVkWKqeVwkfEe072Nq_0_V6xo201I3jKl87NBJKB0Df5HqBcFf6I3ThbWS_zmuRpDz_tV7bC8GZbloFqt8e7oLSKcURbwb5IeploqLRqdEagpXIxotIsPOfdCP7R0fBb3l-w=s204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86148" y="914400"/>
            <a:ext cx="6771599" cy="4336869"/>
          </a:xfrm>
          <a:prstGeom prst="rect">
            <a:avLst/>
          </a:prstGeom>
          <a:noFill/>
          <a:extLst>
            <a:ext uri="{909E8E84-426E-40DD-AFC4-6F175D3DCCD1}">
              <a14:hiddenFill xmlns:a14="http://schemas.microsoft.com/office/drawing/2010/main">
                <a:solidFill>
                  <a:srgbClr val="FFFFFF"/>
                </a:solidFill>
              </a14:hiddenFill>
            </a:ext>
          </a:extLst>
        </p:spPr>
      </p:pic>
      <p:cxnSp>
        <p:nvCxnSpPr>
          <p:cNvPr id="9" name="Straight Connector 8"/>
          <p:cNvCxnSpPr/>
          <p:nvPr/>
        </p:nvCxnSpPr>
        <p:spPr>
          <a:xfrm>
            <a:off x="4872446" y="2024743"/>
            <a:ext cx="0" cy="483326"/>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a:off x="6723017" y="2024743"/>
            <a:ext cx="0" cy="483326"/>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6566263" y="2024743"/>
            <a:ext cx="0" cy="483326"/>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5899950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MY" dirty="0"/>
              <a:t>Test your knowledge</a:t>
            </a:r>
          </a:p>
        </p:txBody>
      </p:sp>
      <p:sp>
        <p:nvSpPr>
          <p:cNvPr id="3" name="Content Placeholder 2"/>
          <p:cNvSpPr>
            <a:spLocks noGrp="1"/>
          </p:cNvSpPr>
          <p:nvPr>
            <p:ph idx="1"/>
          </p:nvPr>
        </p:nvSpPr>
        <p:spPr>
          <a:xfrm>
            <a:off x="1097280" y="2078064"/>
            <a:ext cx="10058400" cy="4821212"/>
          </a:xfrm>
        </p:spPr>
        <p:txBody>
          <a:bodyPr>
            <a:normAutofit/>
          </a:bodyPr>
          <a:lstStyle/>
          <a:p>
            <a:r>
              <a:rPr lang="en-US" dirty="0"/>
              <a:t>1. The goal of this practice is to read a relationship. Which text corresponds to the diagram? </a:t>
            </a:r>
          </a:p>
          <a:p>
            <a:br>
              <a:rPr lang="en-US" dirty="0"/>
            </a:br>
            <a:br>
              <a:rPr lang="en-US" dirty="0"/>
            </a:br>
            <a:r>
              <a:rPr lang="en-US" dirty="0"/>
              <a:t>a. Each EMPLOYEE may be assigned to one or more DEPARTMENTs. </a:t>
            </a:r>
          </a:p>
          <a:p>
            <a:r>
              <a:rPr lang="en-US" dirty="0"/>
              <a:t>Each DEPARTMENT must be responsible for one or more EMPLOYEEs. </a:t>
            </a:r>
          </a:p>
          <a:p>
            <a:r>
              <a:rPr lang="en-US" dirty="0"/>
              <a:t>b. Each EMPLOYEE must be assigned to one and only one DEPARTMENT. </a:t>
            </a:r>
          </a:p>
          <a:p>
            <a:r>
              <a:rPr lang="en-US" dirty="0"/>
              <a:t>Each DEPARTMENT must be responsible for one or more EMPLOYEEs. </a:t>
            </a:r>
          </a:p>
          <a:p>
            <a:r>
              <a:rPr lang="en-US" dirty="0"/>
              <a:t>c. Each EMPLOYEE must be assigned to exactly one DEPARTMENT. </a:t>
            </a:r>
          </a:p>
          <a:p>
            <a:r>
              <a:rPr lang="en-US" dirty="0"/>
              <a:t>Each DEPARTMENT may be responsible for exactly one EMPLOYEE. </a:t>
            </a:r>
          </a:p>
          <a:p>
            <a:br>
              <a:rPr lang="en-US" dirty="0"/>
            </a:br>
            <a:endParaRPr lang="en-MY" dirty="0"/>
          </a:p>
        </p:txBody>
      </p:sp>
      <p:pic>
        <p:nvPicPr>
          <p:cNvPr id="5122" name="Picture 2" descr="https://lh3.googleusercontent.com/95ZCPmxIPqolL6ZNIjmrzr0wo04TSa6e8W4Pa1OuCL_v11aSHO8Q24H0_rn4XuZdFYe0KQw34JMLts8_xu64KSv41gznIdj2PtW3aeUKtenAmXhcEWTTIaTzpR8wsCEgoZOGYFhO1Te86LtFIrmkkg=s204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62873" y="2429622"/>
            <a:ext cx="3505200" cy="9473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8622695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MY" dirty="0"/>
              <a:t>Test your knowledge</a:t>
            </a:r>
          </a:p>
        </p:txBody>
      </p:sp>
      <p:sp>
        <p:nvSpPr>
          <p:cNvPr id="3" name="Content Placeholder 2"/>
          <p:cNvSpPr>
            <a:spLocks noGrp="1"/>
          </p:cNvSpPr>
          <p:nvPr>
            <p:ph idx="1"/>
          </p:nvPr>
        </p:nvSpPr>
        <p:spPr/>
        <p:txBody>
          <a:bodyPr>
            <a:normAutofit lnSpcReduction="10000"/>
          </a:bodyPr>
          <a:lstStyle/>
          <a:p>
            <a:r>
              <a:rPr lang="en-US" dirty="0"/>
              <a:t>1. The goal of this practice is to read a relationship. Which text corresponds to the diagram? </a:t>
            </a:r>
          </a:p>
          <a:p>
            <a:br>
              <a:rPr lang="en-US" dirty="0"/>
            </a:br>
            <a:br>
              <a:rPr lang="en-US" dirty="0"/>
            </a:br>
            <a:r>
              <a:rPr lang="en-US" dirty="0"/>
              <a:t>a. Each EMPLOYEE may be assigned to one or more DEPARTMENTs. </a:t>
            </a:r>
          </a:p>
          <a:p>
            <a:r>
              <a:rPr lang="en-US" dirty="0"/>
              <a:t>Each DEPARTMENT must be responsible for one or more EMPLOYEEs. </a:t>
            </a:r>
          </a:p>
          <a:p>
            <a:r>
              <a:rPr lang="en-US" dirty="0">
                <a:solidFill>
                  <a:schemeClr val="accent1">
                    <a:lumMod val="75000"/>
                  </a:schemeClr>
                </a:solidFill>
              </a:rPr>
              <a:t>b. Each EMPLOYEE must be assigned to one and only one DEPARTMENT. </a:t>
            </a:r>
          </a:p>
          <a:p>
            <a:r>
              <a:rPr lang="en-US" dirty="0">
                <a:solidFill>
                  <a:schemeClr val="accent1">
                    <a:lumMod val="75000"/>
                  </a:schemeClr>
                </a:solidFill>
              </a:rPr>
              <a:t>Each DEPARTMENT must be responsible for one or more EMPLOYEEs. </a:t>
            </a:r>
          </a:p>
          <a:p>
            <a:r>
              <a:rPr lang="en-US" dirty="0"/>
              <a:t>c. Each EMPLOYEE must be assigned to exactly one DEPARTMENT. </a:t>
            </a:r>
          </a:p>
          <a:p>
            <a:r>
              <a:rPr lang="en-US" dirty="0"/>
              <a:t>Each DEPARTMENT may be responsible for exactly one EMPLOYEE. </a:t>
            </a:r>
          </a:p>
          <a:p>
            <a:br>
              <a:rPr lang="en-US" dirty="0"/>
            </a:br>
            <a:endParaRPr lang="en-MY" dirty="0"/>
          </a:p>
        </p:txBody>
      </p:sp>
      <p:pic>
        <p:nvPicPr>
          <p:cNvPr id="4" name="Picture 2" descr="https://lh3.googleusercontent.com/95ZCPmxIPqolL6ZNIjmrzr0wo04TSa6e8W4Pa1OuCL_v11aSHO8Q24H0_rn4XuZdFYe0KQw34JMLts8_xu64KSv41gznIdj2PtW3aeUKtenAmXhcEWTTIaTzpR8wsCEgoZOGYFhO1Te86LtFIrmkkg=s204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62873" y="2429622"/>
            <a:ext cx="3505200" cy="9473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8187016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MY" dirty="0"/>
              <a:t>Conclusion</a:t>
            </a:r>
          </a:p>
        </p:txBody>
      </p:sp>
      <p:sp>
        <p:nvSpPr>
          <p:cNvPr id="3" name="Content Placeholder 2"/>
          <p:cNvSpPr>
            <a:spLocks noGrp="1"/>
          </p:cNvSpPr>
          <p:nvPr>
            <p:ph idx="1"/>
          </p:nvPr>
        </p:nvSpPr>
        <p:spPr>
          <a:xfrm>
            <a:off x="972589" y="2011680"/>
            <a:ext cx="10482349" cy="4206240"/>
          </a:xfrm>
        </p:spPr>
        <p:txBody>
          <a:bodyPr>
            <a:normAutofit lnSpcReduction="10000"/>
          </a:bodyPr>
          <a:lstStyle/>
          <a:p>
            <a:pPr>
              <a:lnSpc>
                <a:spcPct val="150000"/>
              </a:lnSpc>
              <a:buFont typeface="Wingdings" pitchFamily="2" charset="2"/>
              <a:buChar char="v"/>
              <a:defRPr/>
            </a:pPr>
            <a:r>
              <a:rPr lang="en-GB" sz="2800" dirty="0"/>
              <a:t>ER Model is the constructs and conventions used to create a model of the user data. </a:t>
            </a:r>
            <a:endParaRPr lang="en-US" sz="2800" dirty="0"/>
          </a:p>
          <a:p>
            <a:pPr>
              <a:lnSpc>
                <a:spcPct val="150000"/>
              </a:lnSpc>
              <a:buFont typeface="Wingdings" pitchFamily="2" charset="2"/>
              <a:buChar char="v"/>
              <a:defRPr/>
            </a:pPr>
            <a:r>
              <a:rPr lang="en-GB" sz="2800" dirty="0"/>
              <a:t>The results are documented in an entity relationship diagram.</a:t>
            </a:r>
            <a:endParaRPr lang="en-US" sz="2800" dirty="0"/>
          </a:p>
          <a:p>
            <a:pPr>
              <a:lnSpc>
                <a:spcPct val="150000"/>
              </a:lnSpc>
              <a:buFont typeface="Wingdings" pitchFamily="2" charset="2"/>
              <a:buChar char="v"/>
              <a:defRPr/>
            </a:pPr>
            <a:r>
              <a:rPr lang="en-GB" sz="2800" dirty="0"/>
              <a:t>Entity relationship diagram is a diagram that depicts entity relationship model entities, attributes and relations. It also displays connectivity and cardinality.</a:t>
            </a:r>
            <a:endParaRPr lang="en-US" sz="2800" dirty="0"/>
          </a:p>
          <a:p>
            <a:pPr marL="0" indent="0">
              <a:buNone/>
            </a:pPr>
            <a:endParaRPr lang="en-MY" dirty="0"/>
          </a:p>
        </p:txBody>
      </p:sp>
    </p:spTree>
    <p:extLst>
      <p:ext uri="{BB962C8B-B14F-4D97-AF65-F5344CB8AC3E}">
        <p14:creationId xmlns:p14="http://schemas.microsoft.com/office/powerpoint/2010/main" val="385790013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7527" y="286603"/>
            <a:ext cx="10058400" cy="1450757"/>
          </a:xfrm>
        </p:spPr>
        <p:txBody>
          <a:bodyPr/>
          <a:lstStyle/>
          <a:p>
            <a:r>
              <a:rPr lang="en-MY" dirty="0"/>
              <a:t>Lesson Learning Outcome (LLO)</a:t>
            </a:r>
          </a:p>
        </p:txBody>
      </p:sp>
      <p:sp>
        <p:nvSpPr>
          <p:cNvPr id="4" name="Content Placeholder 5"/>
          <p:cNvSpPr>
            <a:spLocks noGrp="1"/>
          </p:cNvSpPr>
          <p:nvPr>
            <p:ph idx="1"/>
          </p:nvPr>
        </p:nvSpPr>
        <p:spPr>
          <a:xfrm>
            <a:off x="1097280" y="1978428"/>
            <a:ext cx="6716684" cy="3292149"/>
          </a:xfrm>
        </p:spPr>
        <p:txBody>
          <a:bodyPr>
            <a:noAutofit/>
          </a:bodyPr>
          <a:lstStyle/>
          <a:p>
            <a:pPr marL="0" indent="0">
              <a:spcBef>
                <a:spcPts val="0"/>
              </a:spcBef>
              <a:buNone/>
            </a:pPr>
            <a:r>
              <a:rPr lang="en-US" sz="2400" dirty="0">
                <a:solidFill>
                  <a:schemeClr val="tx1"/>
                </a:solidFill>
                <a:latin typeface="Arial Narrow" panose="020B0606020202030204" pitchFamily="34" charset="0"/>
              </a:rPr>
              <a:t>3.2.4 Identify the E-R diagram notations for:</a:t>
            </a:r>
          </a:p>
          <a:p>
            <a:pPr marL="533387" lvl="1" indent="0">
              <a:spcBef>
                <a:spcPts val="0"/>
              </a:spcBef>
              <a:buNone/>
            </a:pPr>
            <a:r>
              <a:rPr lang="en-US" sz="2400" dirty="0">
                <a:solidFill>
                  <a:schemeClr val="tx1"/>
                </a:solidFill>
                <a:latin typeface="Arial Narrow" panose="020B0606020202030204" pitchFamily="34" charset="0"/>
              </a:rPr>
              <a:t>a. Entity</a:t>
            </a:r>
          </a:p>
          <a:p>
            <a:pPr marL="533387" lvl="1" indent="0">
              <a:spcBef>
                <a:spcPts val="0"/>
              </a:spcBef>
              <a:buNone/>
            </a:pPr>
            <a:r>
              <a:rPr lang="en-US" sz="2400" dirty="0">
                <a:solidFill>
                  <a:schemeClr val="tx1"/>
                </a:solidFill>
                <a:latin typeface="Arial Narrow" panose="020B0606020202030204" pitchFamily="34" charset="0"/>
              </a:rPr>
              <a:t>b. Weak entity</a:t>
            </a:r>
          </a:p>
          <a:p>
            <a:pPr marL="533387" lvl="1" indent="0">
              <a:spcBef>
                <a:spcPts val="0"/>
              </a:spcBef>
              <a:buNone/>
            </a:pPr>
            <a:r>
              <a:rPr lang="en-US" sz="2400" dirty="0">
                <a:solidFill>
                  <a:schemeClr val="tx1"/>
                </a:solidFill>
                <a:latin typeface="Arial Narrow" panose="020B0606020202030204" pitchFamily="34" charset="0"/>
              </a:rPr>
              <a:t>c. Attributes</a:t>
            </a:r>
          </a:p>
          <a:p>
            <a:pPr marL="533387" lvl="1" indent="0">
              <a:spcBef>
                <a:spcPts val="0"/>
              </a:spcBef>
              <a:buNone/>
            </a:pPr>
            <a:r>
              <a:rPr lang="en-US" sz="2400" dirty="0">
                <a:latin typeface="Arial Narrow" panose="020B0606020202030204" pitchFamily="34" charset="0"/>
              </a:rPr>
              <a:t>d. Key attribute</a:t>
            </a:r>
          </a:p>
          <a:p>
            <a:pPr marL="533387" lvl="1" indent="0">
              <a:spcBef>
                <a:spcPts val="0"/>
              </a:spcBef>
              <a:buNone/>
            </a:pPr>
            <a:r>
              <a:rPr lang="en-US" sz="2400" dirty="0">
                <a:latin typeface="Arial Narrow" panose="020B0606020202030204" pitchFamily="34" charset="0"/>
              </a:rPr>
              <a:t>e. Multivalued attribute</a:t>
            </a:r>
          </a:p>
          <a:p>
            <a:pPr marL="533387" lvl="1" indent="0">
              <a:spcBef>
                <a:spcPts val="0"/>
              </a:spcBef>
              <a:buNone/>
            </a:pPr>
            <a:r>
              <a:rPr lang="en-US" sz="2400" dirty="0">
                <a:latin typeface="Arial Narrow" panose="020B0606020202030204" pitchFamily="34" charset="0"/>
              </a:rPr>
              <a:t>f. Derived attribute</a:t>
            </a:r>
          </a:p>
          <a:p>
            <a:pPr marL="533387" lvl="1" indent="0">
              <a:spcBef>
                <a:spcPts val="0"/>
              </a:spcBef>
              <a:buNone/>
            </a:pPr>
            <a:r>
              <a:rPr lang="en-US" sz="2400" dirty="0">
                <a:latin typeface="Arial Narrow" panose="020B0606020202030204" pitchFamily="34" charset="0"/>
              </a:rPr>
              <a:t>g. Relationships</a:t>
            </a:r>
          </a:p>
          <a:p>
            <a:pPr marL="533387" lvl="1" indent="0">
              <a:spcBef>
                <a:spcPts val="0"/>
              </a:spcBef>
              <a:buNone/>
            </a:pPr>
            <a:r>
              <a:rPr lang="en-US" sz="2400" dirty="0">
                <a:latin typeface="Arial Narrow" panose="020B0606020202030204" pitchFamily="34" charset="0"/>
              </a:rPr>
              <a:t>h. Cardinality</a:t>
            </a:r>
          </a:p>
          <a:p>
            <a:pPr marL="533387" lvl="1" indent="0">
              <a:spcBef>
                <a:spcPts val="0"/>
              </a:spcBef>
              <a:buNone/>
            </a:pPr>
            <a:endParaRPr lang="en-US" sz="2400" dirty="0">
              <a:solidFill>
                <a:schemeClr val="tx1"/>
              </a:solidFill>
              <a:latin typeface="Arial Narrow" panose="020B0606020202030204" pitchFamily="34" charset="0"/>
            </a:endParaRPr>
          </a:p>
          <a:p>
            <a:pPr marL="0" indent="0">
              <a:spcBef>
                <a:spcPts val="0"/>
              </a:spcBef>
              <a:buNone/>
            </a:pPr>
            <a:r>
              <a:rPr lang="en-MY" sz="2133" dirty="0">
                <a:solidFill>
                  <a:schemeClr val="tx1"/>
                </a:solidFill>
              </a:rPr>
              <a:t>	</a:t>
            </a:r>
          </a:p>
          <a:p>
            <a:pPr marL="0" indent="0">
              <a:spcBef>
                <a:spcPts val="0"/>
              </a:spcBef>
              <a:buNone/>
            </a:pPr>
            <a:r>
              <a:rPr lang="en-MY" sz="2133" dirty="0">
                <a:solidFill>
                  <a:schemeClr val="tx1"/>
                </a:solidFill>
              </a:rPr>
              <a:t>	</a:t>
            </a:r>
          </a:p>
          <a:p>
            <a:pPr marL="0" indent="0">
              <a:spcBef>
                <a:spcPts val="0"/>
              </a:spcBef>
              <a:buNone/>
            </a:pPr>
            <a:r>
              <a:rPr lang="en-MY" sz="2133" dirty="0">
                <a:solidFill>
                  <a:schemeClr val="tx1"/>
                </a:solidFill>
              </a:rPr>
              <a:t>	</a:t>
            </a:r>
          </a:p>
          <a:p>
            <a:pPr marL="0" indent="0">
              <a:spcBef>
                <a:spcPts val="0"/>
              </a:spcBef>
              <a:buNone/>
            </a:pPr>
            <a:r>
              <a:rPr lang="en-MY" sz="2133" dirty="0">
                <a:solidFill>
                  <a:schemeClr val="tx1"/>
                </a:solidFill>
              </a:rPr>
              <a:t>	</a:t>
            </a:r>
          </a:p>
          <a:p>
            <a:pPr marL="0" indent="0">
              <a:spcBef>
                <a:spcPts val="0"/>
              </a:spcBef>
              <a:buNone/>
            </a:pPr>
            <a:endParaRPr lang="en-MY" sz="2133" dirty="0">
              <a:solidFill>
                <a:schemeClr val="tx1"/>
              </a:solidFill>
            </a:endParaRPr>
          </a:p>
        </p:txBody>
      </p:sp>
    </p:spTree>
    <p:extLst>
      <p:ext uri="{BB962C8B-B14F-4D97-AF65-F5344CB8AC3E}">
        <p14:creationId xmlns:p14="http://schemas.microsoft.com/office/powerpoint/2010/main" val="74828275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51065" y="606829"/>
            <a:ext cx="6553200" cy="990600"/>
          </a:xfrm>
        </p:spPr>
        <p:txBody>
          <a:bodyPr>
            <a:noAutofit/>
          </a:bodyPr>
          <a:lstStyle/>
          <a:p>
            <a:r>
              <a:rPr lang="en-US" sz="6000" dirty="0">
                <a:latin typeface="Adobe Garamond Pro Bold" pitchFamily="18" charset="0"/>
              </a:rPr>
              <a:t>Entity</a:t>
            </a:r>
          </a:p>
        </p:txBody>
      </p:sp>
      <p:sp>
        <p:nvSpPr>
          <p:cNvPr id="3" name="Content Placeholder 2"/>
          <p:cNvSpPr>
            <a:spLocks noGrp="1"/>
          </p:cNvSpPr>
          <p:nvPr>
            <p:ph idx="1"/>
          </p:nvPr>
        </p:nvSpPr>
        <p:spPr>
          <a:xfrm>
            <a:off x="1375756" y="2022764"/>
            <a:ext cx="7924800" cy="5486400"/>
          </a:xfrm>
        </p:spPr>
        <p:txBody>
          <a:bodyPr>
            <a:normAutofit/>
          </a:bodyPr>
          <a:lstStyle/>
          <a:p>
            <a:r>
              <a:rPr lang="en-US" sz="2800" dirty="0"/>
              <a:t>Entities are objects or concepts that represent important data. They are typically nouns, e.g. </a:t>
            </a:r>
            <a:r>
              <a:rPr lang="en-US" sz="2800" i="1" dirty="0"/>
              <a:t>customer</a:t>
            </a:r>
            <a:r>
              <a:rPr lang="en-US" sz="2800" dirty="0"/>
              <a:t>, </a:t>
            </a:r>
            <a:r>
              <a:rPr lang="en-US" sz="2800" i="1" dirty="0"/>
              <a:t>supervisor</a:t>
            </a:r>
            <a:r>
              <a:rPr lang="en-US" sz="2800" dirty="0"/>
              <a:t>, </a:t>
            </a:r>
            <a:r>
              <a:rPr lang="en-US" sz="2800" i="1" dirty="0"/>
              <a:t>location</a:t>
            </a:r>
            <a:r>
              <a:rPr lang="en-US" sz="2800" dirty="0"/>
              <a:t>, or </a:t>
            </a:r>
            <a:r>
              <a:rPr lang="en-US" sz="2800" i="1" dirty="0"/>
              <a:t>promotion</a:t>
            </a:r>
            <a:r>
              <a:rPr lang="en-US" sz="2800" dirty="0"/>
              <a:t>.</a:t>
            </a:r>
          </a:p>
          <a:p>
            <a:r>
              <a:rPr lang="en-US" altLang="en-US" sz="2800" dirty="0"/>
              <a:t>Corresponds to table and not to row in relational environment</a:t>
            </a:r>
          </a:p>
          <a:p>
            <a:r>
              <a:rPr lang="en-US" altLang="en-US" sz="2800" dirty="0"/>
              <a:t>In both Chen and Crow’s Foot models, entity is represented by rectangle containing entity’s name  </a:t>
            </a:r>
          </a:p>
        </p:txBody>
      </p:sp>
      <p:sp>
        <p:nvSpPr>
          <p:cNvPr id="4" name="Rectangle 3"/>
          <p:cNvSpPr/>
          <p:nvPr/>
        </p:nvSpPr>
        <p:spPr>
          <a:xfrm>
            <a:off x="8997141" y="3315393"/>
            <a:ext cx="2438400" cy="10668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Entity</a:t>
            </a:r>
            <a:endParaRPr lang="en-US" dirty="0">
              <a:solidFill>
                <a:schemeClr val="tx1"/>
              </a:solidFill>
            </a:endParaRPr>
          </a:p>
        </p:txBody>
      </p:sp>
    </p:spTree>
    <p:extLst>
      <p:ext uri="{BB962C8B-B14F-4D97-AF65-F5344CB8AC3E}">
        <p14:creationId xmlns:p14="http://schemas.microsoft.com/office/powerpoint/2010/main" val="21277488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00941" y="685800"/>
            <a:ext cx="6553200" cy="990600"/>
          </a:xfrm>
        </p:spPr>
        <p:txBody>
          <a:bodyPr>
            <a:noAutofit/>
          </a:bodyPr>
          <a:lstStyle/>
          <a:p>
            <a:r>
              <a:rPr lang="en-US" sz="6000" dirty="0">
                <a:effectLst>
                  <a:outerShdw blurRad="38100" dist="38100" dir="2700000" algn="tl">
                    <a:srgbClr val="000000">
                      <a:alpha val="43137"/>
                    </a:srgbClr>
                  </a:outerShdw>
                </a:effectLst>
              </a:rPr>
              <a:t>Weak Entity</a:t>
            </a:r>
            <a:endParaRPr lang="en-US" sz="6000" dirty="0">
              <a:effectLst>
                <a:outerShdw blurRad="38100" dist="38100" dir="2700000" algn="tl">
                  <a:srgbClr val="000000">
                    <a:alpha val="43137"/>
                  </a:srgbClr>
                </a:outerShdw>
              </a:effectLst>
              <a:latin typeface="Adobe Garamond Pro Bold" pitchFamily="18" charset="0"/>
            </a:endParaRPr>
          </a:p>
        </p:txBody>
      </p:sp>
      <p:sp>
        <p:nvSpPr>
          <p:cNvPr id="3" name="Content Placeholder 2"/>
          <p:cNvSpPr>
            <a:spLocks noGrp="1"/>
          </p:cNvSpPr>
          <p:nvPr>
            <p:ph idx="1"/>
          </p:nvPr>
        </p:nvSpPr>
        <p:spPr>
          <a:xfrm>
            <a:off x="1359131" y="1814946"/>
            <a:ext cx="7924800" cy="5486400"/>
          </a:xfrm>
        </p:spPr>
        <p:txBody>
          <a:bodyPr>
            <a:normAutofit/>
          </a:bodyPr>
          <a:lstStyle/>
          <a:p>
            <a:r>
              <a:rPr lang="en-US" sz="2800" dirty="0"/>
              <a:t>An entity that cannot be uniquely identified by its attributes alone. </a:t>
            </a:r>
          </a:p>
          <a:p>
            <a:r>
              <a:rPr lang="en-US" sz="2800" dirty="0"/>
              <a:t>The existence of a weak entity is dependent upon another entity called the owner entity. </a:t>
            </a:r>
          </a:p>
          <a:p>
            <a:r>
              <a:rPr lang="en-US" sz="2800" dirty="0"/>
              <a:t>The weak entity’s identifier is a combination of the identifier of the owner entity and the partial key of the weak entity.</a:t>
            </a:r>
            <a:endParaRPr lang="en-US" altLang="en-US" sz="2800" dirty="0"/>
          </a:p>
        </p:txBody>
      </p:sp>
      <p:grpSp>
        <p:nvGrpSpPr>
          <p:cNvPr id="4" name="Group 3"/>
          <p:cNvGrpSpPr/>
          <p:nvPr/>
        </p:nvGrpSpPr>
        <p:grpSpPr>
          <a:xfrm>
            <a:off x="5029200" y="5029200"/>
            <a:ext cx="2537346" cy="1143000"/>
            <a:chOff x="1653654" y="4876800"/>
            <a:chExt cx="2537346" cy="1143000"/>
          </a:xfrm>
        </p:grpSpPr>
        <p:sp>
          <p:nvSpPr>
            <p:cNvPr id="6" name="Rectangle 5"/>
            <p:cNvSpPr/>
            <p:nvPr/>
          </p:nvSpPr>
          <p:spPr>
            <a:xfrm>
              <a:off x="1653654" y="4876800"/>
              <a:ext cx="2537346" cy="11430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7" name="Rectangle 6"/>
            <p:cNvSpPr/>
            <p:nvPr/>
          </p:nvSpPr>
          <p:spPr>
            <a:xfrm>
              <a:off x="1828800" y="5029200"/>
              <a:ext cx="2209800" cy="8382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Weak Entity</a:t>
              </a:r>
            </a:p>
          </p:txBody>
        </p:sp>
      </p:grpSp>
    </p:spTree>
    <p:extLst>
      <p:ext uri="{BB962C8B-B14F-4D97-AF65-F5344CB8AC3E}">
        <p14:creationId xmlns:p14="http://schemas.microsoft.com/office/powerpoint/2010/main" val="147060768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28800" y="665019"/>
            <a:ext cx="6553200" cy="990600"/>
          </a:xfrm>
        </p:spPr>
        <p:txBody>
          <a:bodyPr>
            <a:noAutofit/>
          </a:bodyPr>
          <a:lstStyle/>
          <a:p>
            <a:r>
              <a:rPr lang="en-US" sz="6000" dirty="0">
                <a:effectLst>
                  <a:outerShdw blurRad="38100" dist="38100" dir="2700000" algn="tl">
                    <a:srgbClr val="000000">
                      <a:alpha val="43137"/>
                    </a:srgbClr>
                  </a:outerShdw>
                </a:effectLst>
              </a:rPr>
              <a:t>Key Attribute</a:t>
            </a:r>
            <a:endParaRPr lang="en-US" sz="6000" dirty="0">
              <a:effectLst>
                <a:outerShdw blurRad="38100" dist="38100" dir="2700000" algn="tl">
                  <a:srgbClr val="000000">
                    <a:alpha val="43137"/>
                  </a:srgbClr>
                </a:outerShdw>
              </a:effectLst>
              <a:latin typeface="Adobe Garamond Pro Bold" pitchFamily="18" charset="0"/>
            </a:endParaRPr>
          </a:p>
        </p:txBody>
      </p:sp>
      <p:sp>
        <p:nvSpPr>
          <p:cNvPr id="3" name="Content Placeholder 2"/>
          <p:cNvSpPr>
            <a:spLocks noGrp="1"/>
          </p:cNvSpPr>
          <p:nvPr>
            <p:ph idx="1"/>
          </p:nvPr>
        </p:nvSpPr>
        <p:spPr>
          <a:xfrm>
            <a:off x="1828800" y="2164080"/>
            <a:ext cx="7924800" cy="5486400"/>
          </a:xfrm>
        </p:spPr>
        <p:txBody>
          <a:bodyPr>
            <a:normAutofit/>
          </a:bodyPr>
          <a:lstStyle/>
          <a:p>
            <a:r>
              <a:rPr lang="en-US" sz="2800" dirty="0"/>
              <a:t>An attribute that uniquely identifies a particular entity. </a:t>
            </a:r>
          </a:p>
          <a:p>
            <a:r>
              <a:rPr lang="en-US" sz="2800" dirty="0"/>
              <a:t>The name of a key attribute is underscored.</a:t>
            </a:r>
          </a:p>
          <a:p>
            <a:r>
              <a:rPr lang="en-US" altLang="en-US" sz="2800" dirty="0"/>
              <a:t>Only for primary key.</a:t>
            </a:r>
          </a:p>
        </p:txBody>
      </p:sp>
      <p:sp>
        <p:nvSpPr>
          <p:cNvPr id="11" name="Oval 10"/>
          <p:cNvSpPr/>
          <p:nvPr/>
        </p:nvSpPr>
        <p:spPr>
          <a:xfrm>
            <a:off x="5374179" y="4046913"/>
            <a:ext cx="3276600" cy="1066800"/>
          </a:xfrm>
          <a:prstGeom prst="ellipse">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sz="3200" u="sng" dirty="0">
                <a:ln w="0"/>
                <a:solidFill>
                  <a:schemeClr val="tx1"/>
                </a:solidFill>
                <a:effectLst>
                  <a:outerShdw blurRad="38100" dist="19050" dir="2700000" algn="tl" rotWithShape="0">
                    <a:schemeClr val="dk1">
                      <a:alpha val="40000"/>
                    </a:schemeClr>
                  </a:outerShdw>
                </a:effectLst>
              </a:rPr>
              <a:t>Attributes</a:t>
            </a:r>
            <a:endParaRPr lang="en-MY" sz="3200" u="sng" dirty="0">
              <a:ln w="0"/>
              <a:solidFill>
                <a:schemeClr val="tx1"/>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299185547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25880" y="681643"/>
            <a:ext cx="7924800" cy="990600"/>
          </a:xfrm>
        </p:spPr>
        <p:txBody>
          <a:bodyPr>
            <a:noAutofit/>
          </a:bodyPr>
          <a:lstStyle/>
          <a:p>
            <a:r>
              <a:rPr lang="en-US" sz="6000" dirty="0">
                <a:effectLst>
                  <a:outerShdw blurRad="38100" dist="38100" dir="2700000" algn="tl">
                    <a:srgbClr val="000000">
                      <a:alpha val="43137"/>
                    </a:srgbClr>
                  </a:outerShdw>
                </a:effectLst>
              </a:rPr>
              <a:t>Multivalued Attribute</a:t>
            </a:r>
            <a:endParaRPr lang="en-US" sz="6000" dirty="0">
              <a:effectLst>
                <a:outerShdw blurRad="38100" dist="38100" dir="2700000" algn="tl">
                  <a:srgbClr val="000000">
                    <a:alpha val="43137"/>
                  </a:srgbClr>
                </a:outerShdw>
              </a:effectLst>
              <a:latin typeface="Adobe Garamond Pro Bold" pitchFamily="18" charset="0"/>
            </a:endParaRPr>
          </a:p>
        </p:txBody>
      </p:sp>
      <p:sp>
        <p:nvSpPr>
          <p:cNvPr id="3" name="Content Placeholder 2"/>
          <p:cNvSpPr>
            <a:spLocks noGrp="1"/>
          </p:cNvSpPr>
          <p:nvPr>
            <p:ph idx="1"/>
          </p:nvPr>
        </p:nvSpPr>
        <p:spPr>
          <a:xfrm>
            <a:off x="1400695" y="1881447"/>
            <a:ext cx="7924800" cy="5486400"/>
          </a:xfrm>
        </p:spPr>
        <p:txBody>
          <a:bodyPr>
            <a:normAutofit/>
          </a:bodyPr>
          <a:lstStyle/>
          <a:p>
            <a:r>
              <a:rPr lang="en-US" sz="2800" dirty="0"/>
              <a:t>An attribute that can have many values (there are many distinct values entered for it in the same column of the table). </a:t>
            </a:r>
          </a:p>
          <a:p>
            <a:r>
              <a:rPr lang="en-US" sz="2800" dirty="0"/>
              <a:t>Multivalued attribute is depicted by a dual oval.</a:t>
            </a:r>
          </a:p>
          <a:p>
            <a:r>
              <a:rPr lang="en-GB" sz="2800" b="1" u="sng" dirty="0"/>
              <a:t>Example</a:t>
            </a:r>
            <a:r>
              <a:rPr lang="en-GB" sz="2800" dirty="0"/>
              <a:t>: A staff may have 2 </a:t>
            </a:r>
            <a:r>
              <a:rPr lang="en-GB" sz="2800" dirty="0" err="1"/>
              <a:t>tel_no</a:t>
            </a:r>
            <a:r>
              <a:rPr lang="en-GB" sz="2800" dirty="0"/>
              <a:t>, which are home </a:t>
            </a:r>
            <a:r>
              <a:rPr lang="en-GB" sz="2800" dirty="0" err="1"/>
              <a:t>tel_no</a:t>
            </a:r>
            <a:r>
              <a:rPr lang="en-GB" sz="2800" dirty="0"/>
              <a:t> and mobile </a:t>
            </a:r>
            <a:r>
              <a:rPr lang="en-GB" sz="2800" dirty="0" err="1"/>
              <a:t>tel_no</a:t>
            </a:r>
            <a:r>
              <a:rPr lang="en-GB" sz="2800" dirty="0"/>
              <a:t> (hand phone).</a:t>
            </a:r>
          </a:p>
          <a:p>
            <a:endParaRPr lang="en-US" altLang="en-US" sz="2800" dirty="0"/>
          </a:p>
        </p:txBody>
      </p:sp>
      <p:grpSp>
        <p:nvGrpSpPr>
          <p:cNvPr id="4" name="Group 3"/>
          <p:cNvGrpSpPr/>
          <p:nvPr/>
        </p:nvGrpSpPr>
        <p:grpSpPr>
          <a:xfrm>
            <a:off x="3886200" y="4800600"/>
            <a:ext cx="4648200" cy="1219200"/>
            <a:chOff x="2362200" y="4800600"/>
            <a:chExt cx="4648200" cy="1219200"/>
          </a:xfrm>
        </p:grpSpPr>
        <p:sp>
          <p:nvSpPr>
            <p:cNvPr id="11" name="Oval 10"/>
            <p:cNvSpPr/>
            <p:nvPr/>
          </p:nvSpPr>
          <p:spPr>
            <a:xfrm>
              <a:off x="2362200" y="4800600"/>
              <a:ext cx="4648200" cy="1219200"/>
            </a:xfrm>
            <a:prstGeom prst="ellipse">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MY" sz="2400" dirty="0">
                <a:ln w="0"/>
                <a:solidFill>
                  <a:schemeClr val="tx1"/>
                </a:solidFill>
                <a:effectLst>
                  <a:outerShdw blurRad="38100" dist="19050" dir="2700000" algn="tl" rotWithShape="0">
                    <a:schemeClr val="dk1">
                      <a:alpha val="40000"/>
                    </a:schemeClr>
                  </a:outerShdw>
                </a:effectLst>
              </a:endParaRPr>
            </a:p>
          </p:txBody>
        </p:sp>
        <p:sp>
          <p:nvSpPr>
            <p:cNvPr id="5" name="Oval 4"/>
            <p:cNvSpPr/>
            <p:nvPr/>
          </p:nvSpPr>
          <p:spPr>
            <a:xfrm>
              <a:off x="2514600" y="4876800"/>
              <a:ext cx="4343400" cy="1066800"/>
            </a:xfrm>
            <a:prstGeom prst="ellipse">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sz="2400" dirty="0">
                  <a:ln w="0"/>
                  <a:solidFill>
                    <a:schemeClr val="tx1"/>
                  </a:solidFill>
                  <a:effectLst>
                    <a:outerShdw blurRad="38100" dist="19050" dir="2700000" algn="tl" rotWithShape="0">
                      <a:schemeClr val="dk1">
                        <a:alpha val="40000"/>
                      </a:schemeClr>
                    </a:outerShdw>
                  </a:effectLst>
                </a:rPr>
                <a:t>Multivalued Attributes</a:t>
              </a:r>
              <a:endParaRPr lang="en-MY" sz="2400" dirty="0">
                <a:ln w="0"/>
                <a:solidFill>
                  <a:schemeClr val="tx1"/>
                </a:solidFill>
                <a:effectLst>
                  <a:outerShdw blurRad="38100" dist="19050" dir="2700000" algn="tl" rotWithShape="0">
                    <a:schemeClr val="dk1">
                      <a:alpha val="40000"/>
                    </a:schemeClr>
                  </a:outerShdw>
                </a:effectLst>
              </a:endParaRPr>
            </a:p>
          </p:txBody>
        </p:sp>
      </p:grpSp>
    </p:spTree>
    <p:extLst>
      <p:ext uri="{BB962C8B-B14F-4D97-AF65-F5344CB8AC3E}">
        <p14:creationId xmlns:p14="http://schemas.microsoft.com/office/powerpoint/2010/main" val="293162363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09502" y="685800"/>
            <a:ext cx="7924800" cy="990600"/>
          </a:xfrm>
        </p:spPr>
        <p:txBody>
          <a:bodyPr>
            <a:noAutofit/>
          </a:bodyPr>
          <a:lstStyle/>
          <a:p>
            <a:r>
              <a:rPr lang="en-US" sz="6000" dirty="0">
                <a:effectLst>
                  <a:outerShdw blurRad="38100" dist="38100" dir="2700000" algn="tl">
                    <a:srgbClr val="000000">
                      <a:alpha val="43137"/>
                    </a:srgbClr>
                  </a:outerShdw>
                </a:effectLst>
              </a:rPr>
              <a:t>Derived Attribute</a:t>
            </a:r>
            <a:endParaRPr lang="en-US" sz="6000" dirty="0">
              <a:effectLst>
                <a:outerShdw blurRad="38100" dist="38100" dir="2700000" algn="tl">
                  <a:srgbClr val="000000">
                    <a:alpha val="43137"/>
                  </a:srgbClr>
                </a:outerShdw>
              </a:effectLst>
              <a:latin typeface="Adobe Garamond Pro Bold" pitchFamily="18" charset="0"/>
            </a:endParaRPr>
          </a:p>
        </p:txBody>
      </p:sp>
      <p:sp>
        <p:nvSpPr>
          <p:cNvPr id="3" name="Content Placeholder 2"/>
          <p:cNvSpPr>
            <a:spLocks noGrp="1"/>
          </p:cNvSpPr>
          <p:nvPr>
            <p:ph idx="1"/>
          </p:nvPr>
        </p:nvSpPr>
        <p:spPr>
          <a:xfrm>
            <a:off x="1209502" y="1923011"/>
            <a:ext cx="7924800" cy="5486400"/>
          </a:xfrm>
        </p:spPr>
        <p:txBody>
          <a:bodyPr>
            <a:normAutofit/>
          </a:bodyPr>
          <a:lstStyle/>
          <a:p>
            <a:r>
              <a:rPr lang="en-US" dirty="0"/>
              <a:t>An attribute whose value is calculated (derived) from other attributes. </a:t>
            </a:r>
          </a:p>
          <a:p>
            <a:r>
              <a:rPr lang="en-US" dirty="0"/>
              <a:t>The derived attribute may or may not be physically stored in the database. </a:t>
            </a:r>
          </a:p>
          <a:p>
            <a:r>
              <a:rPr lang="en-US" dirty="0"/>
              <a:t>In the Chen notation, this attribute is represented by dashed oval.</a:t>
            </a:r>
          </a:p>
          <a:p>
            <a:r>
              <a:rPr lang="en-GB" sz="2800" b="1" u="sng" dirty="0"/>
              <a:t>Example</a:t>
            </a:r>
            <a:r>
              <a:rPr lang="en-GB" sz="2800" dirty="0"/>
              <a:t>: Age can be known from </a:t>
            </a:r>
            <a:r>
              <a:rPr lang="en-GB" sz="2800" dirty="0" err="1"/>
              <a:t>Date_of_Birth</a:t>
            </a:r>
            <a:r>
              <a:rPr lang="en-GB" sz="2800" dirty="0"/>
              <a:t>.</a:t>
            </a:r>
          </a:p>
          <a:p>
            <a:endParaRPr lang="en-US" altLang="en-US" dirty="0"/>
          </a:p>
        </p:txBody>
      </p:sp>
      <p:sp>
        <p:nvSpPr>
          <p:cNvPr id="5" name="Oval 4"/>
          <p:cNvSpPr/>
          <p:nvPr/>
        </p:nvSpPr>
        <p:spPr>
          <a:xfrm>
            <a:off x="3815575" y="4132811"/>
            <a:ext cx="4343400" cy="1066800"/>
          </a:xfrm>
          <a:prstGeom prst="ellipse">
            <a:avLst/>
          </a:prstGeom>
          <a:noFill/>
          <a:ln w="25400">
            <a:solidFill>
              <a:schemeClr val="tx1"/>
            </a:solidFill>
            <a:prstDash val="dashDot"/>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sz="2400" dirty="0">
                <a:ln w="0"/>
                <a:solidFill>
                  <a:schemeClr val="tx1"/>
                </a:solidFill>
                <a:effectLst>
                  <a:outerShdw blurRad="38100" dist="19050" dir="2700000" algn="tl" rotWithShape="0">
                    <a:schemeClr val="dk1">
                      <a:alpha val="40000"/>
                    </a:schemeClr>
                  </a:outerShdw>
                </a:effectLst>
              </a:rPr>
              <a:t>Derived Attributes</a:t>
            </a:r>
            <a:endParaRPr lang="en-MY" sz="2400" dirty="0">
              <a:ln w="0"/>
              <a:solidFill>
                <a:schemeClr val="tx1"/>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100476055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59131" y="714895"/>
            <a:ext cx="7924800" cy="990600"/>
          </a:xfrm>
        </p:spPr>
        <p:txBody>
          <a:bodyPr>
            <a:noAutofit/>
          </a:bodyPr>
          <a:lstStyle/>
          <a:p>
            <a:r>
              <a:rPr lang="en-US" sz="6000" dirty="0">
                <a:effectLst>
                  <a:outerShdw blurRad="38100" dist="38100" dir="2700000" algn="tl">
                    <a:srgbClr val="000000">
                      <a:alpha val="43137"/>
                    </a:srgbClr>
                  </a:outerShdw>
                </a:effectLst>
              </a:rPr>
              <a:t>Activity 1</a:t>
            </a:r>
            <a:endParaRPr lang="en-US" sz="6000" dirty="0">
              <a:effectLst>
                <a:outerShdw blurRad="38100" dist="38100" dir="2700000" algn="tl">
                  <a:srgbClr val="000000">
                    <a:alpha val="43137"/>
                  </a:srgbClr>
                </a:outerShdw>
              </a:effectLst>
              <a:latin typeface="Adobe Garamond Pro Bold" pitchFamily="18" charset="0"/>
            </a:endParaRPr>
          </a:p>
        </p:txBody>
      </p:sp>
      <p:sp>
        <p:nvSpPr>
          <p:cNvPr id="3" name="Content Placeholder 2"/>
          <p:cNvSpPr>
            <a:spLocks noGrp="1"/>
          </p:cNvSpPr>
          <p:nvPr>
            <p:ph idx="1"/>
          </p:nvPr>
        </p:nvSpPr>
        <p:spPr>
          <a:xfrm>
            <a:off x="619299" y="1690255"/>
            <a:ext cx="10153996" cy="4451465"/>
          </a:xfrm>
        </p:spPr>
        <p:txBody>
          <a:bodyPr>
            <a:normAutofit/>
          </a:bodyPr>
          <a:lstStyle/>
          <a:p>
            <a:pPr marL="82296" indent="0">
              <a:buNone/>
            </a:pPr>
            <a:r>
              <a:rPr lang="en-US" sz="2800" dirty="0"/>
              <a:t>Find the entity, attributes and relationship cardinality based on a given scenario below:- </a:t>
            </a:r>
          </a:p>
          <a:p>
            <a:pPr marL="82296" indent="0" algn="just">
              <a:buNone/>
            </a:pPr>
            <a:r>
              <a:rPr lang="en-US" sz="2800" i="1" dirty="0"/>
              <a:t>An automobile insurance company needs to keep track of information about vehicle. The company has to store information of customer, car and accident. Customer information is </a:t>
            </a:r>
            <a:r>
              <a:rPr lang="en-US" sz="2800" i="1" dirty="0" err="1"/>
              <a:t>LicenseNo</a:t>
            </a:r>
            <a:r>
              <a:rPr lang="en-US" sz="2800" i="1" dirty="0"/>
              <a:t>, name and address. Customers can own one or more cars, where the car information is </a:t>
            </a:r>
            <a:r>
              <a:rPr lang="en-US" sz="2800" i="1" dirty="0" err="1"/>
              <a:t>PlateNo</a:t>
            </a:r>
            <a:r>
              <a:rPr lang="en-US" sz="2800" i="1" dirty="0"/>
              <a:t>, model and year. A car not involved or involved in many accidents. If the car is involved in an accident, the information that will be stored is </a:t>
            </a:r>
            <a:r>
              <a:rPr lang="en-US" sz="2800" i="1" dirty="0" err="1"/>
              <a:t>Report_number</a:t>
            </a:r>
            <a:r>
              <a:rPr lang="en-US" sz="2800" i="1" dirty="0"/>
              <a:t>, location and date. </a:t>
            </a:r>
          </a:p>
          <a:p>
            <a:pPr marL="82296" indent="0">
              <a:buNone/>
            </a:pPr>
            <a:endParaRPr lang="en-US" altLang="en-US" sz="2800" dirty="0"/>
          </a:p>
        </p:txBody>
      </p:sp>
    </p:spTree>
    <p:extLst>
      <p:ext uri="{BB962C8B-B14F-4D97-AF65-F5344CB8AC3E}">
        <p14:creationId xmlns:p14="http://schemas.microsoft.com/office/powerpoint/2010/main" val="364115512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59131" y="714895"/>
            <a:ext cx="7924800" cy="990600"/>
          </a:xfrm>
        </p:spPr>
        <p:txBody>
          <a:bodyPr>
            <a:noAutofit/>
          </a:bodyPr>
          <a:lstStyle/>
          <a:p>
            <a:r>
              <a:rPr lang="en-US" sz="6000" dirty="0">
                <a:effectLst>
                  <a:outerShdw blurRad="38100" dist="38100" dir="2700000" algn="tl">
                    <a:srgbClr val="000000">
                      <a:alpha val="43137"/>
                    </a:srgbClr>
                  </a:outerShdw>
                </a:effectLst>
              </a:rPr>
              <a:t>Activity 1</a:t>
            </a:r>
            <a:endParaRPr lang="en-US" sz="6000" dirty="0">
              <a:effectLst>
                <a:outerShdw blurRad="38100" dist="38100" dir="2700000" algn="tl">
                  <a:srgbClr val="000000">
                    <a:alpha val="43137"/>
                  </a:srgbClr>
                </a:outerShdw>
              </a:effectLst>
              <a:latin typeface="Adobe Garamond Pro Bold" pitchFamily="18" charset="0"/>
            </a:endParaRPr>
          </a:p>
        </p:txBody>
      </p:sp>
      <p:sp>
        <p:nvSpPr>
          <p:cNvPr id="3" name="Content Placeholder 2"/>
          <p:cNvSpPr>
            <a:spLocks noGrp="1"/>
          </p:cNvSpPr>
          <p:nvPr>
            <p:ph idx="1"/>
          </p:nvPr>
        </p:nvSpPr>
        <p:spPr>
          <a:xfrm>
            <a:off x="660863" y="1640378"/>
            <a:ext cx="10153996" cy="4451465"/>
          </a:xfrm>
        </p:spPr>
        <p:txBody>
          <a:bodyPr>
            <a:normAutofit/>
          </a:bodyPr>
          <a:lstStyle/>
          <a:p>
            <a:pPr marL="82296" indent="0">
              <a:buNone/>
            </a:pPr>
            <a:r>
              <a:rPr lang="en-US" sz="2800" dirty="0"/>
              <a:t>Find the entity, attributes and relationship cardinality based on a given scenario below:- </a:t>
            </a:r>
          </a:p>
          <a:p>
            <a:pPr marL="82296" indent="0" algn="just">
              <a:buNone/>
            </a:pPr>
            <a:r>
              <a:rPr lang="en-US" sz="2800" i="1" dirty="0"/>
              <a:t>An automobile insurance company needs to keep track of information about vehicle. The company has to store information of customer, car and accident. Customer information is </a:t>
            </a:r>
            <a:r>
              <a:rPr lang="en-US" sz="2800" i="1" dirty="0" err="1"/>
              <a:t>LicenseNo</a:t>
            </a:r>
            <a:r>
              <a:rPr lang="en-US" sz="2800" i="1" dirty="0"/>
              <a:t>, name and address. Customers can own one or more cars, where the car information is </a:t>
            </a:r>
            <a:r>
              <a:rPr lang="en-US" sz="2800" i="1" dirty="0" err="1"/>
              <a:t>PlateNo</a:t>
            </a:r>
            <a:r>
              <a:rPr lang="en-US" sz="2800" i="1" dirty="0"/>
              <a:t>, model and year. A car not involved or involved in many accidents. If the car is involved in an accident, the information that will be stored is </a:t>
            </a:r>
            <a:r>
              <a:rPr lang="en-US" sz="2800" i="1" dirty="0" err="1"/>
              <a:t>Report_number</a:t>
            </a:r>
            <a:r>
              <a:rPr lang="en-US" sz="2800" i="1" dirty="0"/>
              <a:t>, location and date. </a:t>
            </a:r>
          </a:p>
          <a:p>
            <a:pPr marL="82296" indent="0">
              <a:buNone/>
            </a:pPr>
            <a:endParaRPr lang="en-US" altLang="en-US" sz="2800" dirty="0"/>
          </a:p>
        </p:txBody>
      </p:sp>
      <p:sp>
        <p:nvSpPr>
          <p:cNvPr id="4" name="Rectangle 3"/>
          <p:cNvSpPr/>
          <p:nvPr/>
        </p:nvSpPr>
        <p:spPr>
          <a:xfrm>
            <a:off x="8819804" y="3092335"/>
            <a:ext cx="1396538" cy="34913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5" name="Rectangle 4"/>
          <p:cNvSpPr/>
          <p:nvPr/>
        </p:nvSpPr>
        <p:spPr>
          <a:xfrm>
            <a:off x="10277302" y="3092335"/>
            <a:ext cx="628996" cy="34913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6" name="Rectangle 5"/>
          <p:cNvSpPr/>
          <p:nvPr/>
        </p:nvSpPr>
        <p:spPr>
          <a:xfrm>
            <a:off x="1359131" y="3441469"/>
            <a:ext cx="1396538" cy="34913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7" name="Oval 6"/>
          <p:cNvSpPr/>
          <p:nvPr/>
        </p:nvSpPr>
        <p:spPr>
          <a:xfrm>
            <a:off x="6384175" y="3366655"/>
            <a:ext cx="1473441" cy="457199"/>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8" name="Oval 7"/>
          <p:cNvSpPr/>
          <p:nvPr/>
        </p:nvSpPr>
        <p:spPr>
          <a:xfrm>
            <a:off x="7918576" y="3437313"/>
            <a:ext cx="1043242" cy="386541"/>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9" name="Oval 8"/>
          <p:cNvSpPr/>
          <p:nvPr/>
        </p:nvSpPr>
        <p:spPr>
          <a:xfrm>
            <a:off x="9530545" y="3404062"/>
            <a:ext cx="1384065" cy="386541"/>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10" name="Oval 9"/>
          <p:cNvSpPr/>
          <p:nvPr/>
        </p:nvSpPr>
        <p:spPr>
          <a:xfrm>
            <a:off x="486295" y="4081550"/>
            <a:ext cx="1571105" cy="49945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11" name="Oval 10"/>
          <p:cNvSpPr/>
          <p:nvPr/>
        </p:nvSpPr>
        <p:spPr>
          <a:xfrm>
            <a:off x="2057400" y="4146667"/>
            <a:ext cx="1043242" cy="386541"/>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12" name="Oval 11"/>
          <p:cNvSpPr/>
          <p:nvPr/>
        </p:nvSpPr>
        <p:spPr>
          <a:xfrm>
            <a:off x="3773296" y="4138006"/>
            <a:ext cx="1043242" cy="386541"/>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13" name="Oval 12"/>
          <p:cNvSpPr/>
          <p:nvPr/>
        </p:nvSpPr>
        <p:spPr>
          <a:xfrm>
            <a:off x="3041775" y="4925984"/>
            <a:ext cx="2270057" cy="524046"/>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14" name="Oval 13"/>
          <p:cNvSpPr/>
          <p:nvPr/>
        </p:nvSpPr>
        <p:spPr>
          <a:xfrm>
            <a:off x="5349244" y="4994736"/>
            <a:ext cx="1350813" cy="455294"/>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15" name="Oval 14"/>
          <p:cNvSpPr/>
          <p:nvPr/>
        </p:nvSpPr>
        <p:spPr>
          <a:xfrm>
            <a:off x="7217534" y="4994736"/>
            <a:ext cx="1043242" cy="386541"/>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spTree>
    <p:extLst>
      <p:ext uri="{BB962C8B-B14F-4D97-AF65-F5344CB8AC3E}">
        <p14:creationId xmlns:p14="http://schemas.microsoft.com/office/powerpoint/2010/main" val="112060383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42011" y="631767"/>
            <a:ext cx="7924800" cy="990600"/>
          </a:xfrm>
        </p:spPr>
        <p:txBody>
          <a:bodyPr>
            <a:noAutofit/>
          </a:bodyPr>
          <a:lstStyle/>
          <a:p>
            <a:r>
              <a:rPr lang="en-US" sz="6000" dirty="0">
                <a:effectLst>
                  <a:outerShdw blurRad="38100" dist="38100" dir="2700000" algn="tl">
                    <a:srgbClr val="000000">
                      <a:alpha val="43137"/>
                    </a:srgbClr>
                  </a:outerShdw>
                </a:effectLst>
              </a:rPr>
              <a:t>Activity 2</a:t>
            </a:r>
            <a:endParaRPr lang="en-US" sz="6000" dirty="0">
              <a:effectLst>
                <a:outerShdw blurRad="38100" dist="38100" dir="2700000" algn="tl">
                  <a:srgbClr val="000000">
                    <a:alpha val="43137"/>
                  </a:srgbClr>
                </a:outerShdw>
              </a:effectLst>
              <a:latin typeface="Adobe Garamond Pro Bold" pitchFamily="18" charset="0"/>
            </a:endParaRPr>
          </a:p>
        </p:txBody>
      </p:sp>
      <p:sp>
        <p:nvSpPr>
          <p:cNvPr id="3" name="Content Placeholder 2"/>
          <p:cNvSpPr>
            <a:spLocks noGrp="1"/>
          </p:cNvSpPr>
          <p:nvPr>
            <p:ph idx="1"/>
          </p:nvPr>
        </p:nvSpPr>
        <p:spPr>
          <a:xfrm>
            <a:off x="868680" y="1729048"/>
            <a:ext cx="10469879" cy="3832167"/>
          </a:xfrm>
        </p:spPr>
        <p:txBody>
          <a:bodyPr>
            <a:noAutofit/>
          </a:bodyPr>
          <a:lstStyle/>
          <a:p>
            <a:r>
              <a:rPr lang="en-US" dirty="0"/>
              <a:t>We are a small fast food business. Our menu features food items that can be ordered by a customer. A customer places an order at the counter and indicates what food items he/she would like on that order. Lately we’ve noticed that we have some regular customers, so we started asking them for information – such as name and address, so we can mail them coupons when we have specials. </a:t>
            </a:r>
            <a:endParaRPr lang="en-US" sz="2800" dirty="0"/>
          </a:p>
          <a:p>
            <a:r>
              <a:rPr lang="en-US" dirty="0"/>
              <a:t>a. Using the restaurant entities ORDER, FOOD ITEM and CUSTOMER, </a:t>
            </a:r>
            <a:r>
              <a:rPr lang="en-US" b="1" dirty="0"/>
              <a:t>identify the attributes for each entity. </a:t>
            </a:r>
            <a:endParaRPr lang="en-US" sz="2800" dirty="0"/>
          </a:p>
          <a:p>
            <a:br>
              <a:rPr lang="en-US" sz="2800" dirty="0"/>
            </a:br>
            <a:endParaRPr lang="en-US" altLang="en-US" sz="2600" dirty="0"/>
          </a:p>
        </p:txBody>
      </p:sp>
    </p:spTree>
    <p:extLst>
      <p:ext uri="{BB962C8B-B14F-4D97-AF65-F5344CB8AC3E}">
        <p14:creationId xmlns:p14="http://schemas.microsoft.com/office/powerpoint/2010/main" val="168005521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MY" dirty="0"/>
              <a:t>Lesson Learning Outcome</a:t>
            </a:r>
          </a:p>
        </p:txBody>
      </p:sp>
      <p:sp>
        <p:nvSpPr>
          <p:cNvPr id="3" name="Content Placeholder 2"/>
          <p:cNvSpPr>
            <a:spLocks noGrp="1"/>
          </p:cNvSpPr>
          <p:nvPr>
            <p:ph idx="1"/>
          </p:nvPr>
        </p:nvSpPr>
        <p:spPr/>
        <p:txBody>
          <a:bodyPr/>
          <a:lstStyle/>
          <a:p>
            <a:r>
              <a:rPr lang="en-US" dirty="0">
                <a:latin typeface="Arial Narrow" panose="020B0606020202030204" pitchFamily="34" charset="0"/>
              </a:rPr>
              <a:t>3.2.5 Identify the steps in creating E-R diagram</a:t>
            </a:r>
          </a:p>
          <a:p>
            <a:endParaRPr lang="en-MY" dirty="0"/>
          </a:p>
        </p:txBody>
      </p:sp>
    </p:spTree>
    <p:extLst>
      <p:ext uri="{BB962C8B-B14F-4D97-AF65-F5344CB8AC3E}">
        <p14:creationId xmlns:p14="http://schemas.microsoft.com/office/powerpoint/2010/main" val="312903020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marL="958827" indent="-958827"/>
            <a:r>
              <a:rPr lang="en-MY" dirty="0"/>
              <a:t>Identify the steps in E-R modelling. </a:t>
            </a:r>
          </a:p>
        </p:txBody>
      </p:sp>
      <p:sp>
        <p:nvSpPr>
          <p:cNvPr id="3" name="Content Placeholder 2"/>
          <p:cNvSpPr>
            <a:spLocks noGrp="1"/>
          </p:cNvSpPr>
          <p:nvPr>
            <p:ph idx="1"/>
          </p:nvPr>
        </p:nvSpPr>
        <p:spPr/>
        <p:txBody>
          <a:bodyPr>
            <a:normAutofit fontScale="92500"/>
          </a:bodyPr>
          <a:lstStyle/>
          <a:p>
            <a:pPr marL="474121" indent="-474121">
              <a:buFont typeface="+mj-lt"/>
              <a:buAutoNum type="arabicPeriod"/>
            </a:pPr>
            <a:r>
              <a:rPr lang="en-MY" dirty="0"/>
              <a:t> </a:t>
            </a:r>
            <a:r>
              <a:rPr lang="en-MY" sz="2800" dirty="0"/>
              <a:t>Create a detailed narrative of the organization’s description of operations.</a:t>
            </a:r>
          </a:p>
          <a:p>
            <a:pPr marL="474121" indent="-474121">
              <a:buFont typeface="+mj-lt"/>
              <a:buAutoNum type="arabicPeriod"/>
            </a:pPr>
            <a:r>
              <a:rPr lang="en-MY" sz="2800" dirty="0"/>
              <a:t> Identify the business rules based on the description of operations.</a:t>
            </a:r>
          </a:p>
          <a:p>
            <a:pPr marL="474121" indent="-474121">
              <a:buFont typeface="+mj-lt"/>
              <a:buAutoNum type="arabicPeriod"/>
            </a:pPr>
            <a:r>
              <a:rPr lang="en-MY" sz="2800" dirty="0"/>
              <a:t> Identify the main entities and relationships from the business rules.</a:t>
            </a:r>
          </a:p>
          <a:p>
            <a:pPr marL="474121" indent="-474121">
              <a:buFont typeface="+mj-lt"/>
              <a:buAutoNum type="arabicPeriod"/>
            </a:pPr>
            <a:r>
              <a:rPr lang="en-MY" sz="2800" dirty="0"/>
              <a:t> Develop the initial ERD.</a:t>
            </a:r>
          </a:p>
          <a:p>
            <a:pPr marL="474121" indent="-474121">
              <a:buFont typeface="+mj-lt"/>
              <a:buAutoNum type="arabicPeriod"/>
            </a:pPr>
            <a:r>
              <a:rPr lang="en-MY" sz="2800" dirty="0"/>
              <a:t> Identify the attributes and primary keys that adequately describe the entities.</a:t>
            </a:r>
          </a:p>
          <a:p>
            <a:pPr marL="474121" indent="-474121">
              <a:buFont typeface="+mj-lt"/>
              <a:buAutoNum type="arabicPeriod"/>
            </a:pPr>
            <a:r>
              <a:rPr lang="en-MY" sz="2800" dirty="0"/>
              <a:t> Revise and review the ERD.</a:t>
            </a:r>
          </a:p>
        </p:txBody>
      </p:sp>
      <p:sp>
        <p:nvSpPr>
          <p:cNvPr id="4" name="Rectangle 3"/>
          <p:cNvSpPr/>
          <p:nvPr/>
        </p:nvSpPr>
        <p:spPr>
          <a:xfrm>
            <a:off x="5231904" y="5925278"/>
            <a:ext cx="6864085" cy="379656"/>
          </a:xfrm>
          <a:prstGeom prst="rect">
            <a:avLst/>
          </a:prstGeom>
        </p:spPr>
        <p:txBody>
          <a:bodyPr wrap="square">
            <a:spAutoFit/>
          </a:bodyPr>
          <a:lstStyle/>
          <a:p>
            <a:pPr algn="r"/>
            <a:r>
              <a:rPr lang="pt-BR" sz="1867"/>
              <a:t>eBook - E N T I T Y R E L A T I O N S H I P ( E R ) M O D E L I N G pg.127</a:t>
            </a:r>
            <a:endParaRPr lang="en-MY" sz="1867"/>
          </a:p>
        </p:txBody>
      </p:sp>
    </p:spTree>
    <p:extLst>
      <p:ext uri="{BB962C8B-B14F-4D97-AF65-F5344CB8AC3E}">
        <p14:creationId xmlns:p14="http://schemas.microsoft.com/office/powerpoint/2010/main" val="24560245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r>
              <a:rPr lang="ms-MY" sz="6400"/>
              <a:t>Steps to Develop ER Diagram:</a:t>
            </a:r>
            <a:endParaRPr lang="en-MY" sz="6400"/>
          </a:p>
        </p:txBody>
      </p:sp>
      <p:sp>
        <p:nvSpPr>
          <p:cNvPr id="5" name="Rectangle 4"/>
          <p:cNvSpPr/>
          <p:nvPr/>
        </p:nvSpPr>
        <p:spPr>
          <a:xfrm rot="19907496">
            <a:off x="484600" y="2852392"/>
            <a:ext cx="5052793" cy="1569660"/>
          </a:xfrm>
          <a:prstGeom prst="rect">
            <a:avLst/>
          </a:prstGeom>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ms-MY" sz="4800" b="1" cap="all">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rPr>
              <a:t>Step 1 : </a:t>
            </a:r>
            <a:r>
              <a:rPr lang="ms-MY" sz="4800" b="1" cap="all">
                <a:ln w="9000" cmpd="sng">
                  <a:solidFill>
                    <a:schemeClr val="accent4">
                      <a:shade val="50000"/>
                      <a:satMod val="120000"/>
                    </a:schemeClr>
                  </a:solidFill>
                  <a:prstDash val="solid"/>
                </a:ln>
                <a:solidFill>
                  <a:srgbClr val="990000"/>
                </a:solidFill>
                <a:effectLst>
                  <a:reflection blurRad="12700" stA="28000" endPos="45000" dist="1000" dir="5400000" sy="-100000" algn="bl" rotWithShape="0"/>
                </a:effectLst>
              </a:rPr>
              <a:t>Identify entity</a:t>
            </a:r>
            <a:endParaRPr lang="en-MY" sz="4800" b="1" cap="all">
              <a:ln w="9000" cmpd="sng">
                <a:solidFill>
                  <a:schemeClr val="accent4">
                    <a:shade val="50000"/>
                    <a:satMod val="120000"/>
                  </a:schemeClr>
                </a:solidFill>
                <a:prstDash val="solid"/>
              </a:ln>
              <a:solidFill>
                <a:srgbClr val="990000"/>
              </a:solidFill>
              <a:effectLst>
                <a:reflection blurRad="12700" stA="28000" endPos="45000" dist="1000" dir="5400000" sy="-100000" algn="bl" rotWithShape="0"/>
              </a:effectLst>
            </a:endParaRPr>
          </a:p>
        </p:txBody>
      </p:sp>
      <p:sp>
        <p:nvSpPr>
          <p:cNvPr id="6" name="Rectangle 5"/>
          <p:cNvSpPr/>
          <p:nvPr/>
        </p:nvSpPr>
        <p:spPr>
          <a:xfrm rot="19907496">
            <a:off x="4013009" y="3222728"/>
            <a:ext cx="5052793" cy="1569660"/>
          </a:xfrm>
          <a:prstGeom prst="rect">
            <a:avLst/>
          </a:prstGeom>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ms-MY" sz="4800" b="1" cap="all">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rPr>
              <a:t>Step 2 : </a:t>
            </a:r>
            <a:r>
              <a:rPr lang="ms-MY" sz="4800" b="1" cap="all">
                <a:ln w="9000" cmpd="sng">
                  <a:solidFill>
                    <a:schemeClr val="accent4">
                      <a:shade val="50000"/>
                      <a:satMod val="120000"/>
                    </a:schemeClr>
                  </a:solidFill>
                  <a:prstDash val="solid"/>
                </a:ln>
                <a:solidFill>
                  <a:srgbClr val="990000"/>
                </a:solidFill>
                <a:effectLst>
                  <a:reflection blurRad="12700" stA="28000" endPos="45000" dist="1000" dir="5400000" sy="-100000" algn="bl" rotWithShape="0"/>
                </a:effectLst>
              </a:rPr>
              <a:t>Identify RELATIONSHIP</a:t>
            </a:r>
            <a:endParaRPr lang="en-MY" sz="4800" b="1" cap="all">
              <a:ln w="9000" cmpd="sng">
                <a:solidFill>
                  <a:schemeClr val="accent4">
                    <a:shade val="50000"/>
                    <a:satMod val="120000"/>
                  </a:schemeClr>
                </a:solidFill>
                <a:prstDash val="solid"/>
              </a:ln>
              <a:solidFill>
                <a:srgbClr val="990000"/>
              </a:solidFill>
              <a:effectLst>
                <a:reflection blurRad="12700" stA="28000" endPos="45000" dist="1000" dir="5400000" sy="-100000" algn="bl" rotWithShape="0"/>
              </a:effectLst>
            </a:endParaRPr>
          </a:p>
        </p:txBody>
      </p:sp>
      <p:sp>
        <p:nvSpPr>
          <p:cNvPr id="7" name="Rectangle 6"/>
          <p:cNvSpPr/>
          <p:nvPr/>
        </p:nvSpPr>
        <p:spPr>
          <a:xfrm rot="19907496">
            <a:off x="6654609" y="3984728"/>
            <a:ext cx="5052793" cy="1569660"/>
          </a:xfrm>
          <a:prstGeom prst="rect">
            <a:avLst/>
          </a:prstGeom>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ms-MY" sz="4800" b="1" cap="all">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rPr>
              <a:t>Step 3 : </a:t>
            </a:r>
            <a:r>
              <a:rPr lang="ms-MY" sz="4800" b="1" cap="all">
                <a:ln w="9000" cmpd="sng">
                  <a:solidFill>
                    <a:schemeClr val="accent4">
                      <a:shade val="50000"/>
                      <a:satMod val="120000"/>
                    </a:schemeClr>
                  </a:solidFill>
                  <a:prstDash val="solid"/>
                </a:ln>
                <a:solidFill>
                  <a:srgbClr val="990000"/>
                </a:solidFill>
                <a:effectLst>
                  <a:reflection blurRad="12700" stA="28000" endPos="45000" dist="1000" dir="5400000" sy="-100000" algn="bl" rotWithShape="0"/>
                </a:effectLst>
              </a:rPr>
              <a:t>DRAW THE ERD</a:t>
            </a:r>
            <a:endParaRPr lang="en-MY" sz="4800" b="1" cap="all">
              <a:ln w="9000" cmpd="sng">
                <a:solidFill>
                  <a:schemeClr val="accent4">
                    <a:shade val="50000"/>
                    <a:satMod val="120000"/>
                  </a:schemeClr>
                </a:solidFill>
                <a:prstDash val="solid"/>
              </a:ln>
              <a:solidFill>
                <a:srgbClr val="990000"/>
              </a:solidFill>
              <a:effectLst>
                <a:reflection blurRad="12700" stA="28000" endPos="45000" dist="1000" dir="5400000" sy="-100000" algn="bl" rotWithShape="0"/>
              </a:effectLst>
            </a:endParaRPr>
          </a:p>
        </p:txBody>
      </p:sp>
    </p:spTree>
    <p:extLst>
      <p:ext uri="{BB962C8B-B14F-4D97-AF65-F5344CB8AC3E}">
        <p14:creationId xmlns:p14="http://schemas.microsoft.com/office/powerpoint/2010/main" val="20541230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childTnLst>
                                </p:cTn>
                              </p:par>
                              <p:par>
                                <p:cTn id="8" presetID="10" presetClass="entr" presetSubtype="0" fill="hold" grpId="0" nodeType="withEffect">
                                  <p:stCondLst>
                                    <p:cond delay="110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1000"/>
                                        <p:tgtEl>
                                          <p:spTgt spid="6"/>
                                        </p:tgtEl>
                                      </p:cBhvr>
                                    </p:animEffect>
                                  </p:childTnLst>
                                </p:cTn>
                              </p:par>
                              <p:par>
                                <p:cTn id="11" presetID="10" presetClass="entr" presetSubtype="0" fill="hold" grpId="0" nodeType="withEffect">
                                  <p:stCondLst>
                                    <p:cond delay="220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615557" y="164637"/>
            <a:ext cx="11576444" cy="1152128"/>
          </a:xfrm>
        </p:spPr>
        <p:txBody>
          <a:bodyPr>
            <a:normAutofit/>
          </a:bodyPr>
          <a:lstStyle/>
          <a:p>
            <a:pPr eaLnBrk="1" hangingPunct="1">
              <a:defRPr/>
            </a:pPr>
            <a:r>
              <a:rPr lang="en-US"/>
              <a:t>Example - </a:t>
            </a:r>
            <a:r>
              <a:rPr lang="en-US">
                <a:solidFill>
                  <a:srgbClr val="FF0000"/>
                </a:solidFill>
              </a:rPr>
              <a:t>Entities</a:t>
            </a:r>
          </a:p>
        </p:txBody>
      </p:sp>
      <p:sp>
        <p:nvSpPr>
          <p:cNvPr id="5123" name="Rectangle 3"/>
          <p:cNvSpPr>
            <a:spLocks noGrp="1" noChangeArrowheads="1"/>
          </p:cNvSpPr>
          <p:nvPr>
            <p:ph type="body" idx="1"/>
          </p:nvPr>
        </p:nvSpPr>
        <p:spPr>
          <a:xfrm>
            <a:off x="719403" y="1968500"/>
            <a:ext cx="11233248" cy="4530725"/>
          </a:xfrm>
        </p:spPr>
        <p:txBody>
          <a:bodyPr>
            <a:noAutofit/>
          </a:bodyPr>
          <a:lstStyle/>
          <a:p>
            <a:pPr marL="0" indent="0" algn="just">
              <a:buNone/>
            </a:pPr>
            <a:r>
              <a:rPr lang="en-US" sz="3600" dirty="0">
                <a:solidFill>
                  <a:schemeClr val="tx1"/>
                </a:solidFill>
              </a:rPr>
              <a:t>A university consists of a number of departments. Each department offers several courses. A number of modules make up each course. Students </a:t>
            </a:r>
            <a:r>
              <a:rPr lang="en-US" sz="3600" dirty="0" err="1">
                <a:solidFill>
                  <a:schemeClr val="tx1"/>
                </a:solidFill>
              </a:rPr>
              <a:t>enrol</a:t>
            </a:r>
            <a:r>
              <a:rPr lang="en-US" sz="3600" dirty="0">
                <a:solidFill>
                  <a:schemeClr val="tx1"/>
                </a:solidFill>
              </a:rPr>
              <a:t> in a particular course and take modules towards the completion of that course. Each module is taught by a lecturer from the appropriate department, and each lecturer tutors a group of students.</a:t>
            </a:r>
          </a:p>
        </p:txBody>
      </p:sp>
      <p:sp>
        <p:nvSpPr>
          <p:cNvPr id="5124" name="Rectangle 4"/>
          <p:cNvSpPr>
            <a:spLocks noChangeArrowheads="1"/>
          </p:cNvSpPr>
          <p:nvPr/>
        </p:nvSpPr>
        <p:spPr bwMode="auto">
          <a:xfrm>
            <a:off x="8244813" y="1968500"/>
            <a:ext cx="2688299" cy="533400"/>
          </a:xfrm>
          <a:prstGeom prst="rect">
            <a:avLst/>
          </a:prstGeom>
          <a:noFill/>
          <a:ln w="28575">
            <a:solidFill>
              <a:srgbClr val="FF0000"/>
            </a:solidFill>
            <a:prstDash val="solid"/>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2400"/>
          </a:p>
        </p:txBody>
      </p:sp>
      <p:sp>
        <p:nvSpPr>
          <p:cNvPr id="5125" name="Rectangle 5"/>
          <p:cNvSpPr>
            <a:spLocks noChangeArrowheads="1"/>
          </p:cNvSpPr>
          <p:nvPr/>
        </p:nvSpPr>
        <p:spPr bwMode="auto">
          <a:xfrm>
            <a:off x="5818506" y="2519485"/>
            <a:ext cx="1829296" cy="533400"/>
          </a:xfrm>
          <a:prstGeom prst="rect">
            <a:avLst/>
          </a:prstGeom>
          <a:noFill/>
          <a:ln w="28575">
            <a:solidFill>
              <a:srgbClr val="FF0000"/>
            </a:solidFill>
            <a:prstDash val="solid"/>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2400"/>
          </a:p>
        </p:txBody>
      </p:sp>
      <p:sp>
        <p:nvSpPr>
          <p:cNvPr id="5126" name="Rectangle 6"/>
          <p:cNvSpPr>
            <a:spLocks noChangeArrowheads="1"/>
          </p:cNvSpPr>
          <p:nvPr/>
        </p:nvSpPr>
        <p:spPr bwMode="auto">
          <a:xfrm>
            <a:off x="10217102" y="2555101"/>
            <a:ext cx="1929497" cy="533400"/>
          </a:xfrm>
          <a:prstGeom prst="rect">
            <a:avLst/>
          </a:prstGeom>
          <a:noFill/>
          <a:ln w="28575">
            <a:solidFill>
              <a:srgbClr val="FF0000"/>
            </a:solidFill>
            <a:prstDash val="solid"/>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2400"/>
          </a:p>
        </p:txBody>
      </p:sp>
      <p:sp>
        <p:nvSpPr>
          <p:cNvPr id="5127" name="Rectangle 7"/>
          <p:cNvSpPr>
            <a:spLocks noChangeArrowheads="1"/>
          </p:cNvSpPr>
          <p:nvPr/>
        </p:nvSpPr>
        <p:spPr bwMode="auto">
          <a:xfrm>
            <a:off x="4934800" y="3052885"/>
            <a:ext cx="1862832" cy="533400"/>
          </a:xfrm>
          <a:prstGeom prst="rect">
            <a:avLst/>
          </a:prstGeom>
          <a:noFill/>
          <a:ln w="28575">
            <a:solidFill>
              <a:srgbClr val="FF0000"/>
            </a:solidFill>
            <a:prstDash val="solid"/>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2400"/>
          </a:p>
        </p:txBody>
      </p:sp>
      <p:sp>
        <p:nvSpPr>
          <p:cNvPr id="5128" name="Rectangle 8"/>
          <p:cNvSpPr>
            <a:spLocks noChangeArrowheads="1"/>
          </p:cNvSpPr>
          <p:nvPr/>
        </p:nvSpPr>
        <p:spPr bwMode="auto">
          <a:xfrm>
            <a:off x="6089389" y="3975955"/>
            <a:ext cx="1824203" cy="533400"/>
          </a:xfrm>
          <a:prstGeom prst="rect">
            <a:avLst/>
          </a:prstGeom>
          <a:noFill/>
          <a:ln w="28575">
            <a:solidFill>
              <a:srgbClr val="FF0000"/>
            </a:solidFill>
            <a:prstDash val="solid"/>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2400"/>
          </a:p>
        </p:txBody>
      </p:sp>
      <p:sp>
        <p:nvSpPr>
          <p:cNvPr id="2" name="Rectangle 1"/>
          <p:cNvSpPr/>
          <p:nvPr/>
        </p:nvSpPr>
        <p:spPr>
          <a:xfrm rot="16200000">
            <a:off x="-3121222" y="3136613"/>
            <a:ext cx="6858001" cy="584775"/>
          </a:xfrm>
          <a:prstGeom prst="rect">
            <a:avLst/>
          </a:prstGeom>
          <a:ln/>
        </p:spPr>
        <p:style>
          <a:lnRef idx="2">
            <a:schemeClr val="accent1"/>
          </a:lnRef>
          <a:fillRef idx="1">
            <a:schemeClr val="lt1"/>
          </a:fillRef>
          <a:effectRef idx="0">
            <a:schemeClr val="accent1"/>
          </a:effectRef>
          <a:fontRef idx="minor">
            <a:schemeClr val="dk1"/>
          </a:fontRef>
        </p:style>
        <p:txBody>
          <a:bodyPr wrap="square">
            <a:spAutoFit/>
          </a:bodyPr>
          <a:lstStyle/>
          <a:p>
            <a:pPr algn="r"/>
            <a:r>
              <a:rPr lang="ms-MY" sz="3200" b="1" cap="all">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rPr>
              <a:t>Step 1 : Identify entity</a:t>
            </a:r>
            <a:endParaRPr lang="en-MY" sz="3200" b="1" cap="all">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endParaRPr>
          </a:p>
        </p:txBody>
      </p:sp>
    </p:spTree>
    <p:extLst>
      <p:ext uri="{BB962C8B-B14F-4D97-AF65-F5344CB8AC3E}">
        <p14:creationId xmlns:p14="http://schemas.microsoft.com/office/powerpoint/2010/main" val="2392706281"/>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6" presetClass="emph" presetSubtype="0" fill="hold" nodeType="clickEffect">
                                  <p:stCondLst>
                                    <p:cond delay="0"/>
                                  </p:stCondLst>
                                  <p:iterate type="wd">
                                    <p:tmPct val="4000"/>
                                  </p:iterate>
                                  <p:childTnLst>
                                    <p:set>
                                      <p:cBhvr override="childStyle">
                                        <p:cTn id="6" dur="2000" fill="hold"/>
                                        <p:tgtEl>
                                          <p:spTgt spid="5123">
                                            <p:txEl>
                                              <p:pRg st="0" end="0"/>
                                            </p:txEl>
                                          </p:spTgt>
                                        </p:tgtEl>
                                        <p:attrNameLst>
                                          <p:attrName>style.color</p:attrName>
                                        </p:attrNameLst>
                                      </p:cBhvr>
                                      <p:to>
                                        <p:clrVal>
                                          <a:schemeClr val="tx1"/>
                                        </p:clrVal>
                                      </p:to>
                                    </p:set>
                                    <p:set>
                                      <p:cBhvr>
                                        <p:cTn id="7" dur="2000" fill="hold"/>
                                        <p:tgtEl>
                                          <p:spTgt spid="5123">
                                            <p:txEl>
                                              <p:pRg st="0" end="0"/>
                                            </p:txEl>
                                          </p:spTgt>
                                        </p:tgtEl>
                                        <p:attrNameLst>
                                          <p:attrName>fillcolor</p:attrName>
                                        </p:attrNameLst>
                                      </p:cBhvr>
                                      <p:to>
                                        <p:clrVal>
                                          <a:schemeClr val="tx1"/>
                                        </p:clrVal>
                                      </p:to>
                                    </p:set>
                                    <p:set>
                                      <p:cBhvr>
                                        <p:cTn id="8" dur="2000" fill="hold"/>
                                        <p:tgtEl>
                                          <p:spTgt spid="5123">
                                            <p:txEl>
                                              <p:pRg st="0" end="0"/>
                                            </p:txEl>
                                          </p:spTgt>
                                        </p:tgtEl>
                                        <p:attrNameLst>
                                          <p:attrName>fill.type</p:attrName>
                                        </p:attrNameLst>
                                      </p:cBhvr>
                                      <p:to>
                                        <p:strVal val="solid"/>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3" presetClass="entr" presetSubtype="10" fill="hold" grpId="0" nodeType="clickEffect">
                                  <p:stCondLst>
                                    <p:cond delay="0"/>
                                  </p:stCondLst>
                                  <p:childTnLst>
                                    <p:set>
                                      <p:cBhvr>
                                        <p:cTn id="12" dur="1" fill="hold">
                                          <p:stCondLst>
                                            <p:cond delay="0"/>
                                          </p:stCondLst>
                                        </p:cTn>
                                        <p:tgtEl>
                                          <p:spTgt spid="5124"/>
                                        </p:tgtEl>
                                        <p:attrNameLst>
                                          <p:attrName>style.visibility</p:attrName>
                                        </p:attrNameLst>
                                      </p:cBhvr>
                                      <p:to>
                                        <p:strVal val="visible"/>
                                      </p:to>
                                    </p:set>
                                    <p:animEffect transition="in" filter="blinds(horizontal)">
                                      <p:cBhvr>
                                        <p:cTn id="13" dur="1000"/>
                                        <p:tgtEl>
                                          <p:spTgt spid="5124"/>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3" presetClass="entr" presetSubtype="10" fill="hold" grpId="0" nodeType="clickEffect">
                                  <p:stCondLst>
                                    <p:cond delay="0"/>
                                  </p:stCondLst>
                                  <p:childTnLst>
                                    <p:set>
                                      <p:cBhvr>
                                        <p:cTn id="17" dur="1" fill="hold">
                                          <p:stCondLst>
                                            <p:cond delay="0"/>
                                          </p:stCondLst>
                                        </p:cTn>
                                        <p:tgtEl>
                                          <p:spTgt spid="5125"/>
                                        </p:tgtEl>
                                        <p:attrNameLst>
                                          <p:attrName>style.visibility</p:attrName>
                                        </p:attrNameLst>
                                      </p:cBhvr>
                                      <p:to>
                                        <p:strVal val="visible"/>
                                      </p:to>
                                    </p:set>
                                    <p:animEffect transition="in" filter="blinds(horizontal)">
                                      <p:cBhvr>
                                        <p:cTn id="18" dur="1000"/>
                                        <p:tgtEl>
                                          <p:spTgt spid="5125"/>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3" presetClass="entr" presetSubtype="10" fill="hold" grpId="0" nodeType="clickEffect">
                                  <p:stCondLst>
                                    <p:cond delay="0"/>
                                  </p:stCondLst>
                                  <p:childTnLst>
                                    <p:set>
                                      <p:cBhvr>
                                        <p:cTn id="22" dur="1" fill="hold">
                                          <p:stCondLst>
                                            <p:cond delay="0"/>
                                          </p:stCondLst>
                                        </p:cTn>
                                        <p:tgtEl>
                                          <p:spTgt spid="5126"/>
                                        </p:tgtEl>
                                        <p:attrNameLst>
                                          <p:attrName>style.visibility</p:attrName>
                                        </p:attrNameLst>
                                      </p:cBhvr>
                                      <p:to>
                                        <p:strVal val="visible"/>
                                      </p:to>
                                    </p:set>
                                    <p:animEffect transition="in" filter="blinds(horizontal)">
                                      <p:cBhvr>
                                        <p:cTn id="23" dur="1000"/>
                                        <p:tgtEl>
                                          <p:spTgt spid="5126"/>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3" presetClass="entr" presetSubtype="10" fill="hold" grpId="0" nodeType="clickEffect">
                                  <p:stCondLst>
                                    <p:cond delay="0"/>
                                  </p:stCondLst>
                                  <p:childTnLst>
                                    <p:set>
                                      <p:cBhvr>
                                        <p:cTn id="27" dur="1" fill="hold">
                                          <p:stCondLst>
                                            <p:cond delay="0"/>
                                          </p:stCondLst>
                                        </p:cTn>
                                        <p:tgtEl>
                                          <p:spTgt spid="5127"/>
                                        </p:tgtEl>
                                        <p:attrNameLst>
                                          <p:attrName>style.visibility</p:attrName>
                                        </p:attrNameLst>
                                      </p:cBhvr>
                                      <p:to>
                                        <p:strVal val="visible"/>
                                      </p:to>
                                    </p:set>
                                    <p:animEffect transition="in" filter="blinds(horizontal)">
                                      <p:cBhvr>
                                        <p:cTn id="28" dur="1000"/>
                                        <p:tgtEl>
                                          <p:spTgt spid="5127"/>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3" presetClass="entr" presetSubtype="10" fill="hold" grpId="0" nodeType="clickEffect">
                                  <p:stCondLst>
                                    <p:cond delay="0"/>
                                  </p:stCondLst>
                                  <p:childTnLst>
                                    <p:set>
                                      <p:cBhvr>
                                        <p:cTn id="32" dur="1" fill="hold">
                                          <p:stCondLst>
                                            <p:cond delay="0"/>
                                          </p:stCondLst>
                                        </p:cTn>
                                        <p:tgtEl>
                                          <p:spTgt spid="5128"/>
                                        </p:tgtEl>
                                        <p:attrNameLst>
                                          <p:attrName>style.visibility</p:attrName>
                                        </p:attrNameLst>
                                      </p:cBhvr>
                                      <p:to>
                                        <p:strVal val="visible"/>
                                      </p:to>
                                    </p:set>
                                    <p:animEffect transition="in" filter="blinds(horizontal)">
                                      <p:cBhvr>
                                        <p:cTn id="33" dur="1000"/>
                                        <p:tgtEl>
                                          <p:spTgt spid="51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4" grpId="0" animBg="1"/>
      <p:bldP spid="5125" grpId="0" animBg="1"/>
      <p:bldP spid="5126" grpId="0" animBg="1"/>
      <p:bldP spid="5127" grpId="0" animBg="1"/>
      <p:bldP spid="5128" grpId="0"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xfrm>
            <a:off x="615557" y="164637"/>
            <a:ext cx="11576444" cy="1143000"/>
          </a:xfrm>
        </p:spPr>
        <p:txBody>
          <a:bodyPr/>
          <a:lstStyle/>
          <a:p>
            <a:pPr eaLnBrk="1" hangingPunct="1">
              <a:defRPr/>
            </a:pPr>
            <a:r>
              <a:rPr lang="en-US" sz="5867"/>
              <a:t>Example - </a:t>
            </a:r>
            <a:r>
              <a:rPr lang="en-US" sz="5867">
                <a:solidFill>
                  <a:srgbClr val="FF0000"/>
                </a:solidFill>
              </a:rPr>
              <a:t>Relationships</a:t>
            </a:r>
          </a:p>
        </p:txBody>
      </p:sp>
      <p:sp>
        <p:nvSpPr>
          <p:cNvPr id="6147" name="Rectangle 3"/>
          <p:cNvSpPr>
            <a:spLocks noGrp="1" noChangeArrowheads="1"/>
          </p:cNvSpPr>
          <p:nvPr>
            <p:ph type="body" idx="1"/>
          </p:nvPr>
        </p:nvSpPr>
        <p:spPr>
          <a:xfrm>
            <a:off x="815413" y="1694264"/>
            <a:ext cx="11176000" cy="4530725"/>
          </a:xfrm>
        </p:spPr>
        <p:txBody>
          <a:bodyPr>
            <a:normAutofit fontScale="85000" lnSpcReduction="10000"/>
          </a:bodyPr>
          <a:lstStyle/>
          <a:p>
            <a:pPr marL="0" indent="0">
              <a:buNone/>
            </a:pPr>
            <a:r>
              <a:rPr lang="en-US" sz="5333" dirty="0">
                <a:solidFill>
                  <a:schemeClr val="tx1"/>
                </a:solidFill>
              </a:rPr>
              <a:t>A university consists of a number of departments. Each department offers several courses. A number of modules make up each course. Students </a:t>
            </a:r>
            <a:r>
              <a:rPr lang="en-US" sz="5333" dirty="0" err="1">
                <a:solidFill>
                  <a:schemeClr val="tx1"/>
                </a:solidFill>
              </a:rPr>
              <a:t>enrol</a:t>
            </a:r>
            <a:r>
              <a:rPr lang="en-US" sz="5333" dirty="0">
                <a:solidFill>
                  <a:schemeClr val="tx1"/>
                </a:solidFill>
              </a:rPr>
              <a:t> in a particular course and take modules towards the completion of that course. Each module is taught by a lecturer from the appropriate department, and each lecturer tutors a group of students.</a:t>
            </a:r>
          </a:p>
        </p:txBody>
      </p:sp>
      <p:sp>
        <p:nvSpPr>
          <p:cNvPr id="6148" name="Rectangle 4"/>
          <p:cNvSpPr>
            <a:spLocks noChangeArrowheads="1"/>
          </p:cNvSpPr>
          <p:nvPr/>
        </p:nvSpPr>
        <p:spPr bwMode="auto">
          <a:xfrm>
            <a:off x="8188665" y="2280368"/>
            <a:ext cx="1383288" cy="533400"/>
          </a:xfrm>
          <a:prstGeom prst="ellipse">
            <a:avLst/>
          </a:prstGeom>
          <a:noFill/>
          <a:ln w="38100">
            <a:solidFill>
              <a:srgbClr val="0070C0"/>
            </a:solidFill>
            <a:prstDash val="solid"/>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2400"/>
          </a:p>
        </p:txBody>
      </p:sp>
      <p:sp>
        <p:nvSpPr>
          <p:cNvPr id="6149" name="Rectangle 5"/>
          <p:cNvSpPr>
            <a:spLocks noChangeArrowheads="1"/>
          </p:cNvSpPr>
          <p:nvPr/>
        </p:nvSpPr>
        <p:spPr bwMode="auto">
          <a:xfrm>
            <a:off x="4596566" y="3366563"/>
            <a:ext cx="1663557" cy="578632"/>
          </a:xfrm>
          <a:prstGeom prst="ellipse">
            <a:avLst/>
          </a:prstGeom>
          <a:noFill/>
          <a:ln w="38100">
            <a:solidFill>
              <a:srgbClr val="0070C0"/>
            </a:solidFill>
            <a:prstDash val="solid"/>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2400"/>
          </a:p>
        </p:txBody>
      </p:sp>
      <p:sp>
        <p:nvSpPr>
          <p:cNvPr id="6150" name="Rectangle 6"/>
          <p:cNvSpPr>
            <a:spLocks noChangeArrowheads="1"/>
          </p:cNvSpPr>
          <p:nvPr/>
        </p:nvSpPr>
        <p:spPr bwMode="auto">
          <a:xfrm>
            <a:off x="8016213" y="2846797"/>
            <a:ext cx="1728192" cy="533400"/>
          </a:xfrm>
          <a:prstGeom prst="ellipse">
            <a:avLst/>
          </a:prstGeom>
          <a:noFill/>
          <a:ln w="38100">
            <a:solidFill>
              <a:srgbClr val="0070C0"/>
            </a:solidFill>
            <a:prstDash val="solid"/>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2400"/>
          </a:p>
        </p:txBody>
      </p:sp>
      <p:sp>
        <p:nvSpPr>
          <p:cNvPr id="6151" name="Rectangle 7"/>
          <p:cNvSpPr>
            <a:spLocks noChangeArrowheads="1"/>
          </p:cNvSpPr>
          <p:nvPr/>
        </p:nvSpPr>
        <p:spPr bwMode="auto">
          <a:xfrm>
            <a:off x="1815049" y="3945195"/>
            <a:ext cx="1016000" cy="533400"/>
          </a:xfrm>
          <a:prstGeom prst="ellipse">
            <a:avLst/>
          </a:prstGeom>
          <a:noFill/>
          <a:ln w="38100">
            <a:solidFill>
              <a:srgbClr val="0070C0"/>
            </a:solidFill>
            <a:prstDash val="solid"/>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2400"/>
          </a:p>
        </p:txBody>
      </p:sp>
      <p:sp>
        <p:nvSpPr>
          <p:cNvPr id="6152" name="Rectangle 8"/>
          <p:cNvSpPr>
            <a:spLocks noChangeArrowheads="1"/>
          </p:cNvSpPr>
          <p:nvPr/>
        </p:nvSpPr>
        <p:spPr bwMode="auto">
          <a:xfrm>
            <a:off x="7358802" y="4435382"/>
            <a:ext cx="2213151" cy="550605"/>
          </a:xfrm>
          <a:prstGeom prst="ellipse">
            <a:avLst/>
          </a:prstGeom>
          <a:noFill/>
          <a:ln w="38100">
            <a:solidFill>
              <a:srgbClr val="0070C0"/>
            </a:solidFill>
            <a:prstDash val="solid"/>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2400"/>
          </a:p>
        </p:txBody>
      </p:sp>
      <p:sp>
        <p:nvSpPr>
          <p:cNvPr id="6153" name="Rectangle 9"/>
          <p:cNvSpPr>
            <a:spLocks noChangeArrowheads="1"/>
          </p:cNvSpPr>
          <p:nvPr/>
        </p:nvSpPr>
        <p:spPr bwMode="auto">
          <a:xfrm>
            <a:off x="867847" y="5036794"/>
            <a:ext cx="1960441" cy="533400"/>
          </a:xfrm>
          <a:prstGeom prst="ellipse">
            <a:avLst/>
          </a:prstGeom>
          <a:noFill/>
          <a:ln w="38100">
            <a:solidFill>
              <a:srgbClr val="0070C0"/>
            </a:solidFill>
            <a:prstDash val="solid"/>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2400"/>
          </a:p>
        </p:txBody>
      </p:sp>
      <p:sp>
        <p:nvSpPr>
          <p:cNvPr id="6154" name="Rectangle 10"/>
          <p:cNvSpPr>
            <a:spLocks noChangeArrowheads="1"/>
          </p:cNvSpPr>
          <p:nvPr/>
        </p:nvSpPr>
        <p:spPr bwMode="auto">
          <a:xfrm>
            <a:off x="2678757" y="5536787"/>
            <a:ext cx="1444976" cy="533400"/>
          </a:xfrm>
          <a:prstGeom prst="ellipse">
            <a:avLst/>
          </a:prstGeom>
          <a:noFill/>
          <a:ln w="38100">
            <a:solidFill>
              <a:srgbClr val="0070C0"/>
            </a:solidFill>
            <a:prstDash val="solid"/>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2400"/>
          </a:p>
        </p:txBody>
      </p:sp>
      <p:sp>
        <p:nvSpPr>
          <p:cNvPr id="11" name="Rectangle 10"/>
          <p:cNvSpPr/>
          <p:nvPr/>
        </p:nvSpPr>
        <p:spPr>
          <a:xfrm rot="16200000">
            <a:off x="-3121223" y="3136610"/>
            <a:ext cx="6858003" cy="584775"/>
          </a:xfrm>
          <a:prstGeom prst="rect">
            <a:avLst/>
          </a:prstGeom>
          <a:ln/>
        </p:spPr>
        <p:style>
          <a:lnRef idx="2">
            <a:schemeClr val="accent1"/>
          </a:lnRef>
          <a:fillRef idx="1">
            <a:schemeClr val="lt1"/>
          </a:fillRef>
          <a:effectRef idx="0">
            <a:schemeClr val="accent1"/>
          </a:effectRef>
          <a:fontRef idx="minor">
            <a:schemeClr val="dk1"/>
          </a:fontRef>
        </p:style>
        <p:txBody>
          <a:bodyPr wrap="square">
            <a:spAutoFit/>
          </a:bodyPr>
          <a:lstStyle/>
          <a:p>
            <a:pPr algn="r"/>
            <a:r>
              <a:rPr lang="ms-MY" sz="3200" b="1" cap="all">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rPr>
              <a:t>Step 2 : Identify RELATIONSHIP</a:t>
            </a:r>
            <a:endParaRPr lang="en-MY" sz="3200" b="1" cap="all">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endParaRPr>
          </a:p>
        </p:txBody>
      </p:sp>
    </p:spTree>
    <p:extLst>
      <p:ext uri="{BB962C8B-B14F-4D97-AF65-F5344CB8AC3E}">
        <p14:creationId xmlns:p14="http://schemas.microsoft.com/office/powerpoint/2010/main" val="2897428499"/>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148"/>
                                        </p:tgtEl>
                                        <p:attrNameLst>
                                          <p:attrName>style.visibility</p:attrName>
                                        </p:attrNameLst>
                                      </p:cBhvr>
                                      <p:to>
                                        <p:strVal val="visible"/>
                                      </p:to>
                                    </p:set>
                                    <p:animEffect transition="in" filter="blinds(horizontal)">
                                      <p:cBhvr>
                                        <p:cTn id="7" dur="1000"/>
                                        <p:tgtEl>
                                          <p:spTgt spid="614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6149"/>
                                        </p:tgtEl>
                                        <p:attrNameLst>
                                          <p:attrName>style.visibility</p:attrName>
                                        </p:attrNameLst>
                                      </p:cBhvr>
                                      <p:to>
                                        <p:strVal val="visible"/>
                                      </p:to>
                                    </p:set>
                                    <p:animEffect transition="in" filter="blinds(horizontal)">
                                      <p:cBhvr>
                                        <p:cTn id="12" dur="1000"/>
                                        <p:tgtEl>
                                          <p:spTgt spid="6149"/>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6150"/>
                                        </p:tgtEl>
                                        <p:attrNameLst>
                                          <p:attrName>style.visibility</p:attrName>
                                        </p:attrNameLst>
                                      </p:cBhvr>
                                      <p:to>
                                        <p:strVal val="visible"/>
                                      </p:to>
                                    </p:set>
                                    <p:animEffect transition="in" filter="blinds(horizontal)">
                                      <p:cBhvr>
                                        <p:cTn id="17" dur="1000"/>
                                        <p:tgtEl>
                                          <p:spTgt spid="6150"/>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6151"/>
                                        </p:tgtEl>
                                        <p:attrNameLst>
                                          <p:attrName>style.visibility</p:attrName>
                                        </p:attrNameLst>
                                      </p:cBhvr>
                                      <p:to>
                                        <p:strVal val="visible"/>
                                      </p:to>
                                    </p:set>
                                    <p:animEffect transition="in" filter="blinds(horizontal)">
                                      <p:cBhvr>
                                        <p:cTn id="22" dur="1000"/>
                                        <p:tgtEl>
                                          <p:spTgt spid="6151"/>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6152"/>
                                        </p:tgtEl>
                                        <p:attrNameLst>
                                          <p:attrName>style.visibility</p:attrName>
                                        </p:attrNameLst>
                                      </p:cBhvr>
                                      <p:to>
                                        <p:strVal val="visible"/>
                                      </p:to>
                                    </p:set>
                                    <p:animEffect transition="in" filter="blinds(horizontal)">
                                      <p:cBhvr>
                                        <p:cTn id="27" dur="1000"/>
                                        <p:tgtEl>
                                          <p:spTgt spid="6152"/>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6153"/>
                                        </p:tgtEl>
                                        <p:attrNameLst>
                                          <p:attrName>style.visibility</p:attrName>
                                        </p:attrNameLst>
                                      </p:cBhvr>
                                      <p:to>
                                        <p:strVal val="visible"/>
                                      </p:to>
                                    </p:set>
                                    <p:animEffect transition="in" filter="blinds(horizontal)">
                                      <p:cBhvr>
                                        <p:cTn id="32" dur="1000"/>
                                        <p:tgtEl>
                                          <p:spTgt spid="6153"/>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6154"/>
                                        </p:tgtEl>
                                        <p:attrNameLst>
                                          <p:attrName>style.visibility</p:attrName>
                                        </p:attrNameLst>
                                      </p:cBhvr>
                                      <p:to>
                                        <p:strVal val="visible"/>
                                      </p:to>
                                    </p:set>
                                    <p:animEffect transition="in" filter="blinds(horizontal)">
                                      <p:cBhvr>
                                        <p:cTn id="37" dur="1000"/>
                                        <p:tgtEl>
                                          <p:spTgt spid="61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8" grpId="0" animBg="1"/>
      <p:bldP spid="6149" grpId="0" animBg="1"/>
      <p:bldP spid="6150" grpId="0" animBg="1"/>
      <p:bldP spid="6151" grpId="0" animBg="1"/>
      <p:bldP spid="6152" grpId="0" animBg="1"/>
      <p:bldP spid="6153" grpId="0" animBg="1"/>
      <p:bldP spid="6154"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632104" y="164637"/>
            <a:ext cx="11599021" cy="1143000"/>
          </a:xfrm>
        </p:spPr>
        <p:txBody>
          <a:bodyPr>
            <a:normAutofit/>
          </a:bodyPr>
          <a:lstStyle/>
          <a:p>
            <a:pPr eaLnBrk="1" hangingPunct="1">
              <a:defRPr/>
            </a:pPr>
            <a:r>
              <a:rPr lang="en-US"/>
              <a:t>Example - ER Diagram</a:t>
            </a:r>
          </a:p>
        </p:txBody>
      </p:sp>
      <p:sp>
        <p:nvSpPr>
          <p:cNvPr id="59395" name="Rectangle 3"/>
          <p:cNvSpPr>
            <a:spLocks noGrp="1" noChangeArrowheads="1"/>
          </p:cNvSpPr>
          <p:nvPr>
            <p:ph type="body" idx="1"/>
          </p:nvPr>
        </p:nvSpPr>
        <p:spPr>
          <a:xfrm>
            <a:off x="632104" y="1860480"/>
            <a:ext cx="11576444" cy="1056117"/>
          </a:xfrm>
        </p:spPr>
        <p:txBody>
          <a:bodyPr>
            <a:normAutofit/>
          </a:bodyPr>
          <a:lstStyle/>
          <a:p>
            <a:pPr eaLnBrk="1" hangingPunct="1"/>
            <a:r>
              <a:rPr lang="en-US" sz="2800" dirty="0"/>
              <a:t>Entities: Department, Course, Module, Lecturer, Student</a:t>
            </a:r>
          </a:p>
        </p:txBody>
      </p:sp>
      <p:pic>
        <p:nvPicPr>
          <p:cNvPr id="59396" name="Picture 4"/>
          <p:cNvPicPr>
            <a:picLocks noChangeAspect="1" noChangeArrowheads="1"/>
          </p:cNvPicPr>
          <p:nvPr/>
        </p:nvPicPr>
        <p:blipFill>
          <a:blip r:embed="rId2">
            <a:extLst>
              <a:ext uri="{28A0092B-C50C-407E-A947-70E740481C1C}">
                <a14:useLocalDpi xmlns:a14="http://schemas.microsoft.com/office/drawing/2010/main" val="0"/>
              </a:ext>
            </a:extLst>
          </a:blip>
          <a:srcRect l="15625" t="40625" r="14063" b="19792"/>
          <a:stretch>
            <a:fillRect/>
          </a:stretch>
        </p:blipFill>
        <p:spPr bwMode="auto">
          <a:xfrm>
            <a:off x="1219200" y="3048000"/>
            <a:ext cx="9956800" cy="3276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Rectangle 4"/>
          <p:cNvSpPr/>
          <p:nvPr/>
        </p:nvSpPr>
        <p:spPr>
          <a:xfrm rot="16200000">
            <a:off x="-3121222" y="3136613"/>
            <a:ext cx="6858001" cy="584775"/>
          </a:xfrm>
          <a:prstGeom prst="rect">
            <a:avLst/>
          </a:prstGeom>
          <a:ln/>
        </p:spPr>
        <p:style>
          <a:lnRef idx="2">
            <a:schemeClr val="accent1"/>
          </a:lnRef>
          <a:fillRef idx="1">
            <a:schemeClr val="lt1"/>
          </a:fillRef>
          <a:effectRef idx="0">
            <a:schemeClr val="accent1"/>
          </a:effectRef>
          <a:fontRef idx="minor">
            <a:schemeClr val="dk1"/>
          </a:fontRef>
        </p:style>
        <p:txBody>
          <a:bodyPr wrap="square">
            <a:spAutoFit/>
          </a:bodyPr>
          <a:lstStyle/>
          <a:p>
            <a:pPr algn="r"/>
            <a:r>
              <a:rPr lang="ms-MY" sz="3200" b="1" cap="all">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rPr>
              <a:t>Step 3 : DRAW THE ERD</a:t>
            </a:r>
            <a:endParaRPr lang="en-MY" sz="3200" b="1" cap="all">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endParaRPr>
          </a:p>
        </p:txBody>
      </p:sp>
    </p:spTree>
    <p:extLst>
      <p:ext uri="{BB962C8B-B14F-4D97-AF65-F5344CB8AC3E}">
        <p14:creationId xmlns:p14="http://schemas.microsoft.com/office/powerpoint/2010/main" val="4138553281"/>
      </p:ext>
    </p:extLst>
  </p:cSld>
  <p:clrMapOvr>
    <a:masterClrMapping/>
  </p:clrMapOv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0419" name="Picture 5"/>
          <p:cNvPicPr>
            <a:picLocks noGrp="1" noChangeAspect="1" noChangeArrowheads="1"/>
          </p:cNvPicPr>
          <p:nvPr>
            <p:ph type="body" idx="1"/>
          </p:nvPr>
        </p:nvPicPr>
        <p:blipFill>
          <a:blip r:embed="rId2">
            <a:extLst>
              <a:ext uri="{28A0092B-C50C-407E-A947-70E740481C1C}">
                <a14:useLocalDpi xmlns:a14="http://schemas.microsoft.com/office/drawing/2010/main" val="0"/>
              </a:ext>
            </a:extLst>
          </a:blip>
          <a:srcRect l="15741" t="40511" r="13629" b="19186"/>
          <a:stretch>
            <a:fillRect/>
          </a:stretch>
        </p:blipFill>
        <p:spPr>
          <a:xfrm>
            <a:off x="1117600" y="2108200"/>
            <a:ext cx="10160000" cy="4530725"/>
          </a:xfrm>
          <a:noFill/>
        </p:spPr>
      </p:pic>
      <p:sp>
        <p:nvSpPr>
          <p:cNvPr id="8198" name="Oval 6"/>
          <p:cNvSpPr>
            <a:spLocks noChangeArrowheads="1"/>
          </p:cNvSpPr>
          <p:nvPr/>
        </p:nvSpPr>
        <p:spPr bwMode="auto">
          <a:xfrm>
            <a:off x="833967" y="2108200"/>
            <a:ext cx="2844800" cy="914400"/>
          </a:xfrm>
          <a:prstGeom prst="ellipse">
            <a:avLst/>
          </a:prstGeom>
          <a:noFill/>
          <a:ln w="66675">
            <a:solidFill>
              <a:srgbClr val="FF0000"/>
            </a:solidFill>
            <a:prstDash val="dash"/>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2400"/>
          </a:p>
        </p:txBody>
      </p:sp>
      <p:sp>
        <p:nvSpPr>
          <p:cNvPr id="7" name="Rectangle 2">
            <a:extLst>
              <a:ext uri="{FF2B5EF4-FFF2-40B4-BE49-F238E27FC236}">
                <a16:creationId xmlns:a16="http://schemas.microsoft.com/office/drawing/2014/main" id="{E9846421-03FD-46D9-8C16-56828CECC905}"/>
              </a:ext>
            </a:extLst>
          </p:cNvPr>
          <p:cNvSpPr>
            <a:spLocks noGrp="1" noChangeArrowheads="1"/>
          </p:cNvSpPr>
          <p:nvPr>
            <p:ph type="title"/>
          </p:nvPr>
        </p:nvSpPr>
        <p:spPr>
          <a:xfrm>
            <a:off x="615462" y="534572"/>
            <a:ext cx="12192000" cy="1111664"/>
          </a:xfrm>
        </p:spPr>
        <p:txBody>
          <a:bodyPr>
            <a:normAutofit fontScale="90000"/>
          </a:bodyPr>
          <a:lstStyle/>
          <a:p>
            <a:pPr eaLnBrk="1" hangingPunct="1">
              <a:defRPr/>
            </a:pPr>
            <a:r>
              <a:rPr lang="en-US" sz="6133" dirty="0"/>
              <a:t>Relationship: Each </a:t>
            </a:r>
            <a:r>
              <a:rPr lang="en-US" sz="6133" dirty="0">
                <a:ln w="13970" cmpd="sng">
                  <a:solidFill>
                    <a:srgbClr val="00B0F0"/>
                  </a:solidFill>
                  <a:prstDash val="solid"/>
                </a:ln>
                <a:solidFill>
                  <a:srgbClr val="00B0F0"/>
                </a:solidFill>
              </a:rPr>
              <a:t>department</a:t>
            </a:r>
            <a:r>
              <a:rPr lang="en-US" sz="6133" dirty="0"/>
              <a:t> </a:t>
            </a:r>
            <a:r>
              <a:rPr lang="en-US" sz="6133" dirty="0">
                <a:ln w="13970" cmpd="sng">
                  <a:solidFill>
                    <a:srgbClr val="FFFF00"/>
                  </a:solidFill>
                  <a:prstDash val="solid"/>
                </a:ln>
                <a:solidFill>
                  <a:srgbClr val="FFFF00"/>
                </a:solidFill>
              </a:rPr>
              <a:t>offers</a:t>
            </a:r>
            <a:r>
              <a:rPr lang="en-US" sz="6133" dirty="0"/>
              <a:t> several </a:t>
            </a:r>
            <a:r>
              <a:rPr lang="en-US" sz="6133" dirty="0">
                <a:ln w="13970" cmpd="sng">
                  <a:solidFill>
                    <a:srgbClr val="00B0F0"/>
                  </a:solidFill>
                  <a:prstDash val="solid"/>
                </a:ln>
                <a:solidFill>
                  <a:srgbClr val="00B0F0"/>
                </a:solidFill>
              </a:rPr>
              <a:t>courses</a:t>
            </a:r>
          </a:p>
        </p:txBody>
      </p:sp>
    </p:spTree>
    <p:extLst>
      <p:ext uri="{BB962C8B-B14F-4D97-AF65-F5344CB8AC3E}">
        <p14:creationId xmlns:p14="http://schemas.microsoft.com/office/powerpoint/2010/main" val="2326390163"/>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8198"/>
                                        </p:tgtEl>
                                        <p:attrNameLst>
                                          <p:attrName>style.visibility</p:attrName>
                                        </p:attrNameLst>
                                      </p:cBhvr>
                                      <p:to>
                                        <p:strVal val="visible"/>
                                      </p:to>
                                    </p:set>
                                    <p:animEffect transition="in" filter="blinds(horizontal)">
                                      <p:cBhvr>
                                        <p:cTn id="7" dur="1000"/>
                                        <p:tgtEl>
                                          <p:spTgt spid="81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8" grpId="0" animBg="1"/>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43" name="Picture 5"/>
          <p:cNvPicPr>
            <a:picLocks noGrp="1" noChangeAspect="1" noChangeArrowheads="1"/>
          </p:cNvPicPr>
          <p:nvPr>
            <p:ph type="body" idx="1"/>
          </p:nvPr>
        </p:nvPicPr>
        <p:blipFill>
          <a:blip r:embed="rId2">
            <a:extLst>
              <a:ext uri="{28A0092B-C50C-407E-A947-70E740481C1C}">
                <a14:useLocalDpi xmlns:a14="http://schemas.microsoft.com/office/drawing/2010/main" val="0"/>
              </a:ext>
            </a:extLst>
          </a:blip>
          <a:srcRect l="15625" t="40625" r="14063" b="19792"/>
          <a:stretch>
            <a:fillRect/>
          </a:stretch>
        </p:blipFill>
        <p:spPr>
          <a:xfrm>
            <a:off x="914400" y="1905000"/>
            <a:ext cx="10668000" cy="4530725"/>
          </a:xfrm>
          <a:noFill/>
        </p:spPr>
      </p:pic>
      <p:sp>
        <p:nvSpPr>
          <p:cNvPr id="9222" name="Oval 6"/>
          <p:cNvSpPr>
            <a:spLocks noChangeArrowheads="1"/>
          </p:cNvSpPr>
          <p:nvPr/>
        </p:nvSpPr>
        <p:spPr bwMode="auto">
          <a:xfrm>
            <a:off x="3073400" y="3232151"/>
            <a:ext cx="2235200" cy="914400"/>
          </a:xfrm>
          <a:prstGeom prst="ellipse">
            <a:avLst/>
          </a:prstGeom>
          <a:noFill/>
          <a:ln w="66675" algn="ctr">
            <a:solidFill>
              <a:srgbClr val="FF0000"/>
            </a:solidFill>
            <a:prstDash val="dash"/>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2400"/>
          </a:p>
        </p:txBody>
      </p:sp>
      <p:sp>
        <p:nvSpPr>
          <p:cNvPr id="7" name="Rectangle 2">
            <a:extLst>
              <a:ext uri="{FF2B5EF4-FFF2-40B4-BE49-F238E27FC236}">
                <a16:creationId xmlns:a16="http://schemas.microsoft.com/office/drawing/2014/main" id="{FBEF2681-D4B2-4C96-99ED-1BF67B5B3E39}"/>
              </a:ext>
            </a:extLst>
          </p:cNvPr>
          <p:cNvSpPr txBox="1">
            <a:spLocks noChangeArrowheads="1"/>
          </p:cNvSpPr>
          <p:nvPr/>
        </p:nvSpPr>
        <p:spPr>
          <a:xfrm>
            <a:off x="0" y="182880"/>
            <a:ext cx="12336693" cy="1111664"/>
          </a:xfrm>
          <a:prstGeom prst="rect">
            <a:avLst/>
          </a:prstGeom>
        </p:spPr>
        <p:txBody>
          <a:bodyPr vert="horz" lIns="121920" tIns="60960" rIns="121920" bIns="60960" rtlCol="0" anchor="ctr">
            <a:noAutofit/>
          </a:bodyPr>
          <a:lstStyle>
            <a:lvl1pPr algn="ctr" defTabSz="914400" rtl="0" eaLnBrk="1" latinLnBrk="0" hangingPunct="1">
              <a:spcBef>
                <a:spcPct val="0"/>
              </a:spcBef>
              <a:buNone/>
              <a:defRPr sz="5400" b="0" kern="1200" cap="none" spc="0">
                <a:ln w="13970" cmpd="sng">
                  <a:solidFill>
                    <a:srgbClr val="FFFFFF"/>
                  </a:solidFill>
                  <a:prstDash val="solid"/>
                </a:ln>
                <a:solidFill>
                  <a:srgbClr val="FFFFFF"/>
                </a:solidFill>
                <a:effectLst>
                  <a:outerShdw blurRad="63500" dir="3600000" algn="tl" rotWithShape="0">
                    <a:srgbClr val="000000">
                      <a:alpha val="70000"/>
                    </a:srgbClr>
                  </a:outerShdw>
                </a:effectLst>
                <a:latin typeface="Agency FB" panose="020B0503020202020204" pitchFamily="34" charset="0"/>
                <a:ea typeface="+mj-ea"/>
                <a:cs typeface="+mj-cs"/>
              </a:defRPr>
            </a:lvl1pPr>
          </a:lstStyle>
          <a:p>
            <a:pPr>
              <a:defRPr/>
            </a:pPr>
            <a:r>
              <a:rPr lang="en-US" sz="4800"/>
              <a:t>Relationship: A number of</a:t>
            </a:r>
            <a:r>
              <a:rPr lang="en-US" sz="4800">
                <a:ln w="13970" cmpd="sng">
                  <a:solidFill>
                    <a:srgbClr val="00B0F0"/>
                  </a:solidFill>
                  <a:prstDash val="solid"/>
                </a:ln>
                <a:solidFill>
                  <a:srgbClr val="00B0F0"/>
                </a:solidFill>
              </a:rPr>
              <a:t> modules </a:t>
            </a:r>
            <a:r>
              <a:rPr lang="en-US" sz="4800">
                <a:ln w="13970" cmpd="sng">
                  <a:solidFill>
                    <a:srgbClr val="FFFF00"/>
                  </a:solidFill>
                  <a:prstDash val="solid"/>
                </a:ln>
                <a:solidFill>
                  <a:srgbClr val="FFFF00"/>
                </a:solidFill>
              </a:rPr>
              <a:t>make up </a:t>
            </a:r>
            <a:r>
              <a:rPr lang="en-US" sz="4800"/>
              <a:t>each </a:t>
            </a:r>
            <a:r>
              <a:rPr lang="en-US" sz="4800">
                <a:ln w="13970" cmpd="sng">
                  <a:solidFill>
                    <a:srgbClr val="00B0F0"/>
                  </a:solidFill>
                  <a:prstDash val="solid"/>
                </a:ln>
                <a:solidFill>
                  <a:srgbClr val="00B0F0"/>
                </a:solidFill>
              </a:rPr>
              <a:t>courses</a:t>
            </a:r>
            <a:endParaRPr lang="en-US" sz="4800" dirty="0">
              <a:ln w="13970" cmpd="sng">
                <a:solidFill>
                  <a:srgbClr val="00B0F0"/>
                </a:solidFill>
                <a:prstDash val="solid"/>
              </a:ln>
              <a:solidFill>
                <a:srgbClr val="00B0F0"/>
              </a:solidFill>
            </a:endParaRPr>
          </a:p>
        </p:txBody>
      </p:sp>
    </p:spTree>
    <p:extLst>
      <p:ext uri="{BB962C8B-B14F-4D97-AF65-F5344CB8AC3E}">
        <p14:creationId xmlns:p14="http://schemas.microsoft.com/office/powerpoint/2010/main" val="2037297024"/>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9222"/>
                                        </p:tgtEl>
                                        <p:attrNameLst>
                                          <p:attrName>style.visibility</p:attrName>
                                        </p:attrNameLst>
                                      </p:cBhvr>
                                      <p:to>
                                        <p:strVal val="visible"/>
                                      </p:to>
                                    </p:set>
                                    <p:animEffect transition="in" filter="blinds(horizontal)">
                                      <p:cBhvr>
                                        <p:cTn id="7" dur="1000"/>
                                        <p:tgtEl>
                                          <p:spTgt spid="92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22" grpId="0" animBg="1"/>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2467" name="Picture 5"/>
          <p:cNvPicPr>
            <a:picLocks noGrp="1" noChangeAspect="1" noChangeArrowheads="1"/>
          </p:cNvPicPr>
          <p:nvPr>
            <p:ph type="body" idx="1"/>
          </p:nvPr>
        </p:nvPicPr>
        <p:blipFill>
          <a:blip r:embed="rId2">
            <a:extLst>
              <a:ext uri="{28A0092B-C50C-407E-A947-70E740481C1C}">
                <a14:useLocalDpi xmlns:a14="http://schemas.microsoft.com/office/drawing/2010/main" val="0"/>
              </a:ext>
            </a:extLst>
          </a:blip>
          <a:srcRect l="15625" t="40625" r="14063" b="18750"/>
          <a:stretch>
            <a:fillRect/>
          </a:stretch>
        </p:blipFill>
        <p:spPr>
          <a:xfrm>
            <a:off x="914400" y="2149475"/>
            <a:ext cx="10363200" cy="4530725"/>
          </a:xfrm>
          <a:noFill/>
        </p:spPr>
      </p:pic>
      <p:sp>
        <p:nvSpPr>
          <p:cNvPr id="10246" name="Oval 6"/>
          <p:cNvSpPr>
            <a:spLocks noChangeArrowheads="1"/>
          </p:cNvSpPr>
          <p:nvPr/>
        </p:nvSpPr>
        <p:spPr bwMode="auto">
          <a:xfrm>
            <a:off x="690033" y="5683249"/>
            <a:ext cx="2844800" cy="914400"/>
          </a:xfrm>
          <a:prstGeom prst="ellipse">
            <a:avLst/>
          </a:prstGeom>
          <a:noFill/>
          <a:ln w="66675" algn="ctr">
            <a:solidFill>
              <a:srgbClr val="FF0000"/>
            </a:solidFill>
            <a:prstDash val="dash"/>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2400"/>
          </a:p>
        </p:txBody>
      </p:sp>
      <p:sp>
        <p:nvSpPr>
          <p:cNvPr id="2" name="Rectangle 1"/>
          <p:cNvSpPr/>
          <p:nvPr/>
        </p:nvSpPr>
        <p:spPr>
          <a:xfrm>
            <a:off x="9174575" y="6392464"/>
            <a:ext cx="2856423" cy="379656"/>
          </a:xfrm>
          <a:prstGeom prst="rect">
            <a:avLst/>
          </a:prstGeom>
        </p:spPr>
        <p:txBody>
          <a:bodyPr wrap="none">
            <a:spAutoFit/>
          </a:bodyPr>
          <a:lstStyle/>
          <a:p>
            <a:r>
              <a:rPr lang="en-MY" sz="1867" b="1" i="1" dirty="0">
                <a:solidFill>
                  <a:srgbClr val="7030A0"/>
                </a:solidFill>
              </a:rPr>
              <a:t>[*ignore the symbols used]</a:t>
            </a:r>
          </a:p>
        </p:txBody>
      </p:sp>
      <p:sp>
        <p:nvSpPr>
          <p:cNvPr id="8" name="Rectangle 2">
            <a:extLst>
              <a:ext uri="{FF2B5EF4-FFF2-40B4-BE49-F238E27FC236}">
                <a16:creationId xmlns:a16="http://schemas.microsoft.com/office/drawing/2014/main" id="{795840EE-F1EA-4384-B3C9-18DE0DF2B798}"/>
              </a:ext>
            </a:extLst>
          </p:cNvPr>
          <p:cNvSpPr>
            <a:spLocks noGrp="1" noChangeArrowheads="1"/>
          </p:cNvSpPr>
          <p:nvPr>
            <p:ph type="title"/>
          </p:nvPr>
        </p:nvSpPr>
        <p:spPr>
          <a:xfrm>
            <a:off x="690033" y="534572"/>
            <a:ext cx="12309831" cy="1111664"/>
          </a:xfrm>
        </p:spPr>
        <p:txBody>
          <a:bodyPr>
            <a:noAutofit/>
          </a:bodyPr>
          <a:lstStyle/>
          <a:p>
            <a:pPr eaLnBrk="1" hangingPunct="1">
              <a:defRPr/>
            </a:pPr>
            <a:r>
              <a:rPr lang="en-US" sz="5867" dirty="0"/>
              <a:t>Relationship: </a:t>
            </a:r>
            <a:r>
              <a:rPr lang="en-US" sz="5867" dirty="0">
                <a:ln w="13970" cmpd="sng">
                  <a:solidFill>
                    <a:srgbClr val="00B0F0"/>
                  </a:solidFill>
                  <a:prstDash val="solid"/>
                </a:ln>
                <a:solidFill>
                  <a:srgbClr val="00B0F0"/>
                </a:solidFill>
              </a:rPr>
              <a:t>Students</a:t>
            </a:r>
            <a:r>
              <a:rPr lang="en-US" sz="5867" dirty="0"/>
              <a:t> </a:t>
            </a:r>
            <a:r>
              <a:rPr lang="en-US" sz="5867" dirty="0" err="1">
                <a:ln w="13970" cmpd="sng">
                  <a:solidFill>
                    <a:srgbClr val="FFFF00"/>
                  </a:solidFill>
                  <a:prstDash val="solid"/>
                </a:ln>
                <a:solidFill>
                  <a:srgbClr val="FFFF00"/>
                </a:solidFill>
              </a:rPr>
              <a:t>enrol</a:t>
            </a:r>
            <a:r>
              <a:rPr lang="en-US" sz="5867" dirty="0">
                <a:ln w="13970" cmpd="sng">
                  <a:solidFill>
                    <a:srgbClr val="FFFF00"/>
                  </a:solidFill>
                  <a:prstDash val="solid"/>
                </a:ln>
                <a:solidFill>
                  <a:srgbClr val="FFFF00"/>
                </a:solidFill>
              </a:rPr>
              <a:t> </a:t>
            </a:r>
            <a:r>
              <a:rPr lang="en-US" sz="5867" dirty="0"/>
              <a:t>in a particular </a:t>
            </a:r>
            <a:r>
              <a:rPr lang="en-US" sz="5867" dirty="0">
                <a:ln w="13970" cmpd="sng">
                  <a:solidFill>
                    <a:srgbClr val="00B0F0"/>
                  </a:solidFill>
                  <a:prstDash val="solid"/>
                </a:ln>
                <a:solidFill>
                  <a:srgbClr val="00B0F0"/>
                </a:solidFill>
              </a:rPr>
              <a:t>course</a:t>
            </a:r>
          </a:p>
        </p:txBody>
      </p:sp>
    </p:spTree>
    <p:extLst>
      <p:ext uri="{BB962C8B-B14F-4D97-AF65-F5344CB8AC3E}">
        <p14:creationId xmlns:p14="http://schemas.microsoft.com/office/powerpoint/2010/main" val="3008375714"/>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0246"/>
                                        </p:tgtEl>
                                        <p:attrNameLst>
                                          <p:attrName>style.visibility</p:attrName>
                                        </p:attrNameLst>
                                      </p:cBhvr>
                                      <p:to>
                                        <p:strVal val="visible"/>
                                      </p:to>
                                    </p:set>
                                    <p:animEffect transition="in" filter="blinds(horizontal)">
                                      <p:cBhvr>
                                        <p:cTn id="7" dur="500"/>
                                        <p:tgtEl>
                                          <p:spTgt spid="102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6" grpId="0" animBg="1"/>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3491" name="Picture 5"/>
          <p:cNvPicPr>
            <a:picLocks noGrp="1" noChangeAspect="1" noChangeArrowheads="1"/>
          </p:cNvPicPr>
          <p:nvPr>
            <p:ph type="body" idx="1"/>
          </p:nvPr>
        </p:nvPicPr>
        <p:blipFill>
          <a:blip r:embed="rId2">
            <a:extLst>
              <a:ext uri="{28A0092B-C50C-407E-A947-70E740481C1C}">
                <a14:useLocalDpi xmlns:a14="http://schemas.microsoft.com/office/drawing/2010/main" val="0"/>
              </a:ext>
            </a:extLst>
          </a:blip>
          <a:srcRect l="14844" t="40625" r="14063" b="18750"/>
          <a:stretch>
            <a:fillRect/>
          </a:stretch>
        </p:blipFill>
        <p:spPr>
          <a:xfrm>
            <a:off x="812800" y="1600200"/>
            <a:ext cx="10566400" cy="4530725"/>
          </a:xfrm>
          <a:noFill/>
        </p:spPr>
      </p:pic>
      <p:sp>
        <p:nvSpPr>
          <p:cNvPr id="11271" name="Oval 7"/>
          <p:cNvSpPr>
            <a:spLocks noChangeArrowheads="1"/>
          </p:cNvSpPr>
          <p:nvPr/>
        </p:nvSpPr>
        <p:spPr bwMode="auto">
          <a:xfrm>
            <a:off x="4758267" y="3978275"/>
            <a:ext cx="2844800" cy="914400"/>
          </a:xfrm>
          <a:prstGeom prst="ellipse">
            <a:avLst/>
          </a:prstGeom>
          <a:noFill/>
          <a:ln w="66675">
            <a:solidFill>
              <a:srgbClr val="FF0000"/>
            </a:solidFill>
            <a:prstDash val="dash"/>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2400"/>
          </a:p>
        </p:txBody>
      </p:sp>
      <p:sp>
        <p:nvSpPr>
          <p:cNvPr id="5" name="Rectangle 4"/>
          <p:cNvSpPr/>
          <p:nvPr/>
        </p:nvSpPr>
        <p:spPr>
          <a:xfrm>
            <a:off x="9174575" y="6392464"/>
            <a:ext cx="2856423" cy="379656"/>
          </a:xfrm>
          <a:prstGeom prst="rect">
            <a:avLst/>
          </a:prstGeom>
        </p:spPr>
        <p:txBody>
          <a:bodyPr wrap="none">
            <a:spAutoFit/>
          </a:bodyPr>
          <a:lstStyle/>
          <a:p>
            <a:r>
              <a:rPr lang="en-MY" sz="1867" b="1" i="1" dirty="0">
                <a:solidFill>
                  <a:srgbClr val="7030A0"/>
                </a:solidFill>
              </a:rPr>
              <a:t>[*ignore the symbols used]</a:t>
            </a:r>
          </a:p>
        </p:txBody>
      </p:sp>
      <p:sp>
        <p:nvSpPr>
          <p:cNvPr id="8" name="Rectangle 2">
            <a:extLst>
              <a:ext uri="{FF2B5EF4-FFF2-40B4-BE49-F238E27FC236}">
                <a16:creationId xmlns:a16="http://schemas.microsoft.com/office/drawing/2014/main" id="{42B02E5C-F9B1-4D35-9065-2923959A9EDA}"/>
              </a:ext>
            </a:extLst>
          </p:cNvPr>
          <p:cNvSpPr>
            <a:spLocks noGrp="1" noChangeArrowheads="1"/>
          </p:cNvSpPr>
          <p:nvPr>
            <p:ph type="title"/>
          </p:nvPr>
        </p:nvSpPr>
        <p:spPr>
          <a:xfrm>
            <a:off x="694267" y="562325"/>
            <a:ext cx="10972800" cy="1037875"/>
          </a:xfrm>
        </p:spPr>
        <p:txBody>
          <a:bodyPr>
            <a:noAutofit/>
          </a:bodyPr>
          <a:lstStyle/>
          <a:p>
            <a:pPr eaLnBrk="1" hangingPunct="1">
              <a:defRPr/>
            </a:pPr>
            <a:r>
              <a:rPr lang="en-US" dirty="0">
                <a:ln w="13970" cmpd="sng">
                  <a:solidFill>
                    <a:srgbClr val="00B0F0"/>
                  </a:solidFill>
                  <a:prstDash val="solid"/>
                </a:ln>
                <a:solidFill>
                  <a:srgbClr val="00B0F0"/>
                </a:solidFill>
              </a:rPr>
              <a:t>Students</a:t>
            </a:r>
            <a:r>
              <a:rPr lang="en-US" dirty="0"/>
              <a:t> </a:t>
            </a:r>
            <a:r>
              <a:rPr lang="en-US" dirty="0" err="1">
                <a:solidFill>
                  <a:schemeClr val="tx1"/>
                </a:solidFill>
              </a:rPr>
              <a:t>enrol</a:t>
            </a:r>
            <a:r>
              <a:rPr lang="en-US" dirty="0">
                <a:solidFill>
                  <a:schemeClr val="tx1"/>
                </a:solidFill>
              </a:rPr>
              <a:t> in a particular course and</a:t>
            </a:r>
            <a:r>
              <a:rPr lang="en-US" dirty="0"/>
              <a:t> </a:t>
            </a:r>
            <a:r>
              <a:rPr lang="en-US" dirty="0">
                <a:ln w="13970" cmpd="sng">
                  <a:solidFill>
                    <a:srgbClr val="FFFF00"/>
                  </a:solidFill>
                  <a:prstDash val="solid"/>
                </a:ln>
                <a:solidFill>
                  <a:srgbClr val="FFFF00"/>
                </a:solidFill>
              </a:rPr>
              <a:t>take</a:t>
            </a:r>
            <a:r>
              <a:rPr lang="en-US" dirty="0"/>
              <a:t> </a:t>
            </a:r>
            <a:r>
              <a:rPr lang="en-US" dirty="0">
                <a:ln w="13970" cmpd="sng">
                  <a:solidFill>
                    <a:srgbClr val="00B0F0"/>
                  </a:solidFill>
                  <a:prstDash val="solid"/>
                </a:ln>
                <a:solidFill>
                  <a:srgbClr val="00B0F0"/>
                </a:solidFill>
              </a:rPr>
              <a:t>modules</a:t>
            </a:r>
          </a:p>
        </p:txBody>
      </p:sp>
    </p:spTree>
    <p:extLst>
      <p:ext uri="{BB962C8B-B14F-4D97-AF65-F5344CB8AC3E}">
        <p14:creationId xmlns:p14="http://schemas.microsoft.com/office/powerpoint/2010/main" val="4223918111"/>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1271"/>
                                        </p:tgtEl>
                                        <p:attrNameLst>
                                          <p:attrName>style.visibility</p:attrName>
                                        </p:attrNameLst>
                                      </p:cBhvr>
                                      <p:to>
                                        <p:strVal val="visible"/>
                                      </p:to>
                                    </p:set>
                                    <p:animEffect transition="in" filter="blinds(horizontal)">
                                      <p:cBhvr>
                                        <p:cTn id="7" dur="1000"/>
                                        <p:tgtEl>
                                          <p:spTgt spid="112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71" grpId="0" animBg="1"/>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4515" name="Picture 3"/>
          <p:cNvPicPr>
            <a:picLocks noGrp="1" noChangeAspect="1" noChangeArrowheads="1"/>
          </p:cNvPicPr>
          <p:nvPr>
            <p:ph type="body" idx="1"/>
          </p:nvPr>
        </p:nvPicPr>
        <p:blipFill>
          <a:blip r:embed="rId2">
            <a:extLst>
              <a:ext uri="{28A0092B-C50C-407E-A947-70E740481C1C}">
                <a14:useLocalDpi xmlns:a14="http://schemas.microsoft.com/office/drawing/2010/main" val="0"/>
              </a:ext>
            </a:extLst>
          </a:blip>
          <a:srcRect l="14815" t="41116" r="12785" b="19186"/>
          <a:stretch>
            <a:fillRect/>
          </a:stretch>
        </p:blipFill>
        <p:spPr>
          <a:xfrm>
            <a:off x="711200" y="1981200"/>
            <a:ext cx="10871200" cy="4267200"/>
          </a:xfrm>
        </p:spPr>
      </p:pic>
      <p:sp>
        <p:nvSpPr>
          <p:cNvPr id="12293" name="Oval 5"/>
          <p:cNvSpPr>
            <a:spLocks noChangeArrowheads="1"/>
          </p:cNvSpPr>
          <p:nvPr/>
        </p:nvSpPr>
        <p:spPr bwMode="auto">
          <a:xfrm>
            <a:off x="7239000" y="3168651"/>
            <a:ext cx="1828800" cy="914400"/>
          </a:xfrm>
          <a:prstGeom prst="ellipse">
            <a:avLst/>
          </a:prstGeom>
          <a:noFill/>
          <a:ln w="66675">
            <a:solidFill>
              <a:srgbClr val="FF0000"/>
            </a:solidFill>
            <a:prstDash val="dash"/>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2400"/>
          </a:p>
        </p:txBody>
      </p:sp>
      <p:sp>
        <p:nvSpPr>
          <p:cNvPr id="5" name="Rectangle 4"/>
          <p:cNvSpPr/>
          <p:nvPr/>
        </p:nvSpPr>
        <p:spPr>
          <a:xfrm>
            <a:off x="9174575" y="6392464"/>
            <a:ext cx="2856423" cy="379656"/>
          </a:xfrm>
          <a:prstGeom prst="rect">
            <a:avLst/>
          </a:prstGeom>
        </p:spPr>
        <p:txBody>
          <a:bodyPr wrap="none">
            <a:spAutoFit/>
          </a:bodyPr>
          <a:lstStyle/>
          <a:p>
            <a:r>
              <a:rPr lang="en-MY" sz="1867" b="1" i="1" dirty="0">
                <a:solidFill>
                  <a:srgbClr val="7030A0"/>
                </a:solidFill>
              </a:rPr>
              <a:t>[*ignore the symbols used]</a:t>
            </a:r>
          </a:p>
        </p:txBody>
      </p:sp>
      <p:sp>
        <p:nvSpPr>
          <p:cNvPr id="8" name="Rectangle 2">
            <a:extLst>
              <a:ext uri="{FF2B5EF4-FFF2-40B4-BE49-F238E27FC236}">
                <a16:creationId xmlns:a16="http://schemas.microsoft.com/office/drawing/2014/main" id="{8E100007-2162-43BB-AD7B-52149D89C8A7}"/>
              </a:ext>
            </a:extLst>
          </p:cNvPr>
          <p:cNvSpPr>
            <a:spLocks noGrp="1" noChangeArrowheads="1"/>
          </p:cNvSpPr>
          <p:nvPr>
            <p:ph type="title"/>
          </p:nvPr>
        </p:nvSpPr>
        <p:spPr>
          <a:xfrm>
            <a:off x="609600" y="182880"/>
            <a:ext cx="10972800" cy="1111664"/>
          </a:xfrm>
        </p:spPr>
        <p:txBody>
          <a:bodyPr>
            <a:normAutofit/>
          </a:bodyPr>
          <a:lstStyle/>
          <a:p>
            <a:pPr eaLnBrk="1" hangingPunct="1">
              <a:defRPr/>
            </a:pPr>
            <a:r>
              <a:rPr lang="en-US" dirty="0"/>
              <a:t>Each </a:t>
            </a:r>
            <a:r>
              <a:rPr lang="en-US" dirty="0">
                <a:ln w="13970" cmpd="sng">
                  <a:solidFill>
                    <a:srgbClr val="00B0F0"/>
                  </a:solidFill>
                  <a:prstDash val="solid"/>
                </a:ln>
                <a:solidFill>
                  <a:srgbClr val="00B0F0"/>
                </a:solidFill>
              </a:rPr>
              <a:t>module</a:t>
            </a:r>
            <a:r>
              <a:rPr lang="en-US" dirty="0"/>
              <a:t> is </a:t>
            </a:r>
            <a:r>
              <a:rPr lang="en-US" dirty="0">
                <a:ln w="13970" cmpd="sng">
                  <a:solidFill>
                    <a:srgbClr val="FFFF00"/>
                  </a:solidFill>
                  <a:prstDash val="solid"/>
                </a:ln>
                <a:solidFill>
                  <a:srgbClr val="FFFF00"/>
                </a:solidFill>
              </a:rPr>
              <a:t>taught</a:t>
            </a:r>
            <a:r>
              <a:rPr lang="en-US" dirty="0"/>
              <a:t> by a </a:t>
            </a:r>
            <a:r>
              <a:rPr lang="en-US" dirty="0">
                <a:ln w="13970" cmpd="sng">
                  <a:solidFill>
                    <a:srgbClr val="00B0F0"/>
                  </a:solidFill>
                  <a:prstDash val="solid"/>
                </a:ln>
                <a:solidFill>
                  <a:srgbClr val="00B0F0"/>
                </a:solidFill>
              </a:rPr>
              <a:t>lecturer</a:t>
            </a:r>
          </a:p>
        </p:txBody>
      </p:sp>
    </p:spTree>
    <p:extLst>
      <p:ext uri="{BB962C8B-B14F-4D97-AF65-F5344CB8AC3E}">
        <p14:creationId xmlns:p14="http://schemas.microsoft.com/office/powerpoint/2010/main" val="2121519987"/>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2293"/>
                                        </p:tgtEl>
                                        <p:attrNameLst>
                                          <p:attrName>style.visibility</p:attrName>
                                        </p:attrNameLst>
                                      </p:cBhvr>
                                      <p:to>
                                        <p:strVal val="visible"/>
                                      </p:to>
                                    </p:set>
                                    <p:animEffect transition="in" filter="blinds(horizontal)">
                                      <p:cBhvr>
                                        <p:cTn id="7" dur="1000"/>
                                        <p:tgtEl>
                                          <p:spTgt spid="1229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3" grpId="0" animBg="1"/>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5539" name="Picture 6"/>
          <p:cNvPicPr>
            <a:picLocks noGrp="1" noChangeAspect="1" noChangeArrowheads="1"/>
          </p:cNvPicPr>
          <p:nvPr>
            <p:ph type="body" idx="1"/>
          </p:nvPr>
        </p:nvPicPr>
        <p:blipFill>
          <a:blip r:embed="rId2">
            <a:extLst>
              <a:ext uri="{28A0092B-C50C-407E-A947-70E740481C1C}">
                <a14:useLocalDpi xmlns:a14="http://schemas.microsoft.com/office/drawing/2010/main" val="0"/>
              </a:ext>
            </a:extLst>
          </a:blip>
          <a:srcRect l="15625" t="40625" r="14063" b="18750"/>
          <a:stretch>
            <a:fillRect/>
          </a:stretch>
        </p:blipFill>
        <p:spPr>
          <a:xfrm>
            <a:off x="812800" y="1905000"/>
            <a:ext cx="10871200" cy="4530725"/>
          </a:xfrm>
          <a:noFill/>
        </p:spPr>
      </p:pic>
      <p:sp>
        <p:nvSpPr>
          <p:cNvPr id="13319" name="Oval 7"/>
          <p:cNvSpPr>
            <a:spLocks noChangeArrowheads="1"/>
          </p:cNvSpPr>
          <p:nvPr/>
        </p:nvSpPr>
        <p:spPr bwMode="auto">
          <a:xfrm>
            <a:off x="9042400" y="1905000"/>
            <a:ext cx="2844800" cy="914400"/>
          </a:xfrm>
          <a:prstGeom prst="ellipse">
            <a:avLst/>
          </a:prstGeom>
          <a:noFill/>
          <a:ln w="66675">
            <a:solidFill>
              <a:srgbClr val="FF0000"/>
            </a:solidFill>
            <a:prstDash val="dash"/>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2400"/>
          </a:p>
        </p:txBody>
      </p:sp>
      <p:sp>
        <p:nvSpPr>
          <p:cNvPr id="5" name="Rectangle 4"/>
          <p:cNvSpPr/>
          <p:nvPr/>
        </p:nvSpPr>
        <p:spPr>
          <a:xfrm>
            <a:off x="9174575" y="6392464"/>
            <a:ext cx="2856423" cy="379656"/>
          </a:xfrm>
          <a:prstGeom prst="rect">
            <a:avLst/>
          </a:prstGeom>
        </p:spPr>
        <p:txBody>
          <a:bodyPr wrap="none">
            <a:spAutoFit/>
          </a:bodyPr>
          <a:lstStyle/>
          <a:p>
            <a:r>
              <a:rPr lang="en-MY" sz="1867" b="1" i="1" dirty="0">
                <a:solidFill>
                  <a:srgbClr val="7030A0"/>
                </a:solidFill>
              </a:rPr>
              <a:t>[*ignore the symbols used]</a:t>
            </a:r>
          </a:p>
        </p:txBody>
      </p:sp>
      <p:sp>
        <p:nvSpPr>
          <p:cNvPr id="8" name="Rectangle 2">
            <a:extLst>
              <a:ext uri="{FF2B5EF4-FFF2-40B4-BE49-F238E27FC236}">
                <a16:creationId xmlns:a16="http://schemas.microsoft.com/office/drawing/2014/main" id="{2114BA4D-6D98-45AD-9035-29875312A597}"/>
              </a:ext>
            </a:extLst>
          </p:cNvPr>
          <p:cNvSpPr>
            <a:spLocks noGrp="1" noChangeArrowheads="1"/>
          </p:cNvSpPr>
          <p:nvPr>
            <p:ph type="title"/>
          </p:nvPr>
        </p:nvSpPr>
        <p:spPr>
          <a:xfrm>
            <a:off x="1219200" y="456941"/>
            <a:ext cx="10972800" cy="1111664"/>
          </a:xfrm>
        </p:spPr>
        <p:txBody>
          <a:bodyPr>
            <a:normAutofit fontScale="90000"/>
          </a:bodyPr>
          <a:lstStyle/>
          <a:p>
            <a:pPr eaLnBrk="1" hangingPunct="1">
              <a:defRPr/>
            </a:pPr>
            <a:r>
              <a:rPr lang="en-US" sz="6133" dirty="0"/>
              <a:t>A </a:t>
            </a:r>
            <a:r>
              <a:rPr lang="en-US" sz="6133" dirty="0">
                <a:ln w="13970" cmpd="sng">
                  <a:solidFill>
                    <a:srgbClr val="00B0F0"/>
                  </a:solidFill>
                  <a:prstDash val="solid"/>
                </a:ln>
                <a:solidFill>
                  <a:srgbClr val="00B0F0"/>
                </a:solidFill>
              </a:rPr>
              <a:t>lecturer</a:t>
            </a:r>
            <a:r>
              <a:rPr lang="en-US" sz="6133" dirty="0"/>
              <a:t> </a:t>
            </a:r>
            <a:r>
              <a:rPr lang="en-US" sz="6133" dirty="0">
                <a:ln w="13970" cmpd="sng">
                  <a:solidFill>
                    <a:srgbClr val="FFFF00"/>
                  </a:solidFill>
                  <a:prstDash val="solid"/>
                </a:ln>
                <a:solidFill>
                  <a:srgbClr val="FFFF00"/>
                </a:solidFill>
              </a:rPr>
              <a:t>from the </a:t>
            </a:r>
            <a:r>
              <a:rPr lang="en-US" sz="6133" dirty="0"/>
              <a:t>appropriate </a:t>
            </a:r>
            <a:r>
              <a:rPr lang="en-US" sz="6133" dirty="0">
                <a:ln w="13970" cmpd="sng">
                  <a:solidFill>
                    <a:srgbClr val="00B0F0"/>
                  </a:solidFill>
                  <a:prstDash val="solid"/>
                </a:ln>
                <a:solidFill>
                  <a:srgbClr val="00B0F0"/>
                </a:solidFill>
              </a:rPr>
              <a:t>department</a:t>
            </a:r>
          </a:p>
        </p:txBody>
      </p:sp>
    </p:spTree>
    <p:extLst>
      <p:ext uri="{BB962C8B-B14F-4D97-AF65-F5344CB8AC3E}">
        <p14:creationId xmlns:p14="http://schemas.microsoft.com/office/powerpoint/2010/main" val="4214244513"/>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3319"/>
                                        </p:tgtEl>
                                        <p:attrNameLst>
                                          <p:attrName>style.visibility</p:attrName>
                                        </p:attrNameLst>
                                      </p:cBhvr>
                                      <p:to>
                                        <p:strVal val="visible"/>
                                      </p:to>
                                    </p:set>
                                    <p:animEffect transition="in" filter="blinds(horizontal)">
                                      <p:cBhvr>
                                        <p:cTn id="7" dur="1000"/>
                                        <p:tgtEl>
                                          <p:spTgt spid="133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9" grpId="0" animBg="1"/>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6563" name="Picture 3"/>
          <p:cNvPicPr>
            <a:picLocks noGrp="1" noChangeAspect="1" noChangeArrowheads="1"/>
          </p:cNvPicPr>
          <p:nvPr>
            <p:ph type="body" idx="1"/>
          </p:nvPr>
        </p:nvPicPr>
        <p:blipFill>
          <a:blip r:embed="rId2">
            <a:extLst>
              <a:ext uri="{28A0092B-C50C-407E-A947-70E740481C1C}">
                <a14:useLocalDpi xmlns:a14="http://schemas.microsoft.com/office/drawing/2010/main" val="0"/>
              </a:ext>
            </a:extLst>
          </a:blip>
          <a:srcRect l="15741" t="40407" r="13889" b="19186"/>
          <a:stretch>
            <a:fillRect/>
          </a:stretch>
        </p:blipFill>
        <p:spPr>
          <a:xfrm>
            <a:off x="1117600" y="1752600"/>
            <a:ext cx="10365317" cy="4495800"/>
          </a:xfrm>
        </p:spPr>
      </p:pic>
      <p:sp>
        <p:nvSpPr>
          <p:cNvPr id="14340" name="Oval 4"/>
          <p:cNvSpPr>
            <a:spLocks noChangeArrowheads="1"/>
          </p:cNvSpPr>
          <p:nvPr/>
        </p:nvSpPr>
        <p:spPr bwMode="auto">
          <a:xfrm>
            <a:off x="8881533" y="5257800"/>
            <a:ext cx="2844800" cy="914400"/>
          </a:xfrm>
          <a:prstGeom prst="ellipse">
            <a:avLst/>
          </a:prstGeom>
          <a:noFill/>
          <a:ln w="66675">
            <a:solidFill>
              <a:srgbClr val="FF0000"/>
            </a:solidFill>
            <a:prstDash val="dash"/>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2400"/>
          </a:p>
        </p:txBody>
      </p:sp>
      <p:sp>
        <p:nvSpPr>
          <p:cNvPr id="5" name="Rectangle 4"/>
          <p:cNvSpPr/>
          <p:nvPr/>
        </p:nvSpPr>
        <p:spPr>
          <a:xfrm>
            <a:off x="9174575" y="6392464"/>
            <a:ext cx="2856423" cy="379656"/>
          </a:xfrm>
          <a:prstGeom prst="rect">
            <a:avLst/>
          </a:prstGeom>
        </p:spPr>
        <p:txBody>
          <a:bodyPr wrap="none">
            <a:spAutoFit/>
          </a:bodyPr>
          <a:lstStyle/>
          <a:p>
            <a:r>
              <a:rPr lang="en-MY" sz="1867" b="1" i="1" dirty="0">
                <a:solidFill>
                  <a:srgbClr val="7030A0"/>
                </a:solidFill>
              </a:rPr>
              <a:t>[*ignore the symbols used]</a:t>
            </a:r>
          </a:p>
        </p:txBody>
      </p:sp>
      <p:sp>
        <p:nvSpPr>
          <p:cNvPr id="8" name="Rectangle 2">
            <a:extLst>
              <a:ext uri="{FF2B5EF4-FFF2-40B4-BE49-F238E27FC236}">
                <a16:creationId xmlns:a16="http://schemas.microsoft.com/office/drawing/2014/main" id="{EF01B797-080A-4C01-85CD-9240FEC85C7A}"/>
              </a:ext>
            </a:extLst>
          </p:cNvPr>
          <p:cNvSpPr>
            <a:spLocks noGrp="1" noChangeArrowheads="1"/>
          </p:cNvSpPr>
          <p:nvPr>
            <p:ph type="title"/>
          </p:nvPr>
        </p:nvSpPr>
        <p:spPr>
          <a:xfrm>
            <a:off x="1219200" y="530804"/>
            <a:ext cx="10972800" cy="1111664"/>
          </a:xfrm>
        </p:spPr>
        <p:txBody>
          <a:bodyPr>
            <a:normAutofit fontScale="90000"/>
          </a:bodyPr>
          <a:lstStyle/>
          <a:p>
            <a:pPr eaLnBrk="1" hangingPunct="1">
              <a:defRPr/>
            </a:pPr>
            <a:r>
              <a:rPr lang="en-US" sz="6133" dirty="0"/>
              <a:t>Each </a:t>
            </a:r>
            <a:r>
              <a:rPr lang="en-US" sz="6133" dirty="0">
                <a:ln w="13970" cmpd="sng">
                  <a:solidFill>
                    <a:srgbClr val="00B0F0"/>
                  </a:solidFill>
                  <a:prstDash val="solid"/>
                </a:ln>
                <a:solidFill>
                  <a:srgbClr val="00B0F0"/>
                </a:solidFill>
              </a:rPr>
              <a:t>lecturer</a:t>
            </a:r>
            <a:r>
              <a:rPr lang="en-US" sz="6133" dirty="0">
                <a:ln w="13970" cmpd="sng">
                  <a:solidFill>
                    <a:srgbClr val="FFFF00"/>
                  </a:solidFill>
                  <a:prstDash val="solid"/>
                </a:ln>
                <a:solidFill>
                  <a:srgbClr val="FFFF00"/>
                </a:solidFill>
              </a:rPr>
              <a:t> tutors </a:t>
            </a:r>
            <a:r>
              <a:rPr lang="en-US" sz="6133" dirty="0"/>
              <a:t>a group of </a:t>
            </a:r>
            <a:r>
              <a:rPr lang="en-US" sz="6133" dirty="0">
                <a:ln w="13970" cmpd="sng">
                  <a:solidFill>
                    <a:srgbClr val="00B0F0"/>
                  </a:solidFill>
                  <a:prstDash val="solid"/>
                </a:ln>
                <a:solidFill>
                  <a:srgbClr val="00B0F0"/>
                </a:solidFill>
              </a:rPr>
              <a:t>students</a:t>
            </a:r>
          </a:p>
        </p:txBody>
      </p:sp>
    </p:spTree>
    <p:extLst>
      <p:ext uri="{BB962C8B-B14F-4D97-AF65-F5344CB8AC3E}">
        <p14:creationId xmlns:p14="http://schemas.microsoft.com/office/powerpoint/2010/main" val="3618155244"/>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4340"/>
                                        </p:tgtEl>
                                        <p:attrNameLst>
                                          <p:attrName>style.visibility</p:attrName>
                                        </p:attrNameLst>
                                      </p:cBhvr>
                                      <p:to>
                                        <p:strVal val="visible"/>
                                      </p:to>
                                    </p:set>
                                    <p:animEffect transition="in" filter="blinds(horizontal)">
                                      <p:cBhvr>
                                        <p:cTn id="7" dur="1000"/>
                                        <p:tgtEl>
                                          <p:spTgt spid="143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40" grpId="0" animBg="1"/>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a:xfrm>
            <a:off x="609600" y="76200"/>
            <a:ext cx="10972800" cy="1143000"/>
          </a:xfrm>
        </p:spPr>
        <p:txBody>
          <a:bodyPr>
            <a:normAutofit/>
          </a:bodyPr>
          <a:lstStyle/>
          <a:p>
            <a:pPr eaLnBrk="1" hangingPunct="1">
              <a:defRPr/>
            </a:pPr>
            <a:r>
              <a:rPr lang="en-US"/>
              <a:t>The result</a:t>
            </a:r>
          </a:p>
        </p:txBody>
      </p:sp>
      <p:pic>
        <p:nvPicPr>
          <p:cNvPr id="67587" name="Picture 3"/>
          <p:cNvPicPr>
            <a:picLocks noGrp="1" noChangeAspect="1" noChangeArrowheads="1"/>
          </p:cNvPicPr>
          <p:nvPr>
            <p:ph type="body" idx="1"/>
          </p:nvPr>
        </p:nvPicPr>
        <p:blipFill rotWithShape="1">
          <a:blip r:embed="rId2">
            <a:extLst>
              <a:ext uri="{28A0092B-C50C-407E-A947-70E740481C1C}">
                <a14:useLocalDpi xmlns:a14="http://schemas.microsoft.com/office/drawing/2010/main" val="0"/>
              </a:ext>
            </a:extLst>
          </a:blip>
          <a:srcRect l="16018" t="38724" r="13889" b="19186"/>
          <a:stretch/>
        </p:blipFill>
        <p:spPr>
          <a:xfrm>
            <a:off x="719403" y="1796819"/>
            <a:ext cx="10972800" cy="4800600"/>
          </a:xfrm>
        </p:spPr>
      </p:pic>
      <p:sp>
        <p:nvSpPr>
          <p:cNvPr id="4" name="Rectangle 3"/>
          <p:cNvSpPr/>
          <p:nvPr/>
        </p:nvSpPr>
        <p:spPr>
          <a:xfrm>
            <a:off x="9174575" y="6392464"/>
            <a:ext cx="2856423" cy="379656"/>
          </a:xfrm>
          <a:prstGeom prst="rect">
            <a:avLst/>
          </a:prstGeom>
        </p:spPr>
        <p:txBody>
          <a:bodyPr wrap="none">
            <a:spAutoFit/>
          </a:bodyPr>
          <a:lstStyle/>
          <a:p>
            <a:r>
              <a:rPr lang="en-MY" sz="1867" b="1" i="1" dirty="0">
                <a:solidFill>
                  <a:srgbClr val="7030A0"/>
                </a:solidFill>
              </a:rPr>
              <a:t>[*ignore the symbols used]</a:t>
            </a:r>
          </a:p>
        </p:txBody>
      </p:sp>
    </p:spTree>
    <p:extLst>
      <p:ext uri="{BB962C8B-B14F-4D97-AF65-F5344CB8AC3E}">
        <p14:creationId xmlns:p14="http://schemas.microsoft.com/office/powerpoint/2010/main" val="1795713344"/>
      </p:ext>
    </p:extLst>
  </p:cSld>
  <p:clrMapOvr>
    <a:masterClrMapping/>
  </p:clrMapOvr>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AnyQuestions – Hamilton Librarie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92315" y="2560019"/>
            <a:ext cx="3605786" cy="2036920"/>
          </a:xfrm>
          <a:prstGeom prst="rect">
            <a:avLst/>
          </a:prstGeom>
          <a:noFill/>
          <a:extLst>
            <a:ext uri="{909E8E84-426E-40DD-AFC4-6F175D3DCCD1}">
              <a14:hiddenFill xmlns:a14="http://schemas.microsoft.com/office/drawing/2010/main">
                <a:solidFill>
                  <a:srgbClr val="FFFFFF"/>
                </a:solidFill>
              </a14:hiddenFill>
            </a:ext>
          </a:extLst>
        </p:spPr>
      </p:pic>
      <p:sp>
        <p:nvSpPr>
          <p:cNvPr id="5" name="Title 4"/>
          <p:cNvSpPr>
            <a:spLocks noGrp="1"/>
          </p:cNvSpPr>
          <p:nvPr>
            <p:ph type="title"/>
          </p:nvPr>
        </p:nvSpPr>
        <p:spPr/>
        <p:txBody>
          <a:bodyPr/>
          <a:lstStyle/>
          <a:p>
            <a:endParaRPr lang="en-MY"/>
          </a:p>
        </p:txBody>
      </p:sp>
    </p:spTree>
    <p:extLst>
      <p:ext uri="{BB962C8B-B14F-4D97-AF65-F5344CB8AC3E}">
        <p14:creationId xmlns:p14="http://schemas.microsoft.com/office/powerpoint/2010/main" val="142673945"/>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1119</TotalTime>
  <Words>2664</Words>
  <Application>Microsoft Office PowerPoint</Application>
  <PresentationFormat>Widescreen</PresentationFormat>
  <Paragraphs>269</Paragraphs>
  <Slides>59</Slides>
  <Notes>2</Notes>
  <HiddenSlides>0</HiddenSlides>
  <MMClips>0</MMClips>
  <ScaleCrop>false</ScaleCrop>
  <HeadingPairs>
    <vt:vector size="8" baseType="variant">
      <vt:variant>
        <vt:lpstr>Fonts Used</vt:lpstr>
      </vt:variant>
      <vt:variant>
        <vt:i4>7</vt:i4>
      </vt:variant>
      <vt:variant>
        <vt:lpstr>Theme</vt:lpstr>
      </vt:variant>
      <vt:variant>
        <vt:i4>1</vt:i4>
      </vt:variant>
      <vt:variant>
        <vt:lpstr>Embedded OLE Servers</vt:lpstr>
      </vt:variant>
      <vt:variant>
        <vt:i4>0</vt:i4>
      </vt:variant>
      <vt:variant>
        <vt:lpstr>Slide Titles</vt:lpstr>
      </vt:variant>
      <vt:variant>
        <vt:i4>59</vt:i4>
      </vt:variant>
    </vt:vector>
  </HeadingPairs>
  <TitlesOfParts>
    <vt:vector size="67" baseType="lpstr">
      <vt:lpstr>Adobe Garamond Pro Bold</vt:lpstr>
      <vt:lpstr>Agency FB</vt:lpstr>
      <vt:lpstr>Arial</vt:lpstr>
      <vt:lpstr>Arial Narrow</vt:lpstr>
      <vt:lpstr>Calibri</vt:lpstr>
      <vt:lpstr>Calibri Light</vt:lpstr>
      <vt:lpstr>Wingdings</vt:lpstr>
      <vt:lpstr>Retrospect</vt:lpstr>
      <vt:lpstr>DFC 20203 - Database Design  Chapter 3 :  Entity-Relationship (E-R) Model &amp; Normalization </vt:lpstr>
      <vt:lpstr>Let’s Review Last Lesson </vt:lpstr>
      <vt:lpstr>3.2 Apply E-R Diagrams (ERD) in database development</vt:lpstr>
      <vt:lpstr>Lesson Learning Outcome (LLO)</vt:lpstr>
      <vt:lpstr>ER Model for purchasing a car </vt:lpstr>
      <vt:lpstr>Entity Relationship Diagram (ER-D)</vt:lpstr>
      <vt:lpstr>Uses of ER-Diagram</vt:lpstr>
      <vt:lpstr>Entity Relationship Diagram (ERD)</vt:lpstr>
      <vt:lpstr>PowerPoint Presentation</vt:lpstr>
      <vt:lpstr>ER Notations</vt:lpstr>
      <vt:lpstr>Entity</vt:lpstr>
      <vt:lpstr>Entity </vt:lpstr>
      <vt:lpstr>Let’s discuss</vt:lpstr>
      <vt:lpstr>Answer 1 </vt:lpstr>
      <vt:lpstr>Attributes</vt:lpstr>
      <vt:lpstr>Attribute</vt:lpstr>
      <vt:lpstr>Example attribute</vt:lpstr>
      <vt:lpstr>Let’s discuss</vt:lpstr>
      <vt:lpstr>Relationships</vt:lpstr>
      <vt:lpstr> Example Relationships</vt:lpstr>
      <vt:lpstr>Let’s discuss</vt:lpstr>
      <vt:lpstr>Answer 2</vt:lpstr>
      <vt:lpstr>Cardinality</vt:lpstr>
      <vt:lpstr>Cardinality</vt:lpstr>
      <vt:lpstr>Cardinality Notation (crow’s foot notation)</vt:lpstr>
      <vt:lpstr>Example: </vt:lpstr>
      <vt:lpstr>Optionality and Cardinality</vt:lpstr>
      <vt:lpstr>What is Cardinality in a Relationship? </vt:lpstr>
      <vt:lpstr>PowerPoint Presentation</vt:lpstr>
      <vt:lpstr>PowerPoint Presentation</vt:lpstr>
      <vt:lpstr>PowerPoint Presentation</vt:lpstr>
      <vt:lpstr>PowerPoint Presentation</vt:lpstr>
      <vt:lpstr>Test your knowledge</vt:lpstr>
      <vt:lpstr>Test your knowledge</vt:lpstr>
      <vt:lpstr>Conclusion</vt:lpstr>
      <vt:lpstr>Lesson Learning Outcome (LLO)</vt:lpstr>
      <vt:lpstr>Entity</vt:lpstr>
      <vt:lpstr>Weak Entity</vt:lpstr>
      <vt:lpstr>Key Attribute</vt:lpstr>
      <vt:lpstr>Multivalued Attribute</vt:lpstr>
      <vt:lpstr>Derived Attribute</vt:lpstr>
      <vt:lpstr>Activity 1</vt:lpstr>
      <vt:lpstr>Activity 1</vt:lpstr>
      <vt:lpstr>Activity 2</vt:lpstr>
      <vt:lpstr>Lesson Learning Outcome</vt:lpstr>
      <vt:lpstr>Identify the steps in E-R modelling. </vt:lpstr>
      <vt:lpstr>Steps to Develop ER Diagram:</vt:lpstr>
      <vt:lpstr>Example - Entities</vt:lpstr>
      <vt:lpstr>Example - Relationships</vt:lpstr>
      <vt:lpstr>Example - ER Diagram</vt:lpstr>
      <vt:lpstr>Relationship: Each department offers several courses</vt:lpstr>
      <vt:lpstr>PowerPoint Presentation</vt:lpstr>
      <vt:lpstr>Relationship: Students enrol in a particular course</vt:lpstr>
      <vt:lpstr>Students enrol in a particular course and take modules</vt:lpstr>
      <vt:lpstr>Each module is taught by a lecturer</vt:lpstr>
      <vt:lpstr>A lecturer from the appropriate department</vt:lpstr>
      <vt:lpstr>Each lecturer tutors a group of students</vt:lpstr>
      <vt:lpstr>The result</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DFC 20203  Database Design</dc:title>
  <dc:creator>Muna bt Ishak</dc:creator>
  <cp:lastModifiedBy>Ts. Muna bt Ishak</cp:lastModifiedBy>
  <cp:revision>49</cp:revision>
  <dcterms:created xsi:type="dcterms:W3CDTF">2022-04-13T02:38:09Z</dcterms:created>
  <dcterms:modified xsi:type="dcterms:W3CDTF">2023-10-12T03:39:31Z</dcterms:modified>
</cp:coreProperties>
</file>